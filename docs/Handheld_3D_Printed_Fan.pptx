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in one sentence: we designed, 3D printed, assembled and tested a handheld fan, and analysed its safety. Mention team members and guide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project title, then walk through the five objectives. These objectives map to the slides that follow: design, material and process, fabrication and testing, safety, and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roadmap. The structure follows the department’s PPT guidelines, applied to a manufacturing project: design and process first, then hazards, safety devices, human factors and preventive measures.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additive manufacturing briefly: the model is sliced into layers and built up. Then connect it to the fan: low cost, quick design changes, and no tooling. Fill in the filament and printer you actually used in the teal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problem statement aloud. Then name the three challenges that drive the rest of the project: fit and balance, safety, and comfort in the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every bracketed value with your actual numbers before presenting. Explain how each requirement links to the problem statement, especially weight and size for comfort.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drawing is a simple schematic. Replace it with a screenshot of your CAD model if you have one. Walk through the four printed parts and the three bought components.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softening temperatures are approximate and vary by brand, so quote your filament datasheet if you have one. A hand-held fan sits in a warm environment, so heat resistance and toughness matter as much as ease of printing.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six steps in order. If you iterated, say how many reprints it took and what you changed, for example blade pitch or the motor mount tolerance.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trade-off behind each setting: more walls and infill add strength but also weight and print time. Print the blades with the surface facing up so layer lines do not run across the airflow, if your design allows.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 in the cost column from your receipts and add the total. Mention that printed parts cost only the filament used, which is the main cost advantage of this approach.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the hazards from both stages: making the fan (hot printer, fumes) and using it (blades, battery). The ratings are a starting point; adjust them to your own judgement or to your department's risk matrix if one was taught.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 each safety device to a hazard on the previous slide: guard for blades, protection board for the cell. Be clear that the standards were used for guidance only; a certified product would need formal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Human factors covers both comfort and mistakes. Mention who will use the fan, including children, and how the design reduces the chance of misuse. Add your measured handle diameter.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Match each measure to a hazard from the analysis slide. Design-stage measures are the strongest because they remove the hazard rather than relying on the user to behave carefully.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the placeholders with your measured values. Say how you measured each one, for example an anemometer for air speed, a timer for run time, a kitchen scale for weight and a phone app for noise. Add photos of the finished fan if you 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the conclusion back to the objectives on slide 2, one by one. Then give two or three future improvements. Keep this slide to about one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the exact edition or year of each standard against your library or department access before submitting, and fill in the bracketed entries with your own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questions. Likely ones: why this filament, how the blades were balanced, and what the biggest safety risk was.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3F5F1"/>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62"/>
            <a:ext cx="10566400" cy="447040"/>
          </a:xfrm>
          <a:prstGeom prst="rect">
            <a:avLst/>
          </a:prstGeom>
          <a:noFill/>
          <a:ln/>
        </p:spPr>
        <p:txBody>
          <a:bodyPr wrap="square" lIns="0" tIns="0" rIns="0" bIns="0" rtlCol="0" anchor="t"/>
          <a:lstStyle>
            <a:lvl1pPr algn="l" indent="0" marL="0">
              <a:lnSpc>
                <a:spcPct val="115000"/>
              </a:lnSpc>
              <a:buNone/>
              <a:defRPr lang="en-US" sz="3200" dirty="0">
                <a:solidFill>
                  <a:srgbClr val="14262B"/>
                </a:solidFill>
                <a:latin typeface="Arial" pitchFamily="34" charset="0"/>
                <a:ea typeface="Arial" pitchFamily="34" charset="-122"/>
                <a:cs typeface="Arial"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54202"/>
            <a:ext cx="10566400" cy="4190998"/>
          </a:xfrm>
          <a:prstGeom prst="rect">
            <a:avLst/>
          </a:prstGeom>
          <a:noFill/>
          <a:ln/>
        </p:spPr>
        <p:txBody>
          <a:bodyPr wrap="square" lIns="0" tIns="0" rIns="0" bIns="0" rtlCol="0" anchor="t"/>
          <a:lstStyle>
            <a:lvl1pPr algn="l" indent="0" marL="0">
              <a:lnSpc>
                <a:spcPct val="140000"/>
              </a:lnSpc>
              <a:buNone/>
              <a:defRPr lang="en-US" sz="1600" dirty="0">
                <a:solidFill>
                  <a:srgbClr val="14262B"/>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3F5F1"/>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62"/>
            <a:ext cx="10566400" cy="447040"/>
          </a:xfrm>
          <a:prstGeom prst="rect">
            <a:avLst/>
          </a:prstGeom>
          <a:noFill/>
          <a:ln/>
        </p:spPr>
        <p:txBody>
          <a:bodyPr wrap="square" lIns="0" tIns="0" rIns="0" bIns="0" rtlCol="0" anchor="t"/>
          <a:lstStyle>
            <a:lvl1pPr algn="l" indent="0" marL="0">
              <a:lnSpc>
                <a:spcPct val="115000"/>
              </a:lnSpc>
              <a:buNone/>
              <a:defRPr lang="en-US" sz="3200" dirty="0">
                <a:solidFill>
                  <a:srgbClr val="14262B"/>
                </a:solidFill>
                <a:latin typeface="Arial" pitchFamily="34" charset="0"/>
                <a:ea typeface="Arial" pitchFamily="34" charset="-122"/>
                <a:cs typeface="Arial"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54202"/>
            <a:ext cx="10566400" cy="4190998"/>
          </a:xfrm>
          <a:prstGeom prst="rect">
            <a:avLst/>
          </a:prstGeom>
          <a:noFill/>
          <a:ln/>
        </p:spPr>
        <p:txBody>
          <a:bodyPr wrap="square" lIns="0" tIns="0" rIns="0" bIns="0" rtlCol="0" anchor="t"/>
          <a:lstStyle>
            <a:lvl1pPr algn="l" indent="0" marL="0">
              <a:lnSpc>
                <a:spcPct val="140000"/>
              </a:lnSpc>
              <a:buNone/>
              <a:defRPr lang="en-US" sz="1600" dirty="0">
                <a:solidFill>
                  <a:srgbClr val="14262B"/>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2.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2.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229"/>
        </a:solidFill>
      </p:bgPr>
    </p:bg>
    <p:spTree>
      <p:nvGrpSpPr>
        <p:cNvPr id="1" name=""/>
        <p:cNvGrpSpPr/>
        <p:nvPr/>
      </p:nvGrpSpPr>
      <p:grpSpPr>
        <a:xfrm>
          <a:off x="0" y="0"/>
          <a:ext cx="0" cy="0"/>
          <a:chOff x="0" y="0"/>
          <a:chExt cx="0" cy="0"/>
        </a:xfrm>
      </p:grpSpPr>
      <p:pic>
        <p:nvPicPr>
          <p:cNvPr id="2" name="Image 0" descr="Stylised fan with five blades inside a guard ring">    </p:cNvPr>
          <p:cNvPicPr>
            <a:picLocks noChangeAspect="1"/>
          </p:cNvPicPr>
          <p:nvPr/>
        </p:nvPicPr>
        <p:blipFill>
          <a:blip r:embed="rId1"/>
          <a:srcRect l="0" r="0" t="0" b="0"/>
          <a:stretch/>
        </p:blipFill>
        <p:spPr>
          <a:xfrm>
            <a:off x="6858000" y="1270000"/>
            <a:ext cx="4064000" cy="4064000"/>
          </a:xfrm>
          <a:prstGeom prst="rect">
            <a:avLst/>
          </a:prstGeom>
        </p:spPr>
      </p:pic>
      <p:sp>
        <p:nvSpPr>
          <p:cNvPr id="3" name="Text 0"/>
          <p:cNvSpPr/>
          <p:nvPr/>
        </p:nvSpPr>
        <p:spPr>
          <a:xfrm>
            <a:off x="812800" y="812800"/>
            <a:ext cx="4319508" cy="365760"/>
          </a:xfrm>
          <a:prstGeom prst="roundRect">
            <a:avLst>
              <a:gd name="adj" fmla="val 50000"/>
            </a:avLst>
          </a:prstGeom>
          <a:solidFill>
            <a:srgbClr val="4FC9BF"/>
          </a:solidFill>
          <a:ln/>
        </p:spPr>
        <p:txBody>
          <a:bodyPr wrap="none" lIns="0" tIns="0" rIns="0" bIns="0" rtlCol="0" anchor="ctr">
            <a:normAutofit/>
          </a:bodyPr>
          <a:lstStyle/>
          <a:p>
            <a:pPr algn="ctr" indent="0" marL="0">
              <a:lnSpc>
                <a:spcPts val="1680"/>
              </a:lnSpc>
              <a:buNone/>
            </a:pPr>
            <a:r>
              <a:rPr lang="en-US" sz="1200" b="1" spc="150" kern="0" dirty="0">
                <a:solidFill>
                  <a:srgbClr val="0F2229"/>
                </a:solidFill>
                <a:latin typeface="Arial" pitchFamily="34" charset="0"/>
                <a:ea typeface="Arial" pitchFamily="34" charset="-122"/>
                <a:cs typeface="Arial" pitchFamily="34" charset="-120"/>
              </a:rPr>
              <a:t>MANUFACTURING TECHNOLOGY · PROJECT</a:t>
            </a:r>
            <a:endParaRPr lang="en-US" sz="1200" dirty="0"/>
          </a:p>
        </p:txBody>
      </p:sp>
      <p:sp>
        <p:nvSpPr>
          <p:cNvPr id="4" name="Text 1"/>
          <p:cNvSpPr/>
          <p:nvPr>
            <p:ph type="title"/>
          </p:nvPr>
        </p:nvSpPr>
        <p:spPr>
          <a:xfrm>
            <a:off x="812800" y="2100580"/>
            <a:ext cx="5886450" cy="16256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EAF2EF"/>
                </a:solidFill>
                <a:latin typeface="Arial" pitchFamily="34" charset="0"/>
                <a:ea typeface="Arial" pitchFamily="34" charset="-122"/>
                <a:cs typeface="Arial" pitchFamily="34" charset="-120"/>
              </a:rPr>
              <a:t>Handheld 3D Printed Fan</a:t>
            </a:r>
            <a:endParaRPr lang="en-US" sz="6000" dirty="0"/>
          </a:p>
        </p:txBody>
      </p:sp>
      <p:sp>
        <p:nvSpPr>
          <p:cNvPr id="5" name="Text 2"/>
          <p:cNvSpPr/>
          <p:nvPr/>
        </p:nvSpPr>
        <p:spPr>
          <a:xfrm>
            <a:off x="812800" y="3903980"/>
            <a:ext cx="5886450" cy="7112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9FB8B4"/>
                </a:solidFill>
                <a:latin typeface="Arial" pitchFamily="34" charset="0"/>
                <a:ea typeface="Arial" pitchFamily="34" charset="-122"/>
                <a:cs typeface="Arial" pitchFamily="34" charset="-120"/>
              </a:rPr>
              <a:t>Design, additive manufacturing and safety analysis of a portable cooling device</a:t>
            </a:r>
            <a:endParaRPr lang="en-US" sz="2000" dirty="0"/>
          </a:p>
        </p:txBody>
      </p:sp>
      <p:sp>
        <p:nvSpPr>
          <p:cNvPr id="6" name="Text 3"/>
          <p:cNvSpPr/>
          <p:nvPr/>
        </p:nvSpPr>
        <p:spPr>
          <a:xfrm>
            <a:off x="812800" y="5511800"/>
            <a:ext cx="10883392"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9FB8B4"/>
                </a:solidFill>
                <a:latin typeface="Arial" pitchFamily="34" charset="0"/>
                <a:ea typeface="Arial" pitchFamily="34" charset="-122"/>
                <a:cs typeface="Arial" pitchFamily="34" charset="-120"/>
              </a:rPr>
              <a:t>Team: [Member names] · Guide: [Faculty name]</a:t>
            </a:r>
            <a:endParaRPr lang="en-US" sz="1400" dirty="0"/>
          </a:p>
          <a:p>
            <a:pPr algn="l" indent="0" marL="0">
              <a:lnSpc>
                <a:spcPts val="2100"/>
              </a:lnSpc>
              <a:buNone/>
            </a:pPr>
            <a:r>
              <a:rPr lang="en-US" sz="1400" dirty="0">
                <a:solidFill>
                  <a:srgbClr val="9FB8B4"/>
                </a:solidFill>
                <a:latin typeface="Arial" pitchFamily="34" charset="0"/>
                <a:ea typeface="Arial" pitchFamily="34" charset="-122"/>
                <a:cs typeface="Arial" pitchFamily="34" charset="-120"/>
              </a:rPr>
              <a:t>[Department, Institute] · [Date]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B7A75"/>
                </a:solidFill>
                <a:latin typeface="Arial" pitchFamily="34" charset="0"/>
                <a:ea typeface="Arial" pitchFamily="34" charset="-122"/>
                <a:cs typeface="Arial" pitchFamily="34" charset="-120"/>
              </a:rPr>
              <a:t>01 · TITLE &amp; OBJECTIVES</a:t>
            </a:r>
            <a:endParaRPr lang="en-US" sz="1200" dirty="0"/>
          </a:p>
        </p:txBody>
      </p:sp>
      <p:sp>
        <p:nvSpPr>
          <p:cNvPr id="3" name="Text 1"/>
          <p:cNvSpPr/>
          <p:nvPr>
            <p:ph type="title"/>
          </p:nvPr>
        </p:nvSpPr>
        <p:spPr>
          <a:xfrm>
            <a:off x="812800" y="110236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62B"/>
                </a:solidFill>
                <a:latin typeface="Arial" pitchFamily="34" charset="0"/>
                <a:ea typeface="Arial" pitchFamily="34" charset="-122"/>
                <a:cs typeface="Arial" pitchFamily="34" charset="-120"/>
              </a:rPr>
              <a:t>What we set out to do</a:t>
            </a:r>
            <a:endParaRPr lang="en-US" sz="3200" dirty="0"/>
          </a:p>
        </p:txBody>
      </p:sp>
      <p:sp>
        <p:nvSpPr>
          <p:cNvPr id="4" name="Shape 2"/>
          <p:cNvSpPr/>
          <p:nvPr/>
        </p:nvSpPr>
        <p:spPr>
          <a:xfrm>
            <a:off x="812800" y="1803400"/>
            <a:ext cx="3556000" cy="2667000"/>
          </a:xfrm>
          <a:prstGeom prst="roundRect">
            <a:avLst>
              <a:gd name="adj" fmla="val 3810"/>
            </a:avLst>
          </a:prstGeom>
          <a:solidFill>
            <a:srgbClr val="0F2229"/>
          </a:solidFill>
          <a:ln/>
        </p:spPr>
      </p:sp>
      <p:sp>
        <p:nvSpPr>
          <p:cNvPr id="5" name="Text 3"/>
          <p:cNvSpPr/>
          <p:nvPr/>
        </p:nvSpPr>
        <p:spPr>
          <a:xfrm>
            <a:off x="1117600" y="2108200"/>
            <a:ext cx="30347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4FC9BF"/>
                </a:solidFill>
                <a:latin typeface="Arial" pitchFamily="34" charset="0"/>
                <a:ea typeface="Arial" pitchFamily="34" charset="-122"/>
                <a:cs typeface="Arial" pitchFamily="34" charset="-120"/>
              </a:rPr>
              <a:t>PROJECT TITLE</a:t>
            </a:r>
            <a:endParaRPr lang="en-US" sz="1200" dirty="0"/>
          </a:p>
        </p:txBody>
      </p:sp>
      <p:sp>
        <p:nvSpPr>
          <p:cNvPr id="6" name="Text 4"/>
          <p:cNvSpPr/>
          <p:nvPr/>
        </p:nvSpPr>
        <p:spPr>
          <a:xfrm>
            <a:off x="1117600" y="2448560"/>
            <a:ext cx="3034792" cy="136652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EAF2EF"/>
                </a:solidFill>
                <a:latin typeface="Arial" pitchFamily="34" charset="0"/>
                <a:ea typeface="Arial" pitchFamily="34" charset="-122"/>
                <a:cs typeface="Arial" pitchFamily="34" charset="-120"/>
              </a:rPr>
              <a:t>Design and Fabrication of a Handheld 3D Printed Fan</a:t>
            </a:r>
            <a:endParaRPr lang="en-US" sz="2200" dirty="0"/>
          </a:p>
        </p:txBody>
      </p:sp>
      <p:sp>
        <p:nvSpPr>
          <p:cNvPr id="7" name="Text 5"/>
          <p:cNvSpPr/>
          <p:nvPr/>
        </p:nvSpPr>
        <p:spPr>
          <a:xfrm>
            <a:off x="1117600" y="3916680"/>
            <a:ext cx="30347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FB8B4"/>
                </a:solidFill>
                <a:latin typeface="Arial" pitchFamily="34" charset="0"/>
                <a:ea typeface="Arial" pitchFamily="34" charset="-122"/>
                <a:cs typeface="Arial" pitchFamily="34" charset="-120"/>
              </a:rPr>
              <a:t>Manufacturing Technology project</a:t>
            </a:r>
            <a:endParaRPr lang="en-US" sz="1400" dirty="0"/>
          </a:p>
        </p:txBody>
      </p:sp>
      <p:sp>
        <p:nvSpPr>
          <p:cNvPr id="8" name="Text 6"/>
          <p:cNvSpPr/>
          <p:nvPr/>
        </p:nvSpPr>
        <p:spPr>
          <a:xfrm>
            <a:off x="4673600" y="1803400"/>
            <a:ext cx="5080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0B7A75"/>
                </a:solidFill>
                <a:latin typeface="Arial" pitchFamily="34" charset="0"/>
                <a:ea typeface="Arial" pitchFamily="34" charset="-122"/>
                <a:cs typeface="Arial" pitchFamily="34" charset="-120"/>
              </a:rPr>
              <a:t>01</a:t>
            </a:r>
            <a:endParaRPr lang="en-US" sz="2000" dirty="0"/>
          </a:p>
        </p:txBody>
      </p:sp>
      <p:sp>
        <p:nvSpPr>
          <p:cNvPr id="9" name="Text 7"/>
          <p:cNvSpPr/>
          <p:nvPr/>
        </p:nvSpPr>
        <p:spPr>
          <a:xfrm>
            <a:off x="5283200" y="1803400"/>
            <a:ext cx="6278880" cy="29972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4262B"/>
                </a:solidFill>
                <a:latin typeface="Arial" pitchFamily="34" charset="0"/>
                <a:ea typeface="Arial" pitchFamily="34" charset="-122"/>
                <a:cs typeface="Arial" pitchFamily="34" charset="-120"/>
              </a:rPr>
              <a:t>Design a compact, ergonomic handheld fan in CAD.</a:t>
            </a:r>
            <a:endParaRPr lang="en-US" sz="1600" dirty="0"/>
          </a:p>
        </p:txBody>
      </p:sp>
      <p:sp>
        <p:nvSpPr>
          <p:cNvPr id="10" name="Text 8"/>
          <p:cNvSpPr/>
          <p:nvPr/>
        </p:nvSpPr>
        <p:spPr>
          <a:xfrm>
            <a:off x="4673600" y="2286000"/>
            <a:ext cx="5080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0B7A75"/>
                </a:solidFill>
                <a:latin typeface="Arial" pitchFamily="34" charset="0"/>
                <a:ea typeface="Arial" pitchFamily="34" charset="-122"/>
                <a:cs typeface="Arial" pitchFamily="34" charset="-120"/>
              </a:rPr>
              <a:t>02</a:t>
            </a:r>
            <a:endParaRPr lang="en-US" sz="2000" dirty="0"/>
          </a:p>
        </p:txBody>
      </p:sp>
      <p:sp>
        <p:nvSpPr>
          <p:cNvPr id="11" name="Text 9"/>
          <p:cNvSpPr/>
          <p:nvPr/>
        </p:nvSpPr>
        <p:spPr>
          <a:xfrm>
            <a:off x="5283200" y="2286000"/>
            <a:ext cx="6278880" cy="29972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4262B"/>
                </a:solidFill>
                <a:latin typeface="Arial" pitchFamily="34" charset="0"/>
                <a:ea typeface="Arial" pitchFamily="34" charset="-122"/>
                <a:cs typeface="Arial" pitchFamily="34" charset="-120"/>
              </a:rPr>
              <a:t>Select a suitable filament and tune the FDM print settings.</a:t>
            </a:r>
            <a:endParaRPr lang="en-US" sz="1600" dirty="0"/>
          </a:p>
        </p:txBody>
      </p:sp>
      <p:sp>
        <p:nvSpPr>
          <p:cNvPr id="12" name="Text 10"/>
          <p:cNvSpPr/>
          <p:nvPr/>
        </p:nvSpPr>
        <p:spPr>
          <a:xfrm>
            <a:off x="4673600" y="2768600"/>
            <a:ext cx="5080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0B7A75"/>
                </a:solidFill>
                <a:latin typeface="Arial" pitchFamily="34" charset="0"/>
                <a:ea typeface="Arial" pitchFamily="34" charset="-122"/>
                <a:cs typeface="Arial" pitchFamily="34" charset="-120"/>
              </a:rPr>
              <a:t>03</a:t>
            </a:r>
            <a:endParaRPr lang="en-US" sz="2000" dirty="0"/>
          </a:p>
        </p:txBody>
      </p:sp>
      <p:sp>
        <p:nvSpPr>
          <p:cNvPr id="13" name="Text 11"/>
          <p:cNvSpPr/>
          <p:nvPr/>
        </p:nvSpPr>
        <p:spPr>
          <a:xfrm>
            <a:off x="5283200" y="2768600"/>
            <a:ext cx="6278880" cy="29972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4262B"/>
                </a:solidFill>
                <a:latin typeface="Arial" pitchFamily="34" charset="0"/>
                <a:ea typeface="Arial" pitchFamily="34" charset="-122"/>
                <a:cs typeface="Arial" pitchFamily="34" charset="-120"/>
              </a:rPr>
              <a:t>Fabricate, assemble and test a working prototype.</a:t>
            </a:r>
            <a:endParaRPr lang="en-US" sz="1600" dirty="0"/>
          </a:p>
        </p:txBody>
      </p:sp>
      <p:sp>
        <p:nvSpPr>
          <p:cNvPr id="14" name="Text 12"/>
          <p:cNvSpPr/>
          <p:nvPr/>
        </p:nvSpPr>
        <p:spPr>
          <a:xfrm>
            <a:off x="4673600" y="3251200"/>
            <a:ext cx="5080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0B7A75"/>
                </a:solidFill>
                <a:latin typeface="Arial" pitchFamily="34" charset="0"/>
                <a:ea typeface="Arial" pitchFamily="34" charset="-122"/>
                <a:cs typeface="Arial" pitchFamily="34" charset="-120"/>
              </a:rPr>
              <a:t>04</a:t>
            </a:r>
            <a:endParaRPr lang="en-US" sz="2000" dirty="0"/>
          </a:p>
        </p:txBody>
      </p:sp>
      <p:sp>
        <p:nvSpPr>
          <p:cNvPr id="15" name="Text 13"/>
          <p:cNvSpPr/>
          <p:nvPr/>
        </p:nvSpPr>
        <p:spPr>
          <a:xfrm>
            <a:off x="5283200" y="3251200"/>
            <a:ext cx="6278880" cy="29972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4262B"/>
                </a:solidFill>
                <a:latin typeface="Arial" pitchFamily="34" charset="0"/>
                <a:ea typeface="Arial" pitchFamily="34" charset="-122"/>
                <a:cs typeface="Arial" pitchFamily="34" charset="-120"/>
              </a:rPr>
              <a:t>Identify hazards and apply safety devices and standards.</a:t>
            </a:r>
            <a:endParaRPr lang="en-US" sz="1600" dirty="0"/>
          </a:p>
        </p:txBody>
      </p:sp>
      <p:sp>
        <p:nvSpPr>
          <p:cNvPr id="16" name="Text 14"/>
          <p:cNvSpPr/>
          <p:nvPr/>
        </p:nvSpPr>
        <p:spPr>
          <a:xfrm>
            <a:off x="4673600" y="3733800"/>
            <a:ext cx="5080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0B7A75"/>
                </a:solidFill>
                <a:latin typeface="Arial" pitchFamily="34" charset="0"/>
                <a:ea typeface="Arial" pitchFamily="34" charset="-122"/>
                <a:cs typeface="Arial" pitchFamily="34" charset="-120"/>
              </a:rPr>
              <a:t>05</a:t>
            </a:r>
            <a:endParaRPr lang="en-US" sz="2000" dirty="0"/>
          </a:p>
        </p:txBody>
      </p:sp>
      <p:sp>
        <p:nvSpPr>
          <p:cNvPr id="17" name="Text 15"/>
          <p:cNvSpPr/>
          <p:nvPr/>
        </p:nvSpPr>
        <p:spPr>
          <a:xfrm>
            <a:off x="5283200" y="3733800"/>
            <a:ext cx="6278880" cy="29972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4262B"/>
                </a:solidFill>
                <a:latin typeface="Arial" pitchFamily="34" charset="0"/>
                <a:ea typeface="Arial" pitchFamily="34" charset="-122"/>
                <a:cs typeface="Arial" pitchFamily="34" charset="-120"/>
              </a:rPr>
              <a:t>Evaluate cost, performance and scope for improvement.</a:t>
            </a:r>
            <a:endParaRPr lang="en-US" sz="1600" dirty="0"/>
          </a:p>
        </p:txBody>
      </p:sp>
      <p:sp>
        <p:nvSpPr>
          <p:cNvPr id="18" name="Text 16"/>
          <p:cNvSpPr/>
          <p:nvPr/>
        </p:nvSpPr>
        <p:spPr>
          <a:xfrm>
            <a:off x="812800" y="6238241"/>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B5F63"/>
                </a:solidFill>
                <a:latin typeface="Arial" pitchFamily="34" charset="0"/>
                <a:ea typeface="Arial" pitchFamily="34" charset="-122"/>
                <a:cs typeface="Arial" pitchFamily="34" charset="-120"/>
              </a:rPr>
              <a:t>Handheld 3D Printed Fan · Manufacturing Technology</a:t>
            </a:r>
            <a:endParaRPr lang="en-US" sz="1200" dirty="0"/>
          </a:p>
        </p:txBody>
      </p:sp>
      <p:sp>
        <p:nvSpPr>
          <p:cNvPr id="19" name="Text 17"/>
          <p:cNvSpPr/>
          <p:nvPr/>
        </p:nvSpPr>
        <p:spPr>
          <a:xfrm>
            <a:off x="10058400" y="6238241"/>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B5F63"/>
                </a:solidFill>
                <a:latin typeface="Arial" pitchFamily="34" charset="0"/>
                <a:ea typeface="Arial" pitchFamily="34" charset="-122"/>
                <a:cs typeface="Arial"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B7A75"/>
                </a:solidFill>
                <a:latin typeface="Arial" pitchFamily="34" charset="0"/>
                <a:ea typeface="Arial" pitchFamily="34" charset="-122"/>
                <a:cs typeface="Arial" pitchFamily="34" charset="-120"/>
              </a:rPr>
              <a:t>OVERVIEW</a:t>
            </a:r>
            <a:endParaRPr lang="en-US" sz="1200" dirty="0"/>
          </a:p>
        </p:txBody>
      </p:sp>
      <p:sp>
        <p:nvSpPr>
          <p:cNvPr id="3" name="Text 1"/>
          <p:cNvSpPr/>
          <p:nvPr>
            <p:ph type="title"/>
          </p:nvPr>
        </p:nvSpPr>
        <p:spPr>
          <a:xfrm>
            <a:off x="812800" y="11023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62B"/>
                </a:solidFill>
                <a:latin typeface="Arial" pitchFamily="34" charset="0"/>
                <a:ea typeface="Arial" pitchFamily="34" charset="-122"/>
                <a:cs typeface="Arial" pitchFamily="34" charset="-120"/>
              </a:rPr>
              <a:t>Contents</a:t>
            </a:r>
            <a:endParaRPr lang="en-US" sz="3200" dirty="0"/>
          </a:p>
        </p:txBody>
      </p:sp>
      <p:sp>
        <p:nvSpPr>
          <p:cNvPr id="4" name="Shape 2"/>
          <p:cNvSpPr/>
          <p:nvPr/>
        </p:nvSpPr>
        <p:spPr>
          <a:xfrm>
            <a:off x="815975" y="1806575"/>
            <a:ext cx="3414157" cy="1013460"/>
          </a:xfrm>
          <a:prstGeom prst="roundRect">
            <a:avLst>
              <a:gd name="adj" fmla="val 9712"/>
            </a:avLst>
          </a:prstGeom>
          <a:solidFill>
            <a:srgbClr val="FAFBF8"/>
          </a:solidFill>
          <a:ln w="6350">
            <a:solidFill>
              <a:srgbClr val="D8DFDA"/>
            </a:solidFill>
            <a:prstDash val="solid"/>
          </a:ln>
        </p:spPr>
      </p:sp>
      <p:sp>
        <p:nvSpPr>
          <p:cNvPr id="5" name="Text 3"/>
          <p:cNvSpPr/>
          <p:nvPr/>
        </p:nvSpPr>
        <p:spPr>
          <a:xfrm>
            <a:off x="995680" y="1986280"/>
            <a:ext cx="3146389"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0B7A75"/>
                </a:solidFill>
                <a:latin typeface="Arial" pitchFamily="34" charset="0"/>
                <a:ea typeface="Arial" pitchFamily="34" charset="-122"/>
                <a:cs typeface="Arial" pitchFamily="34" charset="-120"/>
              </a:rPr>
              <a:t>01</a:t>
            </a:r>
            <a:endParaRPr lang="en-US" sz="2000" dirty="0"/>
          </a:p>
        </p:txBody>
      </p:sp>
      <p:sp>
        <p:nvSpPr>
          <p:cNvPr id="6" name="Text 4"/>
          <p:cNvSpPr/>
          <p:nvPr/>
        </p:nvSpPr>
        <p:spPr>
          <a:xfrm>
            <a:off x="995680" y="2392680"/>
            <a:ext cx="3146389"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4262B"/>
                </a:solidFill>
                <a:latin typeface="Arial" pitchFamily="34" charset="0"/>
                <a:ea typeface="Arial" pitchFamily="34" charset="-122"/>
                <a:cs typeface="Arial" pitchFamily="34" charset="-120"/>
              </a:rPr>
              <a:t>Title and objectives</a:t>
            </a:r>
            <a:endParaRPr lang="en-US" sz="1500" dirty="0"/>
          </a:p>
        </p:txBody>
      </p:sp>
      <p:sp>
        <p:nvSpPr>
          <p:cNvPr id="7" name="Shape 5"/>
          <p:cNvSpPr/>
          <p:nvPr/>
        </p:nvSpPr>
        <p:spPr>
          <a:xfrm>
            <a:off x="4388882" y="1806575"/>
            <a:ext cx="3414157" cy="1013460"/>
          </a:xfrm>
          <a:prstGeom prst="roundRect">
            <a:avLst>
              <a:gd name="adj" fmla="val 9712"/>
            </a:avLst>
          </a:prstGeom>
          <a:solidFill>
            <a:srgbClr val="FAFBF8"/>
          </a:solidFill>
          <a:ln w="6350">
            <a:solidFill>
              <a:srgbClr val="D8DFDA"/>
            </a:solidFill>
            <a:prstDash val="solid"/>
          </a:ln>
        </p:spPr>
      </p:sp>
      <p:sp>
        <p:nvSpPr>
          <p:cNvPr id="8" name="Text 6"/>
          <p:cNvSpPr/>
          <p:nvPr/>
        </p:nvSpPr>
        <p:spPr>
          <a:xfrm>
            <a:off x="4568587" y="1986280"/>
            <a:ext cx="3146389"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0B7A75"/>
                </a:solidFill>
                <a:latin typeface="Arial" pitchFamily="34" charset="0"/>
                <a:ea typeface="Arial" pitchFamily="34" charset="-122"/>
                <a:cs typeface="Arial" pitchFamily="34" charset="-120"/>
              </a:rPr>
              <a:t>02</a:t>
            </a:r>
            <a:endParaRPr lang="en-US" sz="2000" dirty="0"/>
          </a:p>
        </p:txBody>
      </p:sp>
      <p:sp>
        <p:nvSpPr>
          <p:cNvPr id="9" name="Text 7"/>
          <p:cNvSpPr/>
          <p:nvPr/>
        </p:nvSpPr>
        <p:spPr>
          <a:xfrm>
            <a:off x="4568587" y="2392680"/>
            <a:ext cx="3146389"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4262B"/>
                </a:solidFill>
                <a:latin typeface="Arial" pitchFamily="34" charset="0"/>
                <a:ea typeface="Arial" pitchFamily="34" charset="-122"/>
                <a:cs typeface="Arial" pitchFamily="34" charset="-120"/>
              </a:rPr>
              <a:t>Background</a:t>
            </a:r>
            <a:endParaRPr lang="en-US" sz="1500" dirty="0"/>
          </a:p>
        </p:txBody>
      </p:sp>
      <p:sp>
        <p:nvSpPr>
          <p:cNvPr id="10" name="Shape 8"/>
          <p:cNvSpPr/>
          <p:nvPr/>
        </p:nvSpPr>
        <p:spPr>
          <a:xfrm>
            <a:off x="7961789" y="1806575"/>
            <a:ext cx="3414157" cy="1013460"/>
          </a:xfrm>
          <a:prstGeom prst="roundRect">
            <a:avLst>
              <a:gd name="adj" fmla="val 9712"/>
            </a:avLst>
          </a:prstGeom>
          <a:solidFill>
            <a:srgbClr val="FAFBF8"/>
          </a:solidFill>
          <a:ln w="6350">
            <a:solidFill>
              <a:srgbClr val="D8DFDA"/>
            </a:solidFill>
            <a:prstDash val="solid"/>
          </a:ln>
        </p:spPr>
      </p:sp>
      <p:sp>
        <p:nvSpPr>
          <p:cNvPr id="11" name="Text 9"/>
          <p:cNvSpPr/>
          <p:nvPr/>
        </p:nvSpPr>
        <p:spPr>
          <a:xfrm>
            <a:off x="8141494" y="1986280"/>
            <a:ext cx="3146389"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0B7A75"/>
                </a:solidFill>
                <a:latin typeface="Arial" pitchFamily="34" charset="0"/>
                <a:ea typeface="Arial" pitchFamily="34" charset="-122"/>
                <a:cs typeface="Arial" pitchFamily="34" charset="-120"/>
              </a:rPr>
              <a:t>03</a:t>
            </a:r>
            <a:endParaRPr lang="en-US" sz="2000" dirty="0"/>
          </a:p>
        </p:txBody>
      </p:sp>
      <p:sp>
        <p:nvSpPr>
          <p:cNvPr id="12" name="Text 10"/>
          <p:cNvSpPr/>
          <p:nvPr/>
        </p:nvSpPr>
        <p:spPr>
          <a:xfrm>
            <a:off x="8141494" y="2392680"/>
            <a:ext cx="3146389"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4262B"/>
                </a:solidFill>
                <a:latin typeface="Arial" pitchFamily="34" charset="0"/>
                <a:ea typeface="Arial" pitchFamily="34" charset="-122"/>
                <a:cs typeface="Arial" pitchFamily="34" charset="-120"/>
              </a:rPr>
              <a:t>Problem and case description</a:t>
            </a:r>
            <a:endParaRPr lang="en-US" sz="1500" dirty="0"/>
          </a:p>
        </p:txBody>
      </p:sp>
      <p:sp>
        <p:nvSpPr>
          <p:cNvPr id="13" name="Shape 11"/>
          <p:cNvSpPr/>
          <p:nvPr/>
        </p:nvSpPr>
        <p:spPr>
          <a:xfrm>
            <a:off x="815975" y="2978786"/>
            <a:ext cx="3414157" cy="1013460"/>
          </a:xfrm>
          <a:prstGeom prst="roundRect">
            <a:avLst>
              <a:gd name="adj" fmla="val 9712"/>
            </a:avLst>
          </a:prstGeom>
          <a:solidFill>
            <a:srgbClr val="FAFBF8"/>
          </a:solidFill>
          <a:ln w="6350">
            <a:solidFill>
              <a:srgbClr val="D8DFDA"/>
            </a:solidFill>
            <a:prstDash val="solid"/>
          </a:ln>
        </p:spPr>
      </p:sp>
      <p:sp>
        <p:nvSpPr>
          <p:cNvPr id="14" name="Text 12"/>
          <p:cNvSpPr/>
          <p:nvPr/>
        </p:nvSpPr>
        <p:spPr>
          <a:xfrm>
            <a:off x="995680" y="3158491"/>
            <a:ext cx="3146389"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0B7A75"/>
                </a:solidFill>
                <a:latin typeface="Arial" pitchFamily="34" charset="0"/>
                <a:ea typeface="Arial" pitchFamily="34" charset="-122"/>
                <a:cs typeface="Arial" pitchFamily="34" charset="-120"/>
              </a:rPr>
              <a:t>04</a:t>
            </a:r>
            <a:endParaRPr lang="en-US" sz="2000" dirty="0"/>
          </a:p>
        </p:txBody>
      </p:sp>
      <p:sp>
        <p:nvSpPr>
          <p:cNvPr id="15" name="Text 13"/>
          <p:cNvSpPr/>
          <p:nvPr/>
        </p:nvSpPr>
        <p:spPr>
          <a:xfrm>
            <a:off x="995680" y="3564891"/>
            <a:ext cx="3146389"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4262B"/>
                </a:solidFill>
                <a:latin typeface="Arial" pitchFamily="34" charset="0"/>
                <a:ea typeface="Arial" pitchFamily="34" charset="-122"/>
                <a:cs typeface="Arial" pitchFamily="34" charset="-120"/>
              </a:rPr>
              <a:t>Design and manufacturing</a:t>
            </a:r>
            <a:endParaRPr lang="en-US" sz="1500" dirty="0"/>
          </a:p>
        </p:txBody>
      </p:sp>
      <p:sp>
        <p:nvSpPr>
          <p:cNvPr id="16" name="Shape 14"/>
          <p:cNvSpPr/>
          <p:nvPr/>
        </p:nvSpPr>
        <p:spPr>
          <a:xfrm>
            <a:off x="4388882" y="2978786"/>
            <a:ext cx="3414157" cy="1013460"/>
          </a:xfrm>
          <a:prstGeom prst="roundRect">
            <a:avLst>
              <a:gd name="adj" fmla="val 9712"/>
            </a:avLst>
          </a:prstGeom>
          <a:solidFill>
            <a:srgbClr val="FAFBF8"/>
          </a:solidFill>
          <a:ln w="6350">
            <a:solidFill>
              <a:srgbClr val="D8DFDA"/>
            </a:solidFill>
            <a:prstDash val="solid"/>
          </a:ln>
        </p:spPr>
      </p:sp>
      <p:sp>
        <p:nvSpPr>
          <p:cNvPr id="17" name="Text 15"/>
          <p:cNvSpPr/>
          <p:nvPr/>
        </p:nvSpPr>
        <p:spPr>
          <a:xfrm>
            <a:off x="4568587" y="3158491"/>
            <a:ext cx="3146389"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0B7A75"/>
                </a:solidFill>
                <a:latin typeface="Arial" pitchFamily="34" charset="0"/>
                <a:ea typeface="Arial" pitchFamily="34" charset="-122"/>
                <a:cs typeface="Arial" pitchFamily="34" charset="-120"/>
              </a:rPr>
              <a:t>05</a:t>
            </a:r>
            <a:endParaRPr lang="en-US" sz="2000" dirty="0"/>
          </a:p>
        </p:txBody>
      </p:sp>
      <p:sp>
        <p:nvSpPr>
          <p:cNvPr id="18" name="Text 16"/>
          <p:cNvSpPr/>
          <p:nvPr/>
        </p:nvSpPr>
        <p:spPr>
          <a:xfrm>
            <a:off x="4568587" y="3564891"/>
            <a:ext cx="3146389"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4262B"/>
                </a:solidFill>
                <a:latin typeface="Arial" pitchFamily="34" charset="0"/>
                <a:ea typeface="Arial" pitchFamily="34" charset="-122"/>
                <a:cs typeface="Arial" pitchFamily="34" charset="-120"/>
              </a:rPr>
              <a:t>Hazard analysis</a:t>
            </a:r>
            <a:endParaRPr lang="en-US" sz="1500" dirty="0"/>
          </a:p>
        </p:txBody>
      </p:sp>
      <p:sp>
        <p:nvSpPr>
          <p:cNvPr id="19" name="Shape 17"/>
          <p:cNvSpPr/>
          <p:nvPr/>
        </p:nvSpPr>
        <p:spPr>
          <a:xfrm>
            <a:off x="7961789" y="2978786"/>
            <a:ext cx="3414157" cy="1013460"/>
          </a:xfrm>
          <a:prstGeom prst="roundRect">
            <a:avLst>
              <a:gd name="adj" fmla="val 9712"/>
            </a:avLst>
          </a:prstGeom>
          <a:solidFill>
            <a:srgbClr val="FAFBF8"/>
          </a:solidFill>
          <a:ln w="6350">
            <a:solidFill>
              <a:srgbClr val="D8DFDA"/>
            </a:solidFill>
            <a:prstDash val="solid"/>
          </a:ln>
        </p:spPr>
      </p:sp>
      <p:sp>
        <p:nvSpPr>
          <p:cNvPr id="20" name="Text 18"/>
          <p:cNvSpPr/>
          <p:nvPr/>
        </p:nvSpPr>
        <p:spPr>
          <a:xfrm>
            <a:off x="8141494" y="3158491"/>
            <a:ext cx="3146389"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0B7A75"/>
                </a:solidFill>
                <a:latin typeface="Arial" pitchFamily="34" charset="0"/>
                <a:ea typeface="Arial" pitchFamily="34" charset="-122"/>
                <a:cs typeface="Arial" pitchFamily="34" charset="-120"/>
              </a:rPr>
              <a:t>06</a:t>
            </a:r>
            <a:endParaRPr lang="en-US" sz="2000" dirty="0"/>
          </a:p>
        </p:txBody>
      </p:sp>
      <p:sp>
        <p:nvSpPr>
          <p:cNvPr id="21" name="Text 19"/>
          <p:cNvSpPr/>
          <p:nvPr/>
        </p:nvSpPr>
        <p:spPr>
          <a:xfrm>
            <a:off x="8141494" y="3564891"/>
            <a:ext cx="3146389"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4262B"/>
                </a:solidFill>
                <a:latin typeface="Arial" pitchFamily="34" charset="0"/>
                <a:ea typeface="Arial" pitchFamily="34" charset="-122"/>
                <a:cs typeface="Arial" pitchFamily="34" charset="-120"/>
              </a:rPr>
              <a:t>Safety devices and standards</a:t>
            </a:r>
            <a:endParaRPr lang="en-US" sz="1500" dirty="0"/>
          </a:p>
        </p:txBody>
      </p:sp>
      <p:sp>
        <p:nvSpPr>
          <p:cNvPr id="22" name="Shape 20"/>
          <p:cNvSpPr/>
          <p:nvPr/>
        </p:nvSpPr>
        <p:spPr>
          <a:xfrm>
            <a:off x="815975" y="4150995"/>
            <a:ext cx="3414157" cy="1013460"/>
          </a:xfrm>
          <a:prstGeom prst="roundRect">
            <a:avLst>
              <a:gd name="adj" fmla="val 9712"/>
            </a:avLst>
          </a:prstGeom>
          <a:solidFill>
            <a:srgbClr val="FAFBF8"/>
          </a:solidFill>
          <a:ln w="6350">
            <a:solidFill>
              <a:srgbClr val="D8DFDA"/>
            </a:solidFill>
            <a:prstDash val="solid"/>
          </a:ln>
        </p:spPr>
      </p:sp>
      <p:sp>
        <p:nvSpPr>
          <p:cNvPr id="23" name="Text 21"/>
          <p:cNvSpPr/>
          <p:nvPr/>
        </p:nvSpPr>
        <p:spPr>
          <a:xfrm>
            <a:off x="995680" y="4330700"/>
            <a:ext cx="3146389"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0B7A75"/>
                </a:solidFill>
                <a:latin typeface="Arial" pitchFamily="34" charset="0"/>
                <a:ea typeface="Arial" pitchFamily="34" charset="-122"/>
                <a:cs typeface="Arial" pitchFamily="34" charset="-120"/>
              </a:rPr>
              <a:t>07</a:t>
            </a:r>
            <a:endParaRPr lang="en-US" sz="2000" dirty="0"/>
          </a:p>
        </p:txBody>
      </p:sp>
      <p:sp>
        <p:nvSpPr>
          <p:cNvPr id="24" name="Text 22"/>
          <p:cNvSpPr/>
          <p:nvPr/>
        </p:nvSpPr>
        <p:spPr>
          <a:xfrm>
            <a:off x="995680" y="4737100"/>
            <a:ext cx="3146389"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4262B"/>
                </a:solidFill>
                <a:latin typeface="Arial" pitchFamily="34" charset="0"/>
                <a:ea typeface="Arial" pitchFamily="34" charset="-122"/>
                <a:cs typeface="Arial" pitchFamily="34" charset="-120"/>
              </a:rPr>
              <a:t>Human factors</a:t>
            </a:r>
            <a:endParaRPr lang="en-US" sz="1500" dirty="0"/>
          </a:p>
        </p:txBody>
      </p:sp>
      <p:sp>
        <p:nvSpPr>
          <p:cNvPr id="25" name="Shape 23"/>
          <p:cNvSpPr/>
          <p:nvPr/>
        </p:nvSpPr>
        <p:spPr>
          <a:xfrm>
            <a:off x="4388882" y="4150995"/>
            <a:ext cx="3414157" cy="1013460"/>
          </a:xfrm>
          <a:prstGeom prst="roundRect">
            <a:avLst>
              <a:gd name="adj" fmla="val 9712"/>
            </a:avLst>
          </a:prstGeom>
          <a:solidFill>
            <a:srgbClr val="FAFBF8"/>
          </a:solidFill>
          <a:ln w="6350">
            <a:solidFill>
              <a:srgbClr val="D8DFDA"/>
            </a:solidFill>
            <a:prstDash val="solid"/>
          </a:ln>
        </p:spPr>
      </p:sp>
      <p:sp>
        <p:nvSpPr>
          <p:cNvPr id="26" name="Text 24"/>
          <p:cNvSpPr/>
          <p:nvPr/>
        </p:nvSpPr>
        <p:spPr>
          <a:xfrm>
            <a:off x="4568587" y="4330700"/>
            <a:ext cx="3146389"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0B7A75"/>
                </a:solidFill>
                <a:latin typeface="Arial" pitchFamily="34" charset="0"/>
                <a:ea typeface="Arial" pitchFamily="34" charset="-122"/>
                <a:cs typeface="Arial" pitchFamily="34" charset="-120"/>
              </a:rPr>
              <a:t>08</a:t>
            </a:r>
            <a:endParaRPr lang="en-US" sz="2000" dirty="0"/>
          </a:p>
        </p:txBody>
      </p:sp>
      <p:sp>
        <p:nvSpPr>
          <p:cNvPr id="27" name="Text 25"/>
          <p:cNvSpPr/>
          <p:nvPr/>
        </p:nvSpPr>
        <p:spPr>
          <a:xfrm>
            <a:off x="4568587" y="4737100"/>
            <a:ext cx="3146389"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4262B"/>
                </a:solidFill>
                <a:latin typeface="Arial" pitchFamily="34" charset="0"/>
                <a:ea typeface="Arial" pitchFamily="34" charset="-122"/>
                <a:cs typeface="Arial" pitchFamily="34" charset="-120"/>
              </a:rPr>
              <a:t>Preventive measures</a:t>
            </a:r>
            <a:endParaRPr lang="en-US" sz="1500" dirty="0"/>
          </a:p>
        </p:txBody>
      </p:sp>
      <p:sp>
        <p:nvSpPr>
          <p:cNvPr id="28" name="Shape 26"/>
          <p:cNvSpPr/>
          <p:nvPr/>
        </p:nvSpPr>
        <p:spPr>
          <a:xfrm>
            <a:off x="7961789" y="4150995"/>
            <a:ext cx="3414157" cy="1013460"/>
          </a:xfrm>
          <a:prstGeom prst="roundRect">
            <a:avLst>
              <a:gd name="adj" fmla="val 9712"/>
            </a:avLst>
          </a:prstGeom>
          <a:solidFill>
            <a:srgbClr val="FAFBF8"/>
          </a:solidFill>
          <a:ln w="6350">
            <a:solidFill>
              <a:srgbClr val="D8DFDA"/>
            </a:solidFill>
            <a:prstDash val="solid"/>
          </a:ln>
        </p:spPr>
      </p:sp>
      <p:sp>
        <p:nvSpPr>
          <p:cNvPr id="29" name="Text 27"/>
          <p:cNvSpPr/>
          <p:nvPr/>
        </p:nvSpPr>
        <p:spPr>
          <a:xfrm>
            <a:off x="8141494" y="4330700"/>
            <a:ext cx="3146389"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0B7A75"/>
                </a:solidFill>
                <a:latin typeface="Arial" pitchFamily="34" charset="0"/>
                <a:ea typeface="Arial" pitchFamily="34" charset="-122"/>
                <a:cs typeface="Arial" pitchFamily="34" charset="-120"/>
              </a:rPr>
              <a:t>09</a:t>
            </a:r>
            <a:endParaRPr lang="en-US" sz="2000" dirty="0"/>
          </a:p>
        </p:txBody>
      </p:sp>
      <p:sp>
        <p:nvSpPr>
          <p:cNvPr id="30" name="Text 28"/>
          <p:cNvSpPr/>
          <p:nvPr/>
        </p:nvSpPr>
        <p:spPr>
          <a:xfrm>
            <a:off x="8141494" y="4737100"/>
            <a:ext cx="3146389"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4262B"/>
                </a:solidFill>
                <a:latin typeface="Arial" pitchFamily="34" charset="0"/>
                <a:ea typeface="Arial" pitchFamily="34" charset="-122"/>
                <a:cs typeface="Arial" pitchFamily="34" charset="-120"/>
              </a:rPr>
              <a:t>Testing, conclusion and references</a:t>
            </a:r>
            <a:endParaRPr lang="en-US" sz="1500" dirty="0"/>
          </a:p>
        </p:txBody>
      </p:sp>
      <p:sp>
        <p:nvSpPr>
          <p:cNvPr id="31" name="Text 29"/>
          <p:cNvSpPr/>
          <p:nvPr/>
        </p:nvSpPr>
        <p:spPr>
          <a:xfrm>
            <a:off x="812800" y="6238241"/>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B5F63"/>
                </a:solidFill>
                <a:latin typeface="Arial" pitchFamily="34" charset="0"/>
                <a:ea typeface="Arial" pitchFamily="34" charset="-122"/>
                <a:cs typeface="Arial" pitchFamily="34" charset="-120"/>
              </a:rPr>
              <a:t>Handheld 3D Printed Fan · Manufacturing Technology</a:t>
            </a:r>
            <a:endParaRPr lang="en-US" sz="1200" dirty="0"/>
          </a:p>
        </p:txBody>
      </p:sp>
      <p:sp>
        <p:nvSpPr>
          <p:cNvPr id="32" name="Text 30"/>
          <p:cNvSpPr/>
          <p:nvPr/>
        </p:nvSpPr>
        <p:spPr>
          <a:xfrm>
            <a:off x="10058400" y="6238241"/>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B5F63"/>
                </a:solidFill>
                <a:latin typeface="Arial" pitchFamily="34" charset="0"/>
                <a:ea typeface="Arial" pitchFamily="34" charset="-122"/>
                <a:cs typeface="Arial"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B7A75"/>
                </a:solidFill>
                <a:latin typeface="Arial" pitchFamily="34" charset="0"/>
                <a:ea typeface="Arial" pitchFamily="34" charset="-122"/>
                <a:cs typeface="Arial" pitchFamily="34" charset="-120"/>
              </a:rPr>
              <a:t>02 · BACKGROUND</a:t>
            </a:r>
            <a:endParaRPr lang="en-US" sz="1200" dirty="0"/>
          </a:p>
        </p:txBody>
      </p:sp>
      <p:sp>
        <p:nvSpPr>
          <p:cNvPr id="3" name="Text 1"/>
          <p:cNvSpPr/>
          <p:nvPr>
            <p:ph type="title"/>
          </p:nvPr>
        </p:nvSpPr>
        <p:spPr>
          <a:xfrm>
            <a:off x="812800" y="11023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62B"/>
                </a:solidFill>
                <a:latin typeface="Arial" pitchFamily="34" charset="0"/>
                <a:ea typeface="Arial" pitchFamily="34" charset="-122"/>
                <a:cs typeface="Arial" pitchFamily="34" charset="-120"/>
              </a:rPr>
              <a:t>Why additive manufacturing?</a:t>
            </a:r>
            <a:endParaRPr lang="en-US" sz="3200" dirty="0"/>
          </a:p>
        </p:txBody>
      </p:sp>
      <p:sp>
        <p:nvSpPr>
          <p:cNvPr id="4" name="Shape 2"/>
          <p:cNvSpPr/>
          <p:nvPr/>
        </p:nvSpPr>
        <p:spPr>
          <a:xfrm>
            <a:off x="815975" y="1806575"/>
            <a:ext cx="3380264" cy="2091690"/>
          </a:xfrm>
          <a:prstGeom prst="roundRect">
            <a:avLst>
              <a:gd name="adj" fmla="val 4706"/>
            </a:avLst>
          </a:prstGeom>
          <a:solidFill>
            <a:srgbClr val="FAFBF8"/>
          </a:solidFill>
          <a:ln w="6350">
            <a:solidFill>
              <a:srgbClr val="D8DFDA"/>
            </a:solidFill>
            <a:prstDash val="solid"/>
          </a:ln>
        </p:spPr>
      </p:sp>
      <p:pic>
        <p:nvPicPr>
          <p:cNvPr id="5" name="Image 0" descr="Settings">    </p:cNvPr>
          <p:cNvPicPr>
            <a:picLocks noChangeAspect="1"/>
          </p:cNvPicPr>
          <p:nvPr/>
        </p:nvPicPr>
        <p:blipFill>
          <a:blip r:embed="rId1"/>
          <a:srcRect l="0" r="0" t="0" b="0"/>
          <a:stretch/>
        </p:blipFill>
        <p:spPr>
          <a:xfrm>
            <a:off x="1071880" y="2062480"/>
            <a:ext cx="355600" cy="355600"/>
          </a:xfrm>
          <a:prstGeom prst="rect">
            <a:avLst/>
          </a:prstGeom>
        </p:spPr>
      </p:pic>
      <p:sp>
        <p:nvSpPr>
          <p:cNvPr id="6" name="Text 3"/>
          <p:cNvSpPr/>
          <p:nvPr/>
        </p:nvSpPr>
        <p:spPr>
          <a:xfrm>
            <a:off x="1071880" y="2519680"/>
            <a:ext cx="2954507"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62B"/>
                </a:solidFill>
                <a:latin typeface="Arial" pitchFamily="34" charset="0"/>
                <a:ea typeface="Arial" pitchFamily="34" charset="-122"/>
                <a:cs typeface="Arial" pitchFamily="34" charset="-120"/>
              </a:rPr>
              <a:t>Layer by layer</a:t>
            </a:r>
            <a:endParaRPr lang="en-US" sz="1800" dirty="0"/>
          </a:p>
        </p:txBody>
      </p:sp>
      <p:sp>
        <p:nvSpPr>
          <p:cNvPr id="7" name="Text 4"/>
          <p:cNvSpPr/>
          <p:nvPr/>
        </p:nvSpPr>
        <p:spPr>
          <a:xfrm>
            <a:off x="1071880" y="2895600"/>
            <a:ext cx="2954507"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B5F63"/>
                </a:solidFill>
                <a:latin typeface="Arial" pitchFamily="34" charset="0"/>
                <a:ea typeface="Arial" pitchFamily="34" charset="-122"/>
                <a:cs typeface="Arial" pitchFamily="34" charset="-120"/>
              </a:rPr>
              <a:t>Parts are built from a digital model, so complex shapes need little tooling.</a:t>
            </a:r>
            <a:endParaRPr lang="en-US" sz="1400" dirty="0"/>
          </a:p>
        </p:txBody>
      </p:sp>
      <p:sp>
        <p:nvSpPr>
          <p:cNvPr id="8" name="Shape 5"/>
          <p:cNvSpPr/>
          <p:nvPr/>
        </p:nvSpPr>
        <p:spPr>
          <a:xfrm>
            <a:off x="4405789" y="1806575"/>
            <a:ext cx="3380343" cy="2091690"/>
          </a:xfrm>
          <a:prstGeom prst="roundRect">
            <a:avLst>
              <a:gd name="adj" fmla="val 4706"/>
            </a:avLst>
          </a:prstGeom>
          <a:solidFill>
            <a:srgbClr val="FAFBF8"/>
          </a:solidFill>
          <a:ln w="6350">
            <a:solidFill>
              <a:srgbClr val="D8DFDA"/>
            </a:solidFill>
            <a:prstDash val="solid"/>
          </a:ln>
        </p:spPr>
      </p:sp>
      <p:pic>
        <p:nvPicPr>
          <p:cNvPr id="9" name="Image 1" descr="Lightning">    </p:cNvPr>
          <p:cNvPicPr>
            <a:picLocks noChangeAspect="1"/>
          </p:cNvPicPr>
          <p:nvPr/>
        </p:nvPicPr>
        <p:blipFill>
          <a:blip r:embed="rId2"/>
          <a:srcRect l="0" r="0" t="0" b="0"/>
          <a:stretch/>
        </p:blipFill>
        <p:spPr>
          <a:xfrm>
            <a:off x="4661694" y="2062480"/>
            <a:ext cx="355600" cy="355600"/>
          </a:xfrm>
          <a:prstGeom prst="rect">
            <a:avLst/>
          </a:prstGeom>
        </p:spPr>
      </p:pic>
      <p:sp>
        <p:nvSpPr>
          <p:cNvPr id="10" name="Text 6"/>
          <p:cNvSpPr/>
          <p:nvPr/>
        </p:nvSpPr>
        <p:spPr>
          <a:xfrm>
            <a:off x="4661694" y="2519680"/>
            <a:ext cx="2954589"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62B"/>
                </a:solidFill>
                <a:latin typeface="Arial" pitchFamily="34" charset="0"/>
                <a:ea typeface="Arial" pitchFamily="34" charset="-122"/>
                <a:cs typeface="Arial" pitchFamily="34" charset="-120"/>
              </a:rPr>
              <a:t>Personal cooling</a:t>
            </a:r>
            <a:endParaRPr lang="en-US" sz="1800" dirty="0"/>
          </a:p>
        </p:txBody>
      </p:sp>
      <p:sp>
        <p:nvSpPr>
          <p:cNvPr id="11" name="Text 7"/>
          <p:cNvSpPr/>
          <p:nvPr/>
        </p:nvSpPr>
        <p:spPr>
          <a:xfrm>
            <a:off x="4661694" y="2895600"/>
            <a:ext cx="2954589"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B5F63"/>
                </a:solidFill>
                <a:latin typeface="Arial" pitchFamily="34" charset="0"/>
                <a:ea typeface="Arial" pitchFamily="34" charset="-122"/>
                <a:cs typeface="Arial" pitchFamily="34" charset="-120"/>
              </a:rPr>
              <a:t>Handheld fans give low-cost relief where air conditioning or mains power is not available.</a:t>
            </a:r>
            <a:endParaRPr lang="en-US" sz="1400" dirty="0"/>
          </a:p>
        </p:txBody>
      </p:sp>
      <p:sp>
        <p:nvSpPr>
          <p:cNvPr id="12" name="Shape 8"/>
          <p:cNvSpPr/>
          <p:nvPr/>
        </p:nvSpPr>
        <p:spPr>
          <a:xfrm>
            <a:off x="7995682" y="1806575"/>
            <a:ext cx="3380343" cy="2091690"/>
          </a:xfrm>
          <a:prstGeom prst="roundRect">
            <a:avLst>
              <a:gd name="adj" fmla="val 4706"/>
            </a:avLst>
          </a:prstGeom>
          <a:solidFill>
            <a:srgbClr val="FAFBF8"/>
          </a:solidFill>
          <a:ln w="6350">
            <a:solidFill>
              <a:srgbClr val="D8DFDA"/>
            </a:solidFill>
            <a:prstDash val="solid"/>
          </a:ln>
        </p:spPr>
      </p:sp>
      <p:pic>
        <p:nvPicPr>
          <p:cNvPr id="13" name="Image 2" descr="Tool">    </p:cNvPr>
          <p:cNvPicPr>
            <a:picLocks noChangeAspect="1"/>
          </p:cNvPicPr>
          <p:nvPr/>
        </p:nvPicPr>
        <p:blipFill>
          <a:blip r:embed="rId3"/>
          <a:srcRect l="0" r="0" t="0" b="0"/>
          <a:stretch/>
        </p:blipFill>
        <p:spPr>
          <a:xfrm>
            <a:off x="8251587" y="2062480"/>
            <a:ext cx="355600" cy="355600"/>
          </a:xfrm>
          <a:prstGeom prst="rect">
            <a:avLst/>
          </a:prstGeom>
        </p:spPr>
      </p:pic>
      <p:sp>
        <p:nvSpPr>
          <p:cNvPr id="14" name="Text 9"/>
          <p:cNvSpPr/>
          <p:nvPr/>
        </p:nvSpPr>
        <p:spPr>
          <a:xfrm>
            <a:off x="8251587" y="2519680"/>
            <a:ext cx="2954589"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62B"/>
                </a:solidFill>
                <a:latin typeface="Arial" pitchFamily="34" charset="0"/>
                <a:ea typeface="Arial" pitchFamily="34" charset="-122"/>
                <a:cs typeface="Arial" pitchFamily="34" charset="-120"/>
              </a:rPr>
              <a:t>Fast iteration</a:t>
            </a:r>
            <a:endParaRPr lang="en-US" sz="1800" dirty="0"/>
          </a:p>
        </p:txBody>
      </p:sp>
      <p:sp>
        <p:nvSpPr>
          <p:cNvPr id="15" name="Text 10"/>
          <p:cNvSpPr/>
          <p:nvPr/>
        </p:nvSpPr>
        <p:spPr>
          <a:xfrm>
            <a:off x="8251587" y="2895600"/>
            <a:ext cx="2954589"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B5F63"/>
                </a:solidFill>
                <a:latin typeface="Arial" pitchFamily="34" charset="0"/>
                <a:ea typeface="Arial" pitchFamily="34" charset="-122"/>
                <a:cs typeface="Arial" pitchFamily="34" charset="-120"/>
              </a:rPr>
              <a:t>A design change needs a new CAD file and a reprint, not a new mould.</a:t>
            </a:r>
            <a:endParaRPr lang="en-US" sz="1400" dirty="0"/>
          </a:p>
        </p:txBody>
      </p:sp>
      <p:sp>
        <p:nvSpPr>
          <p:cNvPr id="16" name="Text 11"/>
          <p:cNvSpPr/>
          <p:nvPr/>
        </p:nvSpPr>
        <p:spPr>
          <a:xfrm>
            <a:off x="812800" y="4155441"/>
            <a:ext cx="10566400" cy="673100"/>
          </a:xfrm>
          <a:prstGeom prst="roundRect">
            <a:avLst>
              <a:gd name="adj" fmla="val 15094"/>
            </a:avLst>
          </a:prstGeom>
          <a:solidFill>
            <a:srgbClr val="0B7A75"/>
          </a:solidFill>
          <a:ln/>
        </p:spPr>
        <p:txBody>
          <a:bodyPr wrap="square" lIns="224242" tIns="173442" rIns="0" bIns="148042" rtlCol="0" anchor="t">
            <a:normAutofit/>
          </a:bodyPr>
          <a:lstStyle/>
          <a:p>
            <a:pPr algn="l" indent="0" marL="0">
              <a:lnSpc>
                <a:spcPts val="2100"/>
              </a:lnSpc>
              <a:buNone/>
            </a:pPr>
            <a:r>
              <a:rPr lang="en-US" sz="1500" dirty="0">
                <a:solidFill>
                  <a:srgbClr val="F3F5F1"/>
                </a:solidFill>
                <a:latin typeface="Arial" pitchFamily="34" charset="0"/>
                <a:ea typeface="Arial" pitchFamily="34" charset="-122"/>
                <a:cs typeface="Arial" pitchFamily="34" charset="-120"/>
              </a:rPr>
              <a:t>Project focus: FDM (fused deposition modelling) with [PLA / PETG] filament on a desktop printer [printer model].</a:t>
            </a:r>
            <a:endParaRPr lang="en-US" sz="1500" dirty="0"/>
          </a:p>
        </p:txBody>
      </p:sp>
      <p:sp>
        <p:nvSpPr>
          <p:cNvPr id="17" name="Text 12"/>
          <p:cNvSpPr/>
          <p:nvPr/>
        </p:nvSpPr>
        <p:spPr>
          <a:xfrm>
            <a:off x="812800" y="6238239"/>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B5F63"/>
                </a:solidFill>
                <a:latin typeface="Arial" pitchFamily="34" charset="0"/>
                <a:ea typeface="Arial" pitchFamily="34" charset="-122"/>
                <a:cs typeface="Arial" pitchFamily="34" charset="-120"/>
              </a:rPr>
              <a:t>Handheld 3D Printed Fan · Manufacturing Technology</a:t>
            </a:r>
            <a:endParaRPr lang="en-US" sz="1200" dirty="0"/>
          </a:p>
        </p:txBody>
      </p:sp>
      <p:sp>
        <p:nvSpPr>
          <p:cNvPr id="18" name="Text 13"/>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B5F63"/>
                </a:solidFill>
                <a:latin typeface="Arial" pitchFamily="34" charset="0"/>
                <a:ea typeface="Arial" pitchFamily="34" charset="-122"/>
                <a:cs typeface="Arial"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2229"/>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4FC9BF"/>
                </a:solidFill>
                <a:latin typeface="Arial" pitchFamily="34" charset="0"/>
                <a:ea typeface="Arial" pitchFamily="34" charset="-122"/>
                <a:cs typeface="Arial" pitchFamily="34" charset="-120"/>
              </a:rPr>
              <a:t>03 · PROBLEM / CASE DESCRIPTION</a:t>
            </a:r>
            <a:endParaRPr lang="en-US" sz="1200" dirty="0"/>
          </a:p>
        </p:txBody>
      </p:sp>
      <p:sp>
        <p:nvSpPr>
          <p:cNvPr id="3" name="Text 1"/>
          <p:cNvSpPr/>
          <p:nvPr>
            <p:ph type="title"/>
          </p:nvPr>
        </p:nvSpPr>
        <p:spPr>
          <a:xfrm>
            <a:off x="812800" y="11023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EAF2EF"/>
                </a:solidFill>
                <a:latin typeface="Arial" pitchFamily="34" charset="0"/>
                <a:ea typeface="Arial" pitchFamily="34" charset="-122"/>
                <a:cs typeface="Arial" pitchFamily="34" charset="-120"/>
              </a:rPr>
              <a:t>Problem statement</a:t>
            </a:r>
            <a:endParaRPr lang="en-US" sz="3200" dirty="0"/>
          </a:p>
        </p:txBody>
      </p:sp>
      <p:sp>
        <p:nvSpPr>
          <p:cNvPr id="4" name="Text 2"/>
          <p:cNvSpPr/>
          <p:nvPr/>
        </p:nvSpPr>
        <p:spPr>
          <a:xfrm>
            <a:off x="812800" y="1803400"/>
            <a:ext cx="9810750" cy="1214120"/>
          </a:xfrm>
          <a:prstGeom prst="rect">
            <a:avLst/>
          </a:prstGeom>
          <a:noFill/>
          <a:ln/>
        </p:spPr>
        <p:txBody>
          <a:bodyPr wrap="square" lIns="0" tIns="0" rIns="0" bIns="0" rtlCol="0" anchor="t">
            <a:normAutofit/>
          </a:bodyPr>
          <a:lstStyle/>
          <a:p>
            <a:pPr algn="l" indent="0" marL="0">
              <a:lnSpc>
                <a:spcPts val="3120"/>
              </a:lnSpc>
              <a:buNone/>
            </a:pPr>
            <a:r>
              <a:rPr lang="en-US" sz="2400" dirty="0">
                <a:solidFill>
                  <a:srgbClr val="EAF2EF"/>
                </a:solidFill>
                <a:latin typeface="Arial" pitchFamily="34" charset="0"/>
                <a:ea typeface="Arial" pitchFamily="34" charset="-122"/>
                <a:cs typeface="Arial" pitchFamily="34" charset="-120"/>
              </a:rPr>
              <a:t>Low-cost handheld fans come in one fixed design and are hard to customise or repair. Can we make a light, safe and comfortable one on a 3D printer?</a:t>
            </a:r>
            <a:endParaRPr lang="en-US" sz="2400" dirty="0"/>
          </a:p>
        </p:txBody>
      </p:sp>
      <p:sp>
        <p:nvSpPr>
          <p:cNvPr id="5" name="Shape 3"/>
          <p:cNvSpPr/>
          <p:nvPr/>
        </p:nvSpPr>
        <p:spPr>
          <a:xfrm>
            <a:off x="812800" y="3246121"/>
            <a:ext cx="3386614" cy="1554480"/>
          </a:xfrm>
          <a:prstGeom prst="roundRect">
            <a:avLst>
              <a:gd name="adj" fmla="val 6536"/>
            </a:avLst>
          </a:prstGeom>
          <a:solidFill>
            <a:srgbClr val="1A3640"/>
          </a:solidFill>
          <a:ln/>
        </p:spPr>
      </p:sp>
      <p:sp>
        <p:nvSpPr>
          <p:cNvPr id="6" name="Text 4"/>
          <p:cNvSpPr/>
          <p:nvPr/>
        </p:nvSpPr>
        <p:spPr>
          <a:xfrm>
            <a:off x="1041400" y="3474721"/>
            <a:ext cx="3017296"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F8F5E"/>
                </a:solidFill>
                <a:latin typeface="Arial" pitchFamily="34" charset="0"/>
                <a:ea typeface="Arial" pitchFamily="34" charset="-122"/>
                <a:cs typeface="Arial" pitchFamily="34" charset="-120"/>
              </a:rPr>
              <a:t>Part fit</a:t>
            </a:r>
            <a:endParaRPr lang="en-US" sz="1800" dirty="0"/>
          </a:p>
        </p:txBody>
      </p:sp>
      <p:sp>
        <p:nvSpPr>
          <p:cNvPr id="7" name="Text 5"/>
          <p:cNvSpPr/>
          <p:nvPr/>
        </p:nvSpPr>
        <p:spPr>
          <a:xfrm>
            <a:off x="1041400" y="3825239"/>
            <a:ext cx="301729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AF2EF"/>
                </a:solidFill>
                <a:latin typeface="Arial" pitchFamily="34" charset="0"/>
                <a:ea typeface="Arial" pitchFamily="34" charset="-122"/>
                <a:cs typeface="Arial" pitchFamily="34" charset="-120"/>
              </a:rPr>
              <a:t>Printed blades and housing must balance well and fit the motor shaft.</a:t>
            </a:r>
            <a:endParaRPr lang="en-US" sz="1400" dirty="0"/>
          </a:p>
        </p:txBody>
      </p:sp>
      <p:sp>
        <p:nvSpPr>
          <p:cNvPr id="8" name="Shape 6"/>
          <p:cNvSpPr/>
          <p:nvPr/>
        </p:nvSpPr>
        <p:spPr>
          <a:xfrm>
            <a:off x="4402614" y="3246121"/>
            <a:ext cx="3386693" cy="1554480"/>
          </a:xfrm>
          <a:prstGeom prst="roundRect">
            <a:avLst>
              <a:gd name="adj" fmla="val 6536"/>
            </a:avLst>
          </a:prstGeom>
          <a:solidFill>
            <a:srgbClr val="1A3640"/>
          </a:solidFill>
          <a:ln/>
        </p:spPr>
      </p:sp>
      <p:sp>
        <p:nvSpPr>
          <p:cNvPr id="9" name="Text 7"/>
          <p:cNvSpPr/>
          <p:nvPr/>
        </p:nvSpPr>
        <p:spPr>
          <a:xfrm>
            <a:off x="4631214" y="3474721"/>
            <a:ext cx="3017378"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F8F5E"/>
                </a:solidFill>
                <a:latin typeface="Arial" pitchFamily="34" charset="0"/>
                <a:ea typeface="Arial" pitchFamily="34" charset="-122"/>
                <a:cs typeface="Arial" pitchFamily="34" charset="-120"/>
              </a:rPr>
              <a:t>Safety</a:t>
            </a:r>
            <a:endParaRPr lang="en-US" sz="1800" dirty="0"/>
          </a:p>
        </p:txBody>
      </p:sp>
      <p:sp>
        <p:nvSpPr>
          <p:cNvPr id="10" name="Text 8"/>
          <p:cNvSpPr/>
          <p:nvPr/>
        </p:nvSpPr>
        <p:spPr>
          <a:xfrm>
            <a:off x="4631214" y="3825239"/>
            <a:ext cx="3017378"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AF2EF"/>
                </a:solidFill>
                <a:latin typeface="Arial" pitchFamily="34" charset="0"/>
                <a:ea typeface="Arial" pitchFamily="34" charset="-122"/>
                <a:cs typeface="Arial" pitchFamily="34" charset="-120"/>
              </a:rPr>
              <a:t>Spinning blades and a lithium cell must be guarded and protected.</a:t>
            </a:r>
            <a:endParaRPr lang="en-US" sz="1400" dirty="0"/>
          </a:p>
        </p:txBody>
      </p:sp>
      <p:sp>
        <p:nvSpPr>
          <p:cNvPr id="11" name="Shape 9"/>
          <p:cNvSpPr/>
          <p:nvPr/>
        </p:nvSpPr>
        <p:spPr>
          <a:xfrm>
            <a:off x="7992507" y="3246121"/>
            <a:ext cx="3386693" cy="1554480"/>
          </a:xfrm>
          <a:prstGeom prst="roundRect">
            <a:avLst>
              <a:gd name="adj" fmla="val 6536"/>
            </a:avLst>
          </a:prstGeom>
          <a:solidFill>
            <a:srgbClr val="1A3640"/>
          </a:solidFill>
          <a:ln/>
        </p:spPr>
      </p:sp>
      <p:sp>
        <p:nvSpPr>
          <p:cNvPr id="12" name="Text 10"/>
          <p:cNvSpPr/>
          <p:nvPr/>
        </p:nvSpPr>
        <p:spPr>
          <a:xfrm>
            <a:off x="8221107" y="3474721"/>
            <a:ext cx="3017378"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F8F5E"/>
                </a:solidFill>
                <a:latin typeface="Arial" pitchFamily="34" charset="0"/>
                <a:ea typeface="Arial" pitchFamily="34" charset="-122"/>
                <a:cs typeface="Arial" pitchFamily="34" charset="-120"/>
              </a:rPr>
              <a:t>Usability</a:t>
            </a:r>
            <a:endParaRPr lang="en-US" sz="1800" dirty="0"/>
          </a:p>
        </p:txBody>
      </p:sp>
      <p:sp>
        <p:nvSpPr>
          <p:cNvPr id="13" name="Text 11"/>
          <p:cNvSpPr/>
          <p:nvPr/>
        </p:nvSpPr>
        <p:spPr>
          <a:xfrm>
            <a:off x="8221107" y="3825239"/>
            <a:ext cx="3017378"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AF2EF"/>
                </a:solidFill>
                <a:latin typeface="Arial" pitchFamily="34" charset="0"/>
                <a:ea typeface="Arial" pitchFamily="34" charset="-122"/>
                <a:cs typeface="Arial" pitchFamily="34" charset="-120"/>
              </a:rPr>
              <a:t>Weight, grip and noise decide whether the fan is comfortable to hold.</a:t>
            </a:r>
            <a:endParaRPr lang="en-US" sz="1400" dirty="0"/>
          </a:p>
        </p:txBody>
      </p:sp>
      <p:sp>
        <p:nvSpPr>
          <p:cNvPr id="14" name="Text 12"/>
          <p:cNvSpPr/>
          <p:nvPr/>
        </p:nvSpPr>
        <p:spPr>
          <a:xfrm>
            <a:off x="812800" y="6238239"/>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8B4"/>
                </a:solidFill>
                <a:latin typeface="Arial" pitchFamily="34" charset="0"/>
                <a:ea typeface="Arial" pitchFamily="34" charset="-122"/>
                <a:cs typeface="Arial" pitchFamily="34" charset="-120"/>
              </a:rPr>
              <a:t>Handheld 3D Printed Fan · Manufacturing Technology</a:t>
            </a:r>
            <a:endParaRPr lang="en-US" sz="1200" dirty="0"/>
          </a:p>
        </p:txBody>
      </p:sp>
      <p:sp>
        <p:nvSpPr>
          <p:cNvPr id="15" name="Text 13"/>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FB8B4"/>
                </a:solidFill>
                <a:latin typeface="Arial" pitchFamily="34" charset="0"/>
                <a:ea typeface="Arial" pitchFamily="34" charset="-122"/>
                <a:cs typeface="Arial"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B7A75"/>
                </a:solidFill>
                <a:latin typeface="Arial" pitchFamily="34" charset="0"/>
                <a:ea typeface="Arial" pitchFamily="34" charset="-122"/>
                <a:cs typeface="Arial" pitchFamily="34" charset="-120"/>
              </a:rPr>
              <a:t>04 · DESIGN REQUIREMENTS</a:t>
            </a:r>
            <a:endParaRPr lang="en-US" sz="1200" dirty="0"/>
          </a:p>
        </p:txBody>
      </p:sp>
      <p:sp>
        <p:nvSpPr>
          <p:cNvPr id="3" name="Text 1"/>
          <p:cNvSpPr/>
          <p:nvPr>
            <p:ph type="title"/>
          </p:nvPr>
        </p:nvSpPr>
        <p:spPr>
          <a:xfrm>
            <a:off x="812800" y="11023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62B"/>
                </a:solidFill>
                <a:latin typeface="Arial" pitchFamily="34" charset="0"/>
                <a:ea typeface="Arial" pitchFamily="34" charset="-122"/>
                <a:cs typeface="Arial" pitchFamily="34" charset="-120"/>
              </a:rPr>
              <a:t>Specifications we designed to</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813560"/>
          <a:ext cx="10556240" cy="3068320"/>
        </p:xfrm>
        <a:graphic>
          <a:graphicData uri="http://schemas.openxmlformats.org/drawingml/2006/table">
            <a:tbl>
              <a:tblPr/>
              <a:tblGrid>
                <a:gridCol w="2955747"/>
                <a:gridCol w="3589122"/>
                <a:gridCol w="4011371"/>
              </a:tblGrid>
              <a:tr h="383540">
                <a:tc>
                  <a:txBody>
                    <a:bodyPr/>
                    <a:lstStyle/>
                    <a:p>
                      <a:pPr indent="0" marL="0">
                        <a:lnSpc>
                          <a:spcPts val="1960"/>
                        </a:lnSpc>
                        <a:buNone/>
                      </a:pPr>
                      <a:r>
                        <a:rPr lang="en-US" sz="1400" b="1" dirty="0">
                          <a:solidFill>
                            <a:srgbClr val="EAF2EF"/>
                          </a:solidFill>
                          <a:latin typeface="Arial" pitchFamily="34" charset="0"/>
                          <a:ea typeface="Arial" pitchFamily="34" charset="-122"/>
                          <a:cs typeface="Arial" pitchFamily="34" charset="-120"/>
                        </a:rPr>
                        <a:t>Parameter</a:t>
                      </a:r>
                      <a:endParaRPr lang="en-US" sz="1400" dirty="0">
                        <a:latin typeface="Arial" charset="0"/>
                        <a:ea typeface="Arial" charset="0"/>
                        <a:cs typeface="Arial" charset="0"/>
                      </a:endParaRPr>
                    </a:p>
                  </a:txBody>
                  <a:tcPr marL="62230" marR="62230" marT="62230" marB="62230" anchor="t">
                    <a:lnL w="12700" cap="flat" cmpd="sng" algn="ctr">
                      <a:solidFill>
                        <a:srgbClr val="C2C4C0"/>
                      </a:solidFill>
                      <a:prstDash val="solid"/>
                      <a:round/>
                      <a:headEnd type="none" w="med" len="med"/>
                      <a:tailEnd type="none" w="med" len="med"/>
                    </a:lnL>
                    <a:lnR w="12700" cap="flat" cmpd="sng" algn="ctr">
                      <a:solidFill>
                        <a:srgbClr val="142226"/>
                      </a:solidFill>
                      <a:prstDash val="solid"/>
                      <a:round/>
                      <a:headEnd type="none" w="med" len="med"/>
                      <a:tailEnd type="none" w="med" len="med"/>
                    </a:lnR>
                    <a:lnT w="12700" cap="flat" cmpd="sng" algn="ctr">
                      <a:solidFill>
                        <a:srgbClr val="C2C4C0"/>
                      </a:solidFill>
                      <a:prstDash val="solid"/>
                      <a:round/>
                      <a:headEnd type="none" w="med" len="med"/>
                      <a:tailEnd type="none" w="med" len="med"/>
                    </a:lnT>
                    <a:lnB w="12700" cap="flat" cmpd="sng" algn="ctr">
                      <a:solidFill>
                        <a:srgbClr val="142226"/>
                      </a:solidFill>
                      <a:prstDash val="solid"/>
                      <a:round/>
                      <a:headEnd type="none" w="med" len="med"/>
                      <a:tailEnd type="none" w="med" len="med"/>
                    </a:lnB>
                    <a:solidFill>
                      <a:srgbClr val="14262B"/>
                    </a:solidFill>
                  </a:tcPr>
                </a:tc>
                <a:tc>
                  <a:txBody>
                    <a:bodyPr/>
                    <a:lstStyle/>
                    <a:p>
                      <a:pPr indent="0" marL="0">
                        <a:lnSpc>
                          <a:spcPts val="1960"/>
                        </a:lnSpc>
                        <a:buNone/>
                      </a:pPr>
                      <a:r>
                        <a:rPr lang="en-US" sz="1400" b="1" dirty="0">
                          <a:solidFill>
                            <a:srgbClr val="EAF2EF"/>
                          </a:solidFill>
                          <a:latin typeface="Arial" pitchFamily="34" charset="0"/>
                          <a:ea typeface="Arial" pitchFamily="34" charset="-122"/>
                          <a:cs typeface="Arial" pitchFamily="34" charset="-120"/>
                        </a:rPr>
                        <a:t>Target</a:t>
                      </a:r>
                      <a:endParaRPr lang="en-US" sz="1400" dirty="0">
                        <a:latin typeface="Arial" charset="0"/>
                        <a:ea typeface="Arial" charset="0"/>
                        <a:cs typeface="Arial" charset="0"/>
                      </a:endParaRPr>
                    </a:p>
                  </a:txBody>
                  <a:tcPr marL="62230" marR="62230" marT="62230" marB="62230" anchor="t">
                    <a:lnL w="12700" cap="flat" cmpd="sng" algn="ctr">
                      <a:solidFill>
                        <a:srgbClr val="142226"/>
                      </a:solidFill>
                      <a:prstDash val="solid"/>
                      <a:round/>
                      <a:headEnd type="none" w="med" len="med"/>
                      <a:tailEnd type="none" w="med" len="med"/>
                    </a:lnL>
                    <a:lnR w="12700" cap="flat" cmpd="sng" algn="ctr">
                      <a:solidFill>
                        <a:srgbClr val="142226"/>
                      </a:solidFill>
                      <a:prstDash val="solid"/>
                      <a:round/>
                      <a:headEnd type="none" w="med" len="med"/>
                      <a:tailEnd type="none" w="med" len="med"/>
                    </a:lnR>
                    <a:lnT w="12700" cap="flat" cmpd="sng" algn="ctr">
                      <a:solidFill>
                        <a:srgbClr val="C2C4C0"/>
                      </a:solidFill>
                      <a:prstDash val="solid"/>
                      <a:round/>
                      <a:headEnd type="none" w="med" len="med"/>
                      <a:tailEnd type="none" w="med" len="med"/>
                    </a:lnT>
                    <a:lnB w="12700" cap="flat" cmpd="sng" algn="ctr">
                      <a:solidFill>
                        <a:srgbClr val="142226"/>
                      </a:solidFill>
                      <a:prstDash val="solid"/>
                      <a:round/>
                      <a:headEnd type="none" w="med" len="med"/>
                      <a:tailEnd type="none" w="med" len="med"/>
                    </a:lnB>
                    <a:solidFill>
                      <a:srgbClr val="14262B"/>
                    </a:solidFill>
                  </a:tcPr>
                </a:tc>
                <a:tc>
                  <a:txBody>
                    <a:bodyPr/>
                    <a:lstStyle/>
                    <a:p>
                      <a:pPr indent="0" marL="0">
                        <a:lnSpc>
                          <a:spcPts val="1960"/>
                        </a:lnSpc>
                        <a:buNone/>
                      </a:pPr>
                      <a:r>
                        <a:rPr lang="en-US" sz="1400" b="1" dirty="0">
                          <a:solidFill>
                            <a:srgbClr val="EAF2EF"/>
                          </a:solidFill>
                          <a:latin typeface="Arial" pitchFamily="34" charset="0"/>
                          <a:ea typeface="Arial" pitchFamily="34" charset="-122"/>
                          <a:cs typeface="Arial" pitchFamily="34" charset="-120"/>
                        </a:rPr>
                        <a:t>Reason</a:t>
                      </a:r>
                      <a:endParaRPr lang="en-US" sz="1400" dirty="0">
                        <a:latin typeface="Arial" charset="0"/>
                        <a:ea typeface="Arial" charset="0"/>
                        <a:cs typeface="Arial" charset="0"/>
                      </a:endParaRPr>
                    </a:p>
                  </a:txBody>
                  <a:tcPr marL="62230" marR="62230" marT="62230" marB="62230" anchor="t">
                    <a:lnL w="12700" cap="flat" cmpd="sng" algn="ctr">
                      <a:solidFill>
                        <a:srgbClr val="142226"/>
                      </a:solidFill>
                      <a:prstDash val="solid"/>
                      <a:round/>
                      <a:headEnd type="none" w="med" len="med"/>
                      <a:tailEnd type="none" w="med" len="med"/>
                    </a:lnL>
                    <a:lnR w="12700" cap="flat" cmpd="sng" algn="ctr">
                      <a:solidFill>
                        <a:srgbClr val="142226"/>
                      </a:solidFill>
                      <a:prstDash val="solid"/>
                      <a:round/>
                      <a:headEnd type="none" w="med" len="med"/>
                      <a:tailEnd type="none" w="med" len="med"/>
                    </a:lnR>
                    <a:lnT w="12700" cap="flat" cmpd="sng" algn="ctr">
                      <a:solidFill>
                        <a:srgbClr val="C2C4C0"/>
                      </a:solidFill>
                      <a:prstDash val="solid"/>
                      <a:round/>
                      <a:headEnd type="none" w="med" len="med"/>
                      <a:tailEnd type="none" w="med" len="med"/>
                    </a:lnT>
                    <a:lnB w="12700" cap="flat" cmpd="sng" algn="ctr">
                      <a:solidFill>
                        <a:srgbClr val="142226"/>
                      </a:solidFill>
                      <a:prstDash val="solid"/>
                      <a:round/>
                      <a:headEnd type="none" w="med" len="med"/>
                      <a:tailEnd type="none" w="med" len="med"/>
                    </a:lnB>
                    <a:solidFill>
                      <a:srgbClr val="14262B"/>
                    </a:solidFill>
                  </a:tcPr>
                </a:tc>
              </a:tr>
              <a:tr h="383540">
                <a:tc>
                  <a:txBody>
                    <a:bodyPr/>
                    <a:lstStyle/>
                    <a:p>
                      <a:pPr indent="0" marL="0">
                        <a:lnSpc>
                          <a:spcPts val="1960"/>
                        </a:lnSpc>
                        <a:buNone/>
                      </a:pPr>
                      <a:r>
                        <a:rPr lang="en-US" sz="1400" dirty="0">
                          <a:solidFill>
                            <a:srgbClr val="14262B"/>
                          </a:solidFill>
                          <a:latin typeface="Arial" pitchFamily="34" charset="0"/>
                          <a:ea typeface="Arial" pitchFamily="34" charset="-122"/>
                          <a:cs typeface="Arial" pitchFamily="34" charset="-120"/>
                        </a:rPr>
                        <a:t>Overall size</a:t>
                      </a:r>
                      <a:endParaRPr lang="en-US" sz="1400" dirty="0">
                        <a:latin typeface="Arial" charset="0"/>
                        <a:ea typeface="Arial" charset="0"/>
                        <a:cs typeface="Arial" charset="0"/>
                      </a:endParaRPr>
                    </a:p>
                  </a:txBody>
                  <a:tcPr marL="62230" marR="62230" marT="62230" marB="62230" anchor="t">
                    <a:lnL w="12700" cap="flat" cmpd="sng" algn="ctr">
                      <a:solidFill>
                        <a:srgbClr val="C2C4C0"/>
                      </a:solidFill>
                      <a:prstDash val="solid"/>
                      <a:round/>
                      <a:headEnd type="none" w="med" len="med"/>
                      <a:tailEnd type="none" w="med" len="med"/>
                    </a:lnL>
                    <a:lnR w="12700" cap="flat" cmpd="sng" algn="ctr">
                      <a:solidFill>
                        <a:srgbClr val="C7C8C6"/>
                      </a:solidFill>
                      <a:prstDash val="solid"/>
                      <a:round/>
                      <a:headEnd type="none" w="med" len="med"/>
                      <a:tailEnd type="none" w="med" len="med"/>
                    </a:lnR>
                    <a:lnT w="12700" cap="flat" cmpd="sng" algn="ctr">
                      <a:solidFill>
                        <a:srgbClr val="142226"/>
                      </a:solidFill>
                      <a:prstDash val="solid"/>
                      <a:round/>
                      <a:headEnd type="none" w="med" len="med"/>
                      <a:tailEnd type="none" w="med" len="med"/>
                    </a:lnT>
                    <a:lnB w="12700" cap="flat" cmpd="sng" algn="ctr">
                      <a:solidFill>
                        <a:srgbClr val="C7C8C6"/>
                      </a:solidFill>
                      <a:prstDash val="solid"/>
                      <a:round/>
                      <a:headEnd type="none" w="med" len="med"/>
                      <a:tailEnd type="none" w="med" len="med"/>
                    </a:lnB>
                    <a:solidFill>
                      <a:srgbClr val="FAFBF8"/>
                    </a:solidFill>
                  </a:tcPr>
                </a:tc>
                <a:tc>
                  <a:txBody>
                    <a:bodyPr/>
                    <a:lstStyle/>
                    <a:p>
                      <a:pPr indent="0" marL="0">
                        <a:lnSpc>
                          <a:spcPts val="1960"/>
                        </a:lnSpc>
                        <a:buNone/>
                      </a:pPr>
                      <a:r>
                        <a:rPr lang="en-US" sz="1400" dirty="0">
                          <a:solidFill>
                            <a:srgbClr val="14262B"/>
                          </a:solidFill>
                          <a:latin typeface="Arial" pitchFamily="34" charset="0"/>
                          <a:ea typeface="Arial" pitchFamily="34" charset="-122"/>
                          <a:cs typeface="Arial" pitchFamily="34" charset="-120"/>
                        </a:rPr>
                        <a:t>Fits one hand, [__] mm</a:t>
                      </a:r>
                      <a:endParaRPr lang="en-US" sz="1400" dirty="0">
                        <a:latin typeface="Arial" charset="0"/>
                        <a:ea typeface="Arial" charset="0"/>
                        <a:cs typeface="Arial" charset="0"/>
                      </a:endParaRPr>
                    </a:p>
                  </a:txBody>
                  <a:tcPr marL="62230" marR="62230" marT="62230" marB="62230" anchor="t">
                    <a:lnL w="12700" cap="flat" cmpd="sng" algn="ctr">
                      <a:solidFill>
                        <a:srgbClr val="C7C8C6"/>
                      </a:solidFill>
                      <a:prstDash val="solid"/>
                      <a:round/>
                      <a:headEnd type="none" w="med" len="med"/>
                      <a:tailEnd type="none" w="med" len="med"/>
                    </a:lnL>
                    <a:lnR w="12700" cap="flat" cmpd="sng" algn="ctr">
                      <a:solidFill>
                        <a:srgbClr val="C7C8C6"/>
                      </a:solidFill>
                      <a:prstDash val="solid"/>
                      <a:round/>
                      <a:headEnd type="none" w="med" len="med"/>
                      <a:tailEnd type="none" w="med" len="med"/>
                    </a:lnR>
                    <a:lnT w="12700" cap="flat" cmpd="sng" algn="ctr">
                      <a:solidFill>
                        <a:srgbClr val="142226"/>
                      </a:solidFill>
                      <a:prstDash val="solid"/>
                      <a:round/>
                      <a:headEnd type="none" w="med" len="med"/>
                      <a:tailEnd type="none" w="med" len="med"/>
                    </a:lnT>
                    <a:lnB w="12700" cap="flat" cmpd="sng" algn="ctr">
                      <a:solidFill>
                        <a:srgbClr val="C7C8C6"/>
                      </a:solidFill>
                      <a:prstDash val="solid"/>
                      <a:round/>
                      <a:headEnd type="none" w="med" len="med"/>
                      <a:tailEnd type="none" w="med" len="med"/>
                    </a:lnB>
                    <a:solidFill>
                      <a:srgbClr val="FAFBF8"/>
                    </a:solidFill>
                  </a:tcPr>
                </a:tc>
                <a:tc>
                  <a:txBody>
                    <a:bodyPr/>
                    <a:lstStyle/>
                    <a:p>
                      <a:pPr indent="0" marL="0">
                        <a:lnSpc>
                          <a:spcPts val="1960"/>
                        </a:lnSpc>
                        <a:buNone/>
                      </a:pPr>
                      <a:r>
                        <a:rPr lang="en-US" sz="1400" dirty="0">
                          <a:solidFill>
                            <a:srgbClr val="14262B"/>
                          </a:solidFill>
                          <a:latin typeface="Arial" pitchFamily="34" charset="0"/>
                          <a:ea typeface="Arial" pitchFamily="34" charset="-122"/>
                          <a:cs typeface="Arial" pitchFamily="34" charset="-120"/>
                        </a:rPr>
                        <a:t>Easy to carry</a:t>
                      </a:r>
                      <a:endParaRPr lang="en-US" sz="1400" dirty="0">
                        <a:latin typeface="Arial" charset="0"/>
                        <a:ea typeface="Arial" charset="0"/>
                        <a:cs typeface="Arial" charset="0"/>
                      </a:endParaRPr>
                    </a:p>
                  </a:txBody>
                  <a:tcPr marL="62230" marR="62230" marT="62230" marB="62230" anchor="t">
                    <a:lnL w="12700" cap="flat" cmpd="sng" algn="ctr">
                      <a:solidFill>
                        <a:srgbClr val="C7C8C6"/>
                      </a:solidFill>
                      <a:prstDash val="solid"/>
                      <a:round/>
                      <a:headEnd type="none" w="med" len="med"/>
                      <a:tailEnd type="none" w="med" len="med"/>
                    </a:lnL>
                    <a:lnR w="12700" cap="flat" cmpd="sng" algn="ctr">
                      <a:solidFill>
                        <a:srgbClr val="C7C8C6"/>
                      </a:solidFill>
                      <a:prstDash val="solid"/>
                      <a:round/>
                      <a:headEnd type="none" w="med" len="med"/>
                      <a:tailEnd type="none" w="med" len="med"/>
                    </a:lnR>
                    <a:lnT w="12700" cap="flat" cmpd="sng" algn="ctr">
                      <a:solidFill>
                        <a:srgbClr val="142226"/>
                      </a:solidFill>
                      <a:prstDash val="solid"/>
                      <a:round/>
                      <a:headEnd type="none" w="med" len="med"/>
                      <a:tailEnd type="none" w="med" len="med"/>
                    </a:lnT>
                    <a:lnB w="12700" cap="flat" cmpd="sng" algn="ctr">
                      <a:solidFill>
                        <a:srgbClr val="C7C8C6"/>
                      </a:solidFill>
                      <a:prstDash val="solid"/>
                      <a:round/>
                      <a:headEnd type="none" w="med" len="med"/>
                      <a:tailEnd type="none" w="med" len="med"/>
                    </a:lnB>
                    <a:solidFill>
                      <a:srgbClr val="FAFBF8"/>
                    </a:solidFill>
                  </a:tcPr>
                </a:tc>
              </a:tr>
              <a:tr h="383540">
                <a:tc>
                  <a:txBody>
                    <a:bodyPr/>
                    <a:lstStyle/>
                    <a:p>
                      <a:pPr indent="0" marL="0">
                        <a:lnSpc>
                          <a:spcPts val="1960"/>
                        </a:lnSpc>
                        <a:buNone/>
                      </a:pPr>
                      <a:r>
                        <a:rPr lang="en-US" sz="1400" dirty="0">
                          <a:solidFill>
                            <a:srgbClr val="14262B"/>
                          </a:solidFill>
                          <a:latin typeface="Arial" pitchFamily="34" charset="0"/>
                          <a:ea typeface="Arial" pitchFamily="34" charset="-122"/>
                          <a:cs typeface="Arial" pitchFamily="34" charset="-120"/>
                        </a:rPr>
                        <a:t>Weight</a:t>
                      </a:r>
                      <a:endParaRPr lang="en-US" sz="1400" dirty="0">
                        <a:latin typeface="Arial" charset="0"/>
                        <a:ea typeface="Arial" charset="0"/>
                        <a:cs typeface="Arial" charset="0"/>
                      </a:endParaRPr>
                    </a:p>
                  </a:txBody>
                  <a:tcPr marL="62230" marR="62230" marT="62230" marB="62230" anchor="t">
                    <a:lnL w="12700" cap="flat" cmpd="sng" algn="ctr">
                      <a:solidFill>
                        <a:srgbClr val="C2C4C0"/>
                      </a:solidFill>
                      <a:prstDash val="solid"/>
                      <a:round/>
                      <a:headEnd type="none" w="med" len="med"/>
                      <a:tailEnd type="none" w="med" len="med"/>
                    </a:lnL>
                    <a:lnR w="12700" cap="flat" cmpd="sng" algn="ctr">
                      <a:solidFill>
                        <a:srgbClr val="B9BEBB"/>
                      </a:solidFill>
                      <a:prstDash val="solid"/>
                      <a:round/>
                      <a:headEnd type="none" w="med" len="med"/>
                      <a:tailEnd type="none" w="med" len="med"/>
                    </a:lnR>
                    <a:lnT w="12700" cap="flat" cmpd="sng" algn="ctr">
                      <a:solidFill>
                        <a:srgbClr val="C7C8C6"/>
                      </a:solidFill>
                      <a:prstDash val="solid"/>
                      <a:round/>
                      <a:headEnd type="none" w="med" len="med"/>
                      <a:tailEnd type="none" w="med" len="med"/>
                    </a:lnT>
                    <a:lnB w="12700" cap="flat" cmpd="sng" algn="ctr">
                      <a:solidFill>
                        <a:srgbClr val="B9BEBB"/>
                      </a:solidFill>
                      <a:prstDash val="solid"/>
                      <a:round/>
                      <a:headEnd type="none" w="med" len="med"/>
                      <a:tailEnd type="none" w="med" len="med"/>
                    </a:lnB>
                    <a:solidFill>
                      <a:srgbClr val="E8EEEA"/>
                    </a:solidFill>
                  </a:tcPr>
                </a:tc>
                <a:tc>
                  <a:txBody>
                    <a:bodyPr/>
                    <a:lstStyle/>
                    <a:p>
                      <a:pPr indent="0" marL="0">
                        <a:lnSpc>
                          <a:spcPts val="1960"/>
                        </a:lnSpc>
                        <a:buNone/>
                      </a:pPr>
                      <a:r>
                        <a:rPr lang="en-US" sz="1400" dirty="0">
                          <a:solidFill>
                            <a:srgbClr val="14262B"/>
                          </a:solidFill>
                          <a:latin typeface="Arial" pitchFamily="34" charset="0"/>
                          <a:ea typeface="Arial" pitchFamily="34" charset="-122"/>
                          <a:cs typeface="Arial" pitchFamily="34" charset="-120"/>
                        </a:rPr>
                        <a:t>Under [__] g</a:t>
                      </a:r>
                      <a:endParaRPr lang="en-US" sz="1400" dirty="0">
                        <a:latin typeface="Arial" charset="0"/>
                        <a:ea typeface="Arial" charset="0"/>
                        <a:cs typeface="Arial" charset="0"/>
                      </a:endParaRPr>
                    </a:p>
                  </a:txBody>
                  <a:tcPr marL="62230" marR="62230" marT="62230" marB="62230" anchor="t">
                    <a:lnL w="12700" cap="flat" cmpd="sng" algn="ctr">
                      <a:solidFill>
                        <a:srgbClr val="B9BEBB"/>
                      </a:solidFill>
                      <a:prstDash val="solid"/>
                      <a:round/>
                      <a:headEnd type="none" w="med" len="med"/>
                      <a:tailEnd type="none" w="med" len="med"/>
                    </a:lnL>
                    <a:lnR w="12700" cap="flat" cmpd="sng" algn="ctr">
                      <a:solidFill>
                        <a:srgbClr val="B9BEBB"/>
                      </a:solidFill>
                      <a:prstDash val="solid"/>
                      <a:round/>
                      <a:headEnd type="none" w="med" len="med"/>
                      <a:tailEnd type="none" w="med" len="med"/>
                    </a:lnR>
                    <a:lnT w="12700" cap="flat" cmpd="sng" algn="ctr">
                      <a:solidFill>
                        <a:srgbClr val="C7C8C6"/>
                      </a:solidFill>
                      <a:prstDash val="solid"/>
                      <a:round/>
                      <a:headEnd type="none" w="med" len="med"/>
                      <a:tailEnd type="none" w="med" len="med"/>
                    </a:lnT>
                    <a:lnB w="12700" cap="flat" cmpd="sng" algn="ctr">
                      <a:solidFill>
                        <a:srgbClr val="B9BEBB"/>
                      </a:solidFill>
                      <a:prstDash val="solid"/>
                      <a:round/>
                      <a:headEnd type="none" w="med" len="med"/>
                      <a:tailEnd type="none" w="med" len="med"/>
                    </a:lnB>
                    <a:solidFill>
                      <a:srgbClr val="E8EEEA"/>
                    </a:solidFill>
                  </a:tcPr>
                </a:tc>
                <a:tc>
                  <a:txBody>
                    <a:bodyPr/>
                    <a:lstStyle/>
                    <a:p>
                      <a:pPr indent="0" marL="0">
                        <a:lnSpc>
                          <a:spcPts val="1960"/>
                        </a:lnSpc>
                        <a:buNone/>
                      </a:pPr>
                      <a:r>
                        <a:rPr lang="en-US" sz="1400" dirty="0">
                          <a:solidFill>
                            <a:srgbClr val="14262B"/>
                          </a:solidFill>
                          <a:latin typeface="Arial" pitchFamily="34" charset="0"/>
                          <a:ea typeface="Arial" pitchFamily="34" charset="-122"/>
                          <a:cs typeface="Arial" pitchFamily="34" charset="-120"/>
                        </a:rPr>
                        <a:t>No fatigue when held</a:t>
                      </a:r>
                      <a:endParaRPr lang="en-US" sz="1400" dirty="0">
                        <a:latin typeface="Arial" charset="0"/>
                        <a:ea typeface="Arial" charset="0"/>
                        <a:cs typeface="Arial" charset="0"/>
                      </a:endParaRPr>
                    </a:p>
                  </a:txBody>
                  <a:tcPr marL="62230" marR="62230" marT="62230" marB="62230" anchor="t">
                    <a:lnL w="12700" cap="flat" cmpd="sng" algn="ctr">
                      <a:solidFill>
                        <a:srgbClr val="B9BEBB"/>
                      </a:solidFill>
                      <a:prstDash val="solid"/>
                      <a:round/>
                      <a:headEnd type="none" w="med" len="med"/>
                      <a:tailEnd type="none" w="med" len="med"/>
                    </a:lnL>
                    <a:lnR w="12700" cap="flat" cmpd="sng" algn="ctr">
                      <a:solidFill>
                        <a:srgbClr val="B9BEBB"/>
                      </a:solidFill>
                      <a:prstDash val="solid"/>
                      <a:round/>
                      <a:headEnd type="none" w="med" len="med"/>
                      <a:tailEnd type="none" w="med" len="med"/>
                    </a:lnR>
                    <a:lnT w="12700" cap="flat" cmpd="sng" algn="ctr">
                      <a:solidFill>
                        <a:srgbClr val="C7C8C6"/>
                      </a:solidFill>
                      <a:prstDash val="solid"/>
                      <a:round/>
                      <a:headEnd type="none" w="med" len="med"/>
                      <a:tailEnd type="none" w="med" len="med"/>
                    </a:lnT>
                    <a:lnB w="12700" cap="flat" cmpd="sng" algn="ctr">
                      <a:solidFill>
                        <a:srgbClr val="B9BEBB"/>
                      </a:solidFill>
                      <a:prstDash val="solid"/>
                      <a:round/>
                      <a:headEnd type="none" w="med" len="med"/>
                      <a:tailEnd type="none" w="med" len="med"/>
                    </a:lnB>
                    <a:solidFill>
                      <a:srgbClr val="E8EEEA"/>
                    </a:solidFill>
                  </a:tcPr>
                </a:tc>
              </a:tr>
              <a:tr h="383540">
                <a:tc>
                  <a:txBody>
                    <a:bodyPr/>
                    <a:lstStyle/>
                    <a:p>
                      <a:pPr indent="0" marL="0">
                        <a:lnSpc>
                          <a:spcPts val="1960"/>
                        </a:lnSpc>
                        <a:buNone/>
                      </a:pPr>
                      <a:r>
                        <a:rPr lang="en-US" sz="1400" dirty="0">
                          <a:solidFill>
                            <a:srgbClr val="14262B"/>
                          </a:solidFill>
                          <a:latin typeface="Arial" pitchFamily="34" charset="0"/>
                          <a:ea typeface="Arial" pitchFamily="34" charset="-122"/>
                          <a:cs typeface="Arial" pitchFamily="34" charset="-120"/>
                        </a:rPr>
                        <a:t>Blade diameter</a:t>
                      </a:r>
                      <a:endParaRPr lang="en-US" sz="1400" dirty="0">
                        <a:latin typeface="Arial" charset="0"/>
                        <a:ea typeface="Arial" charset="0"/>
                        <a:cs typeface="Arial" charset="0"/>
                      </a:endParaRPr>
                    </a:p>
                  </a:txBody>
                  <a:tcPr marL="62230" marR="62230" marT="62230" marB="62230" anchor="t">
                    <a:lnL w="12700" cap="flat" cmpd="sng" algn="ctr">
                      <a:solidFill>
                        <a:srgbClr val="C2C4C0"/>
                      </a:solidFill>
                      <a:prstDash val="solid"/>
                      <a:round/>
                      <a:headEnd type="none" w="med" len="med"/>
                      <a:tailEnd type="none" w="med" len="med"/>
                    </a:lnL>
                    <a:lnR w="12700" cap="flat" cmpd="sng" algn="ctr">
                      <a:solidFill>
                        <a:srgbClr val="C7C8C6"/>
                      </a:solidFill>
                      <a:prstDash val="solid"/>
                      <a:round/>
                      <a:headEnd type="none" w="med" len="med"/>
                      <a:tailEnd type="none" w="med" len="med"/>
                    </a:lnR>
                    <a:lnT w="12700" cap="flat" cmpd="sng" algn="ctr">
                      <a:solidFill>
                        <a:srgbClr val="B9BEBB"/>
                      </a:solidFill>
                      <a:prstDash val="solid"/>
                      <a:round/>
                      <a:headEnd type="none" w="med" len="med"/>
                      <a:tailEnd type="none" w="med" len="med"/>
                    </a:lnT>
                    <a:lnB w="12700" cap="flat" cmpd="sng" algn="ctr">
                      <a:solidFill>
                        <a:srgbClr val="C7C8C6"/>
                      </a:solidFill>
                      <a:prstDash val="solid"/>
                      <a:round/>
                      <a:headEnd type="none" w="med" len="med"/>
                      <a:tailEnd type="none" w="med" len="med"/>
                    </a:lnB>
                    <a:solidFill>
                      <a:srgbClr val="FAFBF8"/>
                    </a:solidFill>
                  </a:tcPr>
                </a:tc>
                <a:tc>
                  <a:txBody>
                    <a:bodyPr/>
                    <a:lstStyle/>
                    <a:p>
                      <a:pPr indent="0" marL="0">
                        <a:lnSpc>
                          <a:spcPts val="1960"/>
                        </a:lnSpc>
                        <a:buNone/>
                      </a:pPr>
                      <a:r>
                        <a:rPr lang="en-US" sz="1400" dirty="0">
                          <a:solidFill>
                            <a:srgbClr val="14262B"/>
                          </a:solidFill>
                          <a:latin typeface="Arial" pitchFamily="34" charset="0"/>
                          <a:ea typeface="Arial" pitchFamily="34" charset="-122"/>
                          <a:cs typeface="Arial" pitchFamily="34" charset="-120"/>
                        </a:rPr>
                        <a:t>[__] mm</a:t>
                      </a:r>
                      <a:endParaRPr lang="en-US" sz="1400" dirty="0">
                        <a:latin typeface="Arial" charset="0"/>
                        <a:ea typeface="Arial" charset="0"/>
                        <a:cs typeface="Arial" charset="0"/>
                      </a:endParaRPr>
                    </a:p>
                  </a:txBody>
                  <a:tcPr marL="62230" marR="62230" marT="62230" marB="62230" anchor="t">
                    <a:lnL w="12700" cap="flat" cmpd="sng" algn="ctr">
                      <a:solidFill>
                        <a:srgbClr val="C7C8C6"/>
                      </a:solidFill>
                      <a:prstDash val="solid"/>
                      <a:round/>
                      <a:headEnd type="none" w="med" len="med"/>
                      <a:tailEnd type="none" w="med" len="med"/>
                    </a:lnL>
                    <a:lnR w="12700" cap="flat" cmpd="sng" algn="ctr">
                      <a:solidFill>
                        <a:srgbClr val="C7C8C6"/>
                      </a:solidFill>
                      <a:prstDash val="solid"/>
                      <a:round/>
                      <a:headEnd type="none" w="med" len="med"/>
                      <a:tailEnd type="none" w="med" len="med"/>
                    </a:lnR>
                    <a:lnT w="12700" cap="flat" cmpd="sng" algn="ctr">
                      <a:solidFill>
                        <a:srgbClr val="B9BEBB"/>
                      </a:solidFill>
                      <a:prstDash val="solid"/>
                      <a:round/>
                      <a:headEnd type="none" w="med" len="med"/>
                      <a:tailEnd type="none" w="med" len="med"/>
                    </a:lnT>
                    <a:lnB w="12700" cap="flat" cmpd="sng" algn="ctr">
                      <a:solidFill>
                        <a:srgbClr val="C7C8C6"/>
                      </a:solidFill>
                      <a:prstDash val="solid"/>
                      <a:round/>
                      <a:headEnd type="none" w="med" len="med"/>
                      <a:tailEnd type="none" w="med" len="med"/>
                    </a:lnB>
                    <a:solidFill>
                      <a:srgbClr val="FAFBF8"/>
                    </a:solidFill>
                  </a:tcPr>
                </a:tc>
                <a:tc>
                  <a:txBody>
                    <a:bodyPr/>
                    <a:lstStyle/>
                    <a:p>
                      <a:pPr indent="0" marL="0">
                        <a:lnSpc>
                          <a:spcPts val="1960"/>
                        </a:lnSpc>
                        <a:buNone/>
                      </a:pPr>
                      <a:r>
                        <a:rPr lang="en-US" sz="1400" dirty="0">
                          <a:solidFill>
                            <a:srgbClr val="14262B"/>
                          </a:solidFill>
                          <a:latin typeface="Arial" pitchFamily="34" charset="0"/>
                          <a:ea typeface="Arial" pitchFamily="34" charset="-122"/>
                          <a:cs typeface="Arial" pitchFamily="34" charset="-120"/>
                        </a:rPr>
                        <a:t>Fits inside the guard</a:t>
                      </a:r>
                      <a:endParaRPr lang="en-US" sz="1400" dirty="0">
                        <a:latin typeface="Arial" charset="0"/>
                        <a:ea typeface="Arial" charset="0"/>
                        <a:cs typeface="Arial" charset="0"/>
                      </a:endParaRPr>
                    </a:p>
                  </a:txBody>
                  <a:tcPr marL="62230" marR="62230" marT="62230" marB="62230" anchor="t">
                    <a:lnL w="12700" cap="flat" cmpd="sng" algn="ctr">
                      <a:solidFill>
                        <a:srgbClr val="C7C8C6"/>
                      </a:solidFill>
                      <a:prstDash val="solid"/>
                      <a:round/>
                      <a:headEnd type="none" w="med" len="med"/>
                      <a:tailEnd type="none" w="med" len="med"/>
                    </a:lnL>
                    <a:lnR w="12700" cap="flat" cmpd="sng" algn="ctr">
                      <a:solidFill>
                        <a:srgbClr val="C7C8C6"/>
                      </a:solidFill>
                      <a:prstDash val="solid"/>
                      <a:round/>
                      <a:headEnd type="none" w="med" len="med"/>
                      <a:tailEnd type="none" w="med" len="med"/>
                    </a:lnR>
                    <a:lnT w="12700" cap="flat" cmpd="sng" algn="ctr">
                      <a:solidFill>
                        <a:srgbClr val="B9BEBB"/>
                      </a:solidFill>
                      <a:prstDash val="solid"/>
                      <a:round/>
                      <a:headEnd type="none" w="med" len="med"/>
                      <a:tailEnd type="none" w="med" len="med"/>
                    </a:lnT>
                    <a:lnB w="12700" cap="flat" cmpd="sng" algn="ctr">
                      <a:solidFill>
                        <a:srgbClr val="C7C8C6"/>
                      </a:solidFill>
                      <a:prstDash val="solid"/>
                      <a:round/>
                      <a:headEnd type="none" w="med" len="med"/>
                      <a:tailEnd type="none" w="med" len="med"/>
                    </a:lnB>
                    <a:solidFill>
                      <a:srgbClr val="FAFBF8"/>
                    </a:solidFill>
                  </a:tcPr>
                </a:tc>
              </a:tr>
              <a:tr h="383540">
                <a:tc>
                  <a:txBody>
                    <a:bodyPr/>
                    <a:lstStyle/>
                    <a:p>
                      <a:pPr indent="0" marL="0">
                        <a:lnSpc>
                          <a:spcPts val="1960"/>
                        </a:lnSpc>
                        <a:buNone/>
                      </a:pPr>
                      <a:r>
                        <a:rPr lang="en-US" sz="1400" dirty="0">
                          <a:solidFill>
                            <a:srgbClr val="14262B"/>
                          </a:solidFill>
                          <a:latin typeface="Arial" pitchFamily="34" charset="0"/>
                          <a:ea typeface="Arial" pitchFamily="34" charset="-122"/>
                          <a:cs typeface="Arial" pitchFamily="34" charset="-120"/>
                        </a:rPr>
                        <a:t>Power source</a:t>
                      </a:r>
                      <a:endParaRPr lang="en-US" sz="1400" dirty="0">
                        <a:latin typeface="Arial" charset="0"/>
                        <a:ea typeface="Arial" charset="0"/>
                        <a:cs typeface="Arial" charset="0"/>
                      </a:endParaRPr>
                    </a:p>
                  </a:txBody>
                  <a:tcPr marL="62230" marR="62230" marT="62230" marB="62230" anchor="t">
                    <a:lnL w="12700" cap="flat" cmpd="sng" algn="ctr">
                      <a:solidFill>
                        <a:srgbClr val="C2C4C0"/>
                      </a:solidFill>
                      <a:prstDash val="solid"/>
                      <a:round/>
                      <a:headEnd type="none" w="med" len="med"/>
                      <a:tailEnd type="none" w="med" len="med"/>
                    </a:lnL>
                    <a:lnR w="12700" cap="flat" cmpd="sng" algn="ctr">
                      <a:solidFill>
                        <a:srgbClr val="B9BEBB"/>
                      </a:solidFill>
                      <a:prstDash val="solid"/>
                      <a:round/>
                      <a:headEnd type="none" w="med" len="med"/>
                      <a:tailEnd type="none" w="med" len="med"/>
                    </a:lnR>
                    <a:lnT w="12700" cap="flat" cmpd="sng" algn="ctr">
                      <a:solidFill>
                        <a:srgbClr val="C7C8C6"/>
                      </a:solidFill>
                      <a:prstDash val="solid"/>
                      <a:round/>
                      <a:headEnd type="none" w="med" len="med"/>
                      <a:tailEnd type="none" w="med" len="med"/>
                    </a:lnT>
                    <a:lnB w="12700" cap="flat" cmpd="sng" algn="ctr">
                      <a:solidFill>
                        <a:srgbClr val="B9BEBB"/>
                      </a:solidFill>
                      <a:prstDash val="solid"/>
                      <a:round/>
                      <a:headEnd type="none" w="med" len="med"/>
                      <a:tailEnd type="none" w="med" len="med"/>
                    </a:lnB>
                    <a:solidFill>
                      <a:srgbClr val="E8EEEA"/>
                    </a:solidFill>
                  </a:tcPr>
                </a:tc>
                <a:tc>
                  <a:txBody>
                    <a:bodyPr/>
                    <a:lstStyle/>
                    <a:p>
                      <a:pPr indent="0" marL="0">
                        <a:lnSpc>
                          <a:spcPts val="1960"/>
                        </a:lnSpc>
                        <a:buNone/>
                      </a:pPr>
                      <a:r>
                        <a:rPr lang="en-US" sz="1400" dirty="0">
                          <a:solidFill>
                            <a:srgbClr val="14262B"/>
                          </a:solidFill>
                          <a:latin typeface="Arial" pitchFamily="34" charset="0"/>
                          <a:ea typeface="Arial" pitchFamily="34" charset="-122"/>
                          <a:cs typeface="Arial" pitchFamily="34" charset="-120"/>
                        </a:rPr>
                        <a:t>[3.7 V Li-ion cell]</a:t>
                      </a:r>
                      <a:endParaRPr lang="en-US" sz="1400" dirty="0">
                        <a:latin typeface="Arial" charset="0"/>
                        <a:ea typeface="Arial" charset="0"/>
                        <a:cs typeface="Arial" charset="0"/>
                      </a:endParaRPr>
                    </a:p>
                  </a:txBody>
                  <a:tcPr marL="62230" marR="62230" marT="62230" marB="62230" anchor="t">
                    <a:lnL w="12700" cap="flat" cmpd="sng" algn="ctr">
                      <a:solidFill>
                        <a:srgbClr val="B9BEBB"/>
                      </a:solidFill>
                      <a:prstDash val="solid"/>
                      <a:round/>
                      <a:headEnd type="none" w="med" len="med"/>
                      <a:tailEnd type="none" w="med" len="med"/>
                    </a:lnL>
                    <a:lnR w="12700" cap="flat" cmpd="sng" algn="ctr">
                      <a:solidFill>
                        <a:srgbClr val="B9BEBB"/>
                      </a:solidFill>
                      <a:prstDash val="solid"/>
                      <a:round/>
                      <a:headEnd type="none" w="med" len="med"/>
                      <a:tailEnd type="none" w="med" len="med"/>
                    </a:lnR>
                    <a:lnT w="12700" cap="flat" cmpd="sng" algn="ctr">
                      <a:solidFill>
                        <a:srgbClr val="C7C8C6"/>
                      </a:solidFill>
                      <a:prstDash val="solid"/>
                      <a:round/>
                      <a:headEnd type="none" w="med" len="med"/>
                      <a:tailEnd type="none" w="med" len="med"/>
                    </a:lnT>
                    <a:lnB w="12700" cap="flat" cmpd="sng" algn="ctr">
                      <a:solidFill>
                        <a:srgbClr val="B9BEBB"/>
                      </a:solidFill>
                      <a:prstDash val="solid"/>
                      <a:round/>
                      <a:headEnd type="none" w="med" len="med"/>
                      <a:tailEnd type="none" w="med" len="med"/>
                    </a:lnB>
                    <a:solidFill>
                      <a:srgbClr val="E8EEEA"/>
                    </a:solidFill>
                  </a:tcPr>
                </a:tc>
                <a:tc>
                  <a:txBody>
                    <a:bodyPr/>
                    <a:lstStyle/>
                    <a:p>
                      <a:pPr indent="0" marL="0">
                        <a:lnSpc>
                          <a:spcPts val="1960"/>
                        </a:lnSpc>
                        <a:buNone/>
                      </a:pPr>
                      <a:r>
                        <a:rPr lang="en-US" sz="1400" dirty="0">
                          <a:solidFill>
                            <a:srgbClr val="14262B"/>
                          </a:solidFill>
                          <a:latin typeface="Arial" pitchFamily="34" charset="0"/>
                          <a:ea typeface="Arial" pitchFamily="34" charset="-122"/>
                          <a:cs typeface="Arial" pitchFamily="34" charset="-120"/>
                        </a:rPr>
                        <a:t>Rechargeable, portable</a:t>
                      </a:r>
                      <a:endParaRPr lang="en-US" sz="1400" dirty="0">
                        <a:latin typeface="Arial" charset="0"/>
                        <a:ea typeface="Arial" charset="0"/>
                        <a:cs typeface="Arial" charset="0"/>
                      </a:endParaRPr>
                    </a:p>
                  </a:txBody>
                  <a:tcPr marL="62230" marR="62230" marT="62230" marB="62230" anchor="t">
                    <a:lnL w="12700" cap="flat" cmpd="sng" algn="ctr">
                      <a:solidFill>
                        <a:srgbClr val="B9BEBB"/>
                      </a:solidFill>
                      <a:prstDash val="solid"/>
                      <a:round/>
                      <a:headEnd type="none" w="med" len="med"/>
                      <a:tailEnd type="none" w="med" len="med"/>
                    </a:lnL>
                    <a:lnR w="12700" cap="flat" cmpd="sng" algn="ctr">
                      <a:solidFill>
                        <a:srgbClr val="B9BEBB"/>
                      </a:solidFill>
                      <a:prstDash val="solid"/>
                      <a:round/>
                      <a:headEnd type="none" w="med" len="med"/>
                      <a:tailEnd type="none" w="med" len="med"/>
                    </a:lnR>
                    <a:lnT w="12700" cap="flat" cmpd="sng" algn="ctr">
                      <a:solidFill>
                        <a:srgbClr val="C7C8C6"/>
                      </a:solidFill>
                      <a:prstDash val="solid"/>
                      <a:round/>
                      <a:headEnd type="none" w="med" len="med"/>
                      <a:tailEnd type="none" w="med" len="med"/>
                    </a:lnT>
                    <a:lnB w="12700" cap="flat" cmpd="sng" algn="ctr">
                      <a:solidFill>
                        <a:srgbClr val="B9BEBB"/>
                      </a:solidFill>
                      <a:prstDash val="solid"/>
                      <a:round/>
                      <a:headEnd type="none" w="med" len="med"/>
                      <a:tailEnd type="none" w="med" len="med"/>
                    </a:lnB>
                    <a:solidFill>
                      <a:srgbClr val="E8EEEA"/>
                    </a:solidFill>
                  </a:tcPr>
                </a:tc>
              </a:tr>
              <a:tr h="383540">
                <a:tc>
                  <a:txBody>
                    <a:bodyPr/>
                    <a:lstStyle/>
                    <a:p>
                      <a:pPr indent="0" marL="0">
                        <a:lnSpc>
                          <a:spcPts val="1960"/>
                        </a:lnSpc>
                        <a:buNone/>
                      </a:pPr>
                      <a:r>
                        <a:rPr lang="en-US" sz="1400" dirty="0">
                          <a:solidFill>
                            <a:srgbClr val="14262B"/>
                          </a:solidFill>
                          <a:latin typeface="Arial" pitchFamily="34" charset="0"/>
                          <a:ea typeface="Arial" pitchFamily="34" charset="-122"/>
                          <a:cs typeface="Arial" pitchFamily="34" charset="-120"/>
                        </a:rPr>
                        <a:t>Motor</a:t>
                      </a:r>
                      <a:endParaRPr lang="en-US" sz="1400" dirty="0">
                        <a:latin typeface="Arial" charset="0"/>
                        <a:ea typeface="Arial" charset="0"/>
                        <a:cs typeface="Arial" charset="0"/>
                      </a:endParaRPr>
                    </a:p>
                  </a:txBody>
                  <a:tcPr marL="62230" marR="62230" marT="62230" marB="62230" anchor="t">
                    <a:lnL w="12700" cap="flat" cmpd="sng" algn="ctr">
                      <a:solidFill>
                        <a:srgbClr val="C2C4C0"/>
                      </a:solidFill>
                      <a:prstDash val="solid"/>
                      <a:round/>
                      <a:headEnd type="none" w="med" len="med"/>
                      <a:tailEnd type="none" w="med" len="med"/>
                    </a:lnL>
                    <a:lnR w="12700" cap="flat" cmpd="sng" algn="ctr">
                      <a:solidFill>
                        <a:srgbClr val="C7C8C6"/>
                      </a:solidFill>
                      <a:prstDash val="solid"/>
                      <a:round/>
                      <a:headEnd type="none" w="med" len="med"/>
                      <a:tailEnd type="none" w="med" len="med"/>
                    </a:lnR>
                    <a:lnT w="12700" cap="flat" cmpd="sng" algn="ctr">
                      <a:solidFill>
                        <a:srgbClr val="B9BEBB"/>
                      </a:solidFill>
                      <a:prstDash val="solid"/>
                      <a:round/>
                      <a:headEnd type="none" w="med" len="med"/>
                      <a:tailEnd type="none" w="med" len="med"/>
                    </a:lnT>
                    <a:lnB w="12700" cap="flat" cmpd="sng" algn="ctr">
                      <a:solidFill>
                        <a:srgbClr val="C7C8C6"/>
                      </a:solidFill>
                      <a:prstDash val="solid"/>
                      <a:round/>
                      <a:headEnd type="none" w="med" len="med"/>
                      <a:tailEnd type="none" w="med" len="med"/>
                    </a:lnB>
                    <a:solidFill>
                      <a:srgbClr val="FAFBF8"/>
                    </a:solidFill>
                  </a:tcPr>
                </a:tc>
                <a:tc>
                  <a:txBody>
                    <a:bodyPr/>
                    <a:lstStyle/>
                    <a:p>
                      <a:pPr indent="0" marL="0">
                        <a:lnSpc>
                          <a:spcPts val="1960"/>
                        </a:lnSpc>
                        <a:buNone/>
                      </a:pPr>
                      <a:r>
                        <a:rPr lang="en-US" sz="1400" dirty="0">
                          <a:solidFill>
                            <a:srgbClr val="14262B"/>
                          </a:solidFill>
                          <a:latin typeface="Arial" pitchFamily="34" charset="0"/>
                          <a:ea typeface="Arial" pitchFamily="34" charset="-122"/>
                          <a:cs typeface="Arial" pitchFamily="34" charset="-120"/>
                        </a:rPr>
                        <a:t>[DC motor, __ RPM]</a:t>
                      </a:r>
                      <a:endParaRPr lang="en-US" sz="1400" dirty="0">
                        <a:latin typeface="Arial" charset="0"/>
                        <a:ea typeface="Arial" charset="0"/>
                        <a:cs typeface="Arial" charset="0"/>
                      </a:endParaRPr>
                    </a:p>
                  </a:txBody>
                  <a:tcPr marL="62230" marR="62230" marT="62230" marB="62230" anchor="t">
                    <a:lnL w="12700" cap="flat" cmpd="sng" algn="ctr">
                      <a:solidFill>
                        <a:srgbClr val="C7C8C6"/>
                      </a:solidFill>
                      <a:prstDash val="solid"/>
                      <a:round/>
                      <a:headEnd type="none" w="med" len="med"/>
                      <a:tailEnd type="none" w="med" len="med"/>
                    </a:lnL>
                    <a:lnR w="12700" cap="flat" cmpd="sng" algn="ctr">
                      <a:solidFill>
                        <a:srgbClr val="C7C8C6"/>
                      </a:solidFill>
                      <a:prstDash val="solid"/>
                      <a:round/>
                      <a:headEnd type="none" w="med" len="med"/>
                      <a:tailEnd type="none" w="med" len="med"/>
                    </a:lnR>
                    <a:lnT w="12700" cap="flat" cmpd="sng" algn="ctr">
                      <a:solidFill>
                        <a:srgbClr val="B9BEBB"/>
                      </a:solidFill>
                      <a:prstDash val="solid"/>
                      <a:round/>
                      <a:headEnd type="none" w="med" len="med"/>
                      <a:tailEnd type="none" w="med" len="med"/>
                    </a:lnT>
                    <a:lnB w="12700" cap="flat" cmpd="sng" algn="ctr">
                      <a:solidFill>
                        <a:srgbClr val="C7C8C6"/>
                      </a:solidFill>
                      <a:prstDash val="solid"/>
                      <a:round/>
                      <a:headEnd type="none" w="med" len="med"/>
                      <a:tailEnd type="none" w="med" len="med"/>
                    </a:lnB>
                    <a:solidFill>
                      <a:srgbClr val="FAFBF8"/>
                    </a:solidFill>
                  </a:tcPr>
                </a:tc>
                <a:tc>
                  <a:txBody>
                    <a:bodyPr/>
                    <a:lstStyle/>
                    <a:p>
                      <a:pPr indent="0" marL="0">
                        <a:lnSpc>
                          <a:spcPts val="1960"/>
                        </a:lnSpc>
                        <a:buNone/>
                      </a:pPr>
                      <a:r>
                        <a:rPr lang="en-US" sz="1400" dirty="0">
                          <a:solidFill>
                            <a:srgbClr val="14262B"/>
                          </a:solidFill>
                          <a:latin typeface="Arial" pitchFamily="34" charset="0"/>
                          <a:ea typeface="Arial" pitchFamily="34" charset="-122"/>
                          <a:cs typeface="Arial" pitchFamily="34" charset="-120"/>
                        </a:rPr>
                        <a:t>Matched to blade size</a:t>
                      </a:r>
                      <a:endParaRPr lang="en-US" sz="1400" dirty="0">
                        <a:latin typeface="Arial" charset="0"/>
                        <a:ea typeface="Arial" charset="0"/>
                        <a:cs typeface="Arial" charset="0"/>
                      </a:endParaRPr>
                    </a:p>
                  </a:txBody>
                  <a:tcPr marL="62230" marR="62230" marT="62230" marB="62230" anchor="t">
                    <a:lnL w="12700" cap="flat" cmpd="sng" algn="ctr">
                      <a:solidFill>
                        <a:srgbClr val="C7C8C6"/>
                      </a:solidFill>
                      <a:prstDash val="solid"/>
                      <a:round/>
                      <a:headEnd type="none" w="med" len="med"/>
                      <a:tailEnd type="none" w="med" len="med"/>
                    </a:lnL>
                    <a:lnR w="12700" cap="flat" cmpd="sng" algn="ctr">
                      <a:solidFill>
                        <a:srgbClr val="C7C8C6"/>
                      </a:solidFill>
                      <a:prstDash val="solid"/>
                      <a:round/>
                      <a:headEnd type="none" w="med" len="med"/>
                      <a:tailEnd type="none" w="med" len="med"/>
                    </a:lnR>
                    <a:lnT w="12700" cap="flat" cmpd="sng" algn="ctr">
                      <a:solidFill>
                        <a:srgbClr val="B9BEBB"/>
                      </a:solidFill>
                      <a:prstDash val="solid"/>
                      <a:round/>
                      <a:headEnd type="none" w="med" len="med"/>
                      <a:tailEnd type="none" w="med" len="med"/>
                    </a:lnT>
                    <a:lnB w="12700" cap="flat" cmpd="sng" algn="ctr">
                      <a:solidFill>
                        <a:srgbClr val="C7C8C6"/>
                      </a:solidFill>
                      <a:prstDash val="solid"/>
                      <a:round/>
                      <a:headEnd type="none" w="med" len="med"/>
                      <a:tailEnd type="none" w="med" len="med"/>
                    </a:lnB>
                    <a:solidFill>
                      <a:srgbClr val="FAFBF8"/>
                    </a:solidFill>
                  </a:tcPr>
                </a:tc>
              </a:tr>
              <a:tr h="383540">
                <a:tc>
                  <a:txBody>
                    <a:bodyPr/>
                    <a:lstStyle/>
                    <a:p>
                      <a:pPr indent="0" marL="0">
                        <a:lnSpc>
                          <a:spcPts val="1960"/>
                        </a:lnSpc>
                        <a:buNone/>
                      </a:pPr>
                      <a:r>
                        <a:rPr lang="en-US" sz="1400" dirty="0">
                          <a:solidFill>
                            <a:srgbClr val="14262B"/>
                          </a:solidFill>
                          <a:latin typeface="Arial" pitchFamily="34" charset="0"/>
                          <a:ea typeface="Arial" pitchFamily="34" charset="-122"/>
                          <a:cs typeface="Arial" pitchFamily="34" charset="-120"/>
                        </a:rPr>
                        <a:t>Run time</a:t>
                      </a:r>
                      <a:endParaRPr lang="en-US" sz="1400" dirty="0">
                        <a:latin typeface="Arial" charset="0"/>
                        <a:ea typeface="Arial" charset="0"/>
                        <a:cs typeface="Arial" charset="0"/>
                      </a:endParaRPr>
                    </a:p>
                  </a:txBody>
                  <a:tcPr marL="62230" marR="62230" marT="62230" marB="62230" anchor="t">
                    <a:lnL w="12700" cap="flat" cmpd="sng" algn="ctr">
                      <a:solidFill>
                        <a:srgbClr val="C2C4C0"/>
                      </a:solidFill>
                      <a:prstDash val="solid"/>
                      <a:round/>
                      <a:headEnd type="none" w="med" len="med"/>
                      <a:tailEnd type="none" w="med" len="med"/>
                    </a:lnL>
                    <a:lnR w="12700" cap="flat" cmpd="sng" algn="ctr">
                      <a:solidFill>
                        <a:srgbClr val="B9BEBB"/>
                      </a:solidFill>
                      <a:prstDash val="solid"/>
                      <a:round/>
                      <a:headEnd type="none" w="med" len="med"/>
                      <a:tailEnd type="none" w="med" len="med"/>
                    </a:lnR>
                    <a:lnT w="12700" cap="flat" cmpd="sng" algn="ctr">
                      <a:solidFill>
                        <a:srgbClr val="C7C8C6"/>
                      </a:solidFill>
                      <a:prstDash val="solid"/>
                      <a:round/>
                      <a:headEnd type="none" w="med" len="med"/>
                      <a:tailEnd type="none" w="med" len="med"/>
                    </a:lnT>
                    <a:lnB w="12700" cap="flat" cmpd="sng" algn="ctr">
                      <a:solidFill>
                        <a:srgbClr val="B9BEBB"/>
                      </a:solidFill>
                      <a:prstDash val="solid"/>
                      <a:round/>
                      <a:headEnd type="none" w="med" len="med"/>
                      <a:tailEnd type="none" w="med" len="med"/>
                    </a:lnB>
                    <a:solidFill>
                      <a:srgbClr val="E8EEEA"/>
                    </a:solidFill>
                  </a:tcPr>
                </a:tc>
                <a:tc>
                  <a:txBody>
                    <a:bodyPr/>
                    <a:lstStyle/>
                    <a:p>
                      <a:pPr indent="0" marL="0">
                        <a:lnSpc>
                          <a:spcPts val="1960"/>
                        </a:lnSpc>
                        <a:buNone/>
                      </a:pPr>
                      <a:r>
                        <a:rPr lang="en-US" sz="1400" dirty="0">
                          <a:solidFill>
                            <a:srgbClr val="14262B"/>
                          </a:solidFill>
                          <a:latin typeface="Arial" pitchFamily="34" charset="0"/>
                          <a:ea typeface="Arial" pitchFamily="34" charset="-122"/>
                          <a:cs typeface="Arial" pitchFamily="34" charset="-120"/>
                        </a:rPr>
                        <a:t>[__] h per charge</a:t>
                      </a:r>
                      <a:endParaRPr lang="en-US" sz="1400" dirty="0">
                        <a:latin typeface="Arial" charset="0"/>
                        <a:ea typeface="Arial" charset="0"/>
                        <a:cs typeface="Arial" charset="0"/>
                      </a:endParaRPr>
                    </a:p>
                  </a:txBody>
                  <a:tcPr marL="62230" marR="62230" marT="62230" marB="62230" anchor="t">
                    <a:lnL w="12700" cap="flat" cmpd="sng" algn="ctr">
                      <a:solidFill>
                        <a:srgbClr val="B9BEBB"/>
                      </a:solidFill>
                      <a:prstDash val="solid"/>
                      <a:round/>
                      <a:headEnd type="none" w="med" len="med"/>
                      <a:tailEnd type="none" w="med" len="med"/>
                    </a:lnL>
                    <a:lnR w="12700" cap="flat" cmpd="sng" algn="ctr">
                      <a:solidFill>
                        <a:srgbClr val="B9BEBB"/>
                      </a:solidFill>
                      <a:prstDash val="solid"/>
                      <a:round/>
                      <a:headEnd type="none" w="med" len="med"/>
                      <a:tailEnd type="none" w="med" len="med"/>
                    </a:lnR>
                    <a:lnT w="12700" cap="flat" cmpd="sng" algn="ctr">
                      <a:solidFill>
                        <a:srgbClr val="C7C8C6"/>
                      </a:solidFill>
                      <a:prstDash val="solid"/>
                      <a:round/>
                      <a:headEnd type="none" w="med" len="med"/>
                      <a:tailEnd type="none" w="med" len="med"/>
                    </a:lnT>
                    <a:lnB w="12700" cap="flat" cmpd="sng" algn="ctr">
                      <a:solidFill>
                        <a:srgbClr val="B9BEBB"/>
                      </a:solidFill>
                      <a:prstDash val="solid"/>
                      <a:round/>
                      <a:headEnd type="none" w="med" len="med"/>
                      <a:tailEnd type="none" w="med" len="med"/>
                    </a:lnB>
                    <a:solidFill>
                      <a:srgbClr val="E8EEEA"/>
                    </a:solidFill>
                  </a:tcPr>
                </a:tc>
                <a:tc>
                  <a:txBody>
                    <a:bodyPr/>
                    <a:lstStyle/>
                    <a:p>
                      <a:pPr indent="0" marL="0">
                        <a:lnSpc>
                          <a:spcPts val="1960"/>
                        </a:lnSpc>
                        <a:buNone/>
                      </a:pPr>
                      <a:r>
                        <a:rPr lang="en-US" sz="1400" dirty="0">
                          <a:solidFill>
                            <a:srgbClr val="14262B"/>
                          </a:solidFill>
                          <a:latin typeface="Arial" pitchFamily="34" charset="0"/>
                          <a:ea typeface="Arial" pitchFamily="34" charset="-122"/>
                          <a:cs typeface="Arial" pitchFamily="34" charset="-120"/>
                        </a:rPr>
                        <a:t>Practical daily use</a:t>
                      </a:r>
                      <a:endParaRPr lang="en-US" sz="1400" dirty="0">
                        <a:latin typeface="Arial" charset="0"/>
                        <a:ea typeface="Arial" charset="0"/>
                        <a:cs typeface="Arial" charset="0"/>
                      </a:endParaRPr>
                    </a:p>
                  </a:txBody>
                  <a:tcPr marL="62230" marR="62230" marT="62230" marB="62230" anchor="t">
                    <a:lnL w="12700" cap="flat" cmpd="sng" algn="ctr">
                      <a:solidFill>
                        <a:srgbClr val="B9BEBB"/>
                      </a:solidFill>
                      <a:prstDash val="solid"/>
                      <a:round/>
                      <a:headEnd type="none" w="med" len="med"/>
                      <a:tailEnd type="none" w="med" len="med"/>
                    </a:lnL>
                    <a:lnR w="12700" cap="flat" cmpd="sng" algn="ctr">
                      <a:solidFill>
                        <a:srgbClr val="B9BEBB"/>
                      </a:solidFill>
                      <a:prstDash val="solid"/>
                      <a:round/>
                      <a:headEnd type="none" w="med" len="med"/>
                      <a:tailEnd type="none" w="med" len="med"/>
                    </a:lnR>
                    <a:lnT w="12700" cap="flat" cmpd="sng" algn="ctr">
                      <a:solidFill>
                        <a:srgbClr val="C7C8C6"/>
                      </a:solidFill>
                      <a:prstDash val="solid"/>
                      <a:round/>
                      <a:headEnd type="none" w="med" len="med"/>
                      <a:tailEnd type="none" w="med" len="med"/>
                    </a:lnT>
                    <a:lnB w="12700" cap="flat" cmpd="sng" algn="ctr">
                      <a:solidFill>
                        <a:srgbClr val="B9BEBB"/>
                      </a:solidFill>
                      <a:prstDash val="solid"/>
                      <a:round/>
                      <a:headEnd type="none" w="med" len="med"/>
                      <a:tailEnd type="none" w="med" len="med"/>
                    </a:lnB>
                    <a:solidFill>
                      <a:srgbClr val="E8EEEA"/>
                    </a:solidFill>
                  </a:tcPr>
                </a:tc>
              </a:tr>
              <a:tr h="383540">
                <a:tc>
                  <a:txBody>
                    <a:bodyPr/>
                    <a:lstStyle/>
                    <a:p>
                      <a:pPr indent="0" marL="0">
                        <a:lnSpc>
                          <a:spcPts val="1960"/>
                        </a:lnSpc>
                        <a:buNone/>
                      </a:pPr>
                      <a:r>
                        <a:rPr lang="en-US" sz="1400" dirty="0">
                          <a:solidFill>
                            <a:srgbClr val="14262B"/>
                          </a:solidFill>
                          <a:latin typeface="Arial" pitchFamily="34" charset="0"/>
                          <a:ea typeface="Arial" pitchFamily="34" charset="-122"/>
                          <a:cs typeface="Arial" pitchFamily="34" charset="-120"/>
                        </a:rPr>
                        <a:t>Print material</a:t>
                      </a:r>
                      <a:endParaRPr lang="en-US" sz="1400" dirty="0">
                        <a:latin typeface="Arial" charset="0"/>
                        <a:ea typeface="Arial" charset="0"/>
                        <a:cs typeface="Arial" charset="0"/>
                      </a:endParaRPr>
                    </a:p>
                  </a:txBody>
                  <a:tcPr marL="62230" marR="62230" marT="62230" marB="62230" anchor="t">
                    <a:lnL w="12700" cap="flat" cmpd="sng" algn="ctr">
                      <a:solidFill>
                        <a:srgbClr val="C2C4C0"/>
                      </a:solidFill>
                      <a:prstDash val="solid"/>
                      <a:round/>
                      <a:headEnd type="none" w="med" len="med"/>
                      <a:tailEnd type="none" w="med" len="med"/>
                    </a:lnL>
                    <a:lnR w="12700" cap="flat" cmpd="sng" algn="ctr">
                      <a:solidFill>
                        <a:srgbClr val="C7C8C6"/>
                      </a:solidFill>
                      <a:prstDash val="solid"/>
                      <a:round/>
                      <a:headEnd type="none" w="med" len="med"/>
                      <a:tailEnd type="none" w="med" len="med"/>
                    </a:lnR>
                    <a:lnT w="12700" cap="flat" cmpd="sng" algn="ctr">
                      <a:solidFill>
                        <a:srgbClr val="B9BEBB"/>
                      </a:solidFill>
                      <a:prstDash val="solid"/>
                      <a:round/>
                      <a:headEnd type="none" w="med" len="med"/>
                      <a:tailEnd type="none" w="med" len="med"/>
                    </a:lnT>
                    <a:lnB w="12700" cap="flat" cmpd="sng" algn="ctr">
                      <a:solidFill>
                        <a:srgbClr val="C7C8C6"/>
                      </a:solidFill>
                      <a:prstDash val="solid"/>
                      <a:round/>
                      <a:headEnd type="none" w="med" len="med"/>
                      <a:tailEnd type="none" w="med" len="med"/>
                    </a:lnB>
                    <a:solidFill>
                      <a:srgbClr val="FAFBF8"/>
                    </a:solidFill>
                  </a:tcPr>
                </a:tc>
                <a:tc>
                  <a:txBody>
                    <a:bodyPr/>
                    <a:lstStyle/>
                    <a:p>
                      <a:pPr indent="0" marL="0">
                        <a:lnSpc>
                          <a:spcPts val="1960"/>
                        </a:lnSpc>
                        <a:buNone/>
                      </a:pPr>
                      <a:r>
                        <a:rPr lang="en-US" sz="1400" dirty="0">
                          <a:solidFill>
                            <a:srgbClr val="14262B"/>
                          </a:solidFill>
                          <a:latin typeface="Arial" pitchFamily="34" charset="0"/>
                          <a:ea typeface="Arial" pitchFamily="34" charset="-122"/>
                          <a:cs typeface="Arial" pitchFamily="34" charset="-120"/>
                        </a:rPr>
                        <a:t>[PLA / PETG]</a:t>
                      </a:r>
                      <a:endParaRPr lang="en-US" sz="1400" dirty="0">
                        <a:latin typeface="Arial" charset="0"/>
                        <a:ea typeface="Arial" charset="0"/>
                        <a:cs typeface="Arial" charset="0"/>
                      </a:endParaRPr>
                    </a:p>
                  </a:txBody>
                  <a:tcPr marL="62230" marR="62230" marT="62230" marB="62230" anchor="t">
                    <a:lnL w="12700" cap="flat" cmpd="sng" algn="ctr">
                      <a:solidFill>
                        <a:srgbClr val="C7C8C6"/>
                      </a:solidFill>
                      <a:prstDash val="solid"/>
                      <a:round/>
                      <a:headEnd type="none" w="med" len="med"/>
                      <a:tailEnd type="none" w="med" len="med"/>
                    </a:lnL>
                    <a:lnR w="12700" cap="flat" cmpd="sng" algn="ctr">
                      <a:solidFill>
                        <a:srgbClr val="C7C8C6"/>
                      </a:solidFill>
                      <a:prstDash val="solid"/>
                      <a:round/>
                      <a:headEnd type="none" w="med" len="med"/>
                      <a:tailEnd type="none" w="med" len="med"/>
                    </a:lnR>
                    <a:lnT w="12700" cap="flat" cmpd="sng" algn="ctr">
                      <a:solidFill>
                        <a:srgbClr val="B9BEBB"/>
                      </a:solidFill>
                      <a:prstDash val="solid"/>
                      <a:round/>
                      <a:headEnd type="none" w="med" len="med"/>
                      <a:tailEnd type="none" w="med" len="med"/>
                    </a:lnT>
                    <a:lnB w="12700" cap="flat" cmpd="sng" algn="ctr">
                      <a:solidFill>
                        <a:srgbClr val="C7C8C6"/>
                      </a:solidFill>
                      <a:prstDash val="solid"/>
                      <a:round/>
                      <a:headEnd type="none" w="med" len="med"/>
                      <a:tailEnd type="none" w="med" len="med"/>
                    </a:lnB>
                    <a:solidFill>
                      <a:srgbClr val="FAFBF8"/>
                    </a:solidFill>
                  </a:tcPr>
                </a:tc>
                <a:tc>
                  <a:txBody>
                    <a:bodyPr/>
                    <a:lstStyle/>
                    <a:p>
                      <a:pPr indent="0" marL="0">
                        <a:lnSpc>
                          <a:spcPts val="1960"/>
                        </a:lnSpc>
                        <a:buNone/>
                      </a:pPr>
                      <a:r>
                        <a:rPr lang="en-US" sz="1400" dirty="0">
                          <a:solidFill>
                            <a:srgbClr val="14262B"/>
                          </a:solidFill>
                          <a:latin typeface="Arial" pitchFamily="34" charset="0"/>
                          <a:ea typeface="Arial" pitchFamily="34" charset="-122"/>
                          <a:cs typeface="Arial" pitchFamily="34" charset="-120"/>
                        </a:rPr>
                        <a:t>Low cost, easy to print</a:t>
                      </a:r>
                      <a:endParaRPr lang="en-US" sz="1400" dirty="0">
                        <a:latin typeface="Arial" charset="0"/>
                        <a:ea typeface="Arial" charset="0"/>
                        <a:cs typeface="Arial" charset="0"/>
                      </a:endParaRPr>
                    </a:p>
                  </a:txBody>
                  <a:tcPr marL="62230" marR="62230" marT="62230" marB="62230" anchor="t">
                    <a:lnL w="12700" cap="flat" cmpd="sng" algn="ctr">
                      <a:solidFill>
                        <a:srgbClr val="C7C8C6"/>
                      </a:solidFill>
                      <a:prstDash val="solid"/>
                      <a:round/>
                      <a:headEnd type="none" w="med" len="med"/>
                      <a:tailEnd type="none" w="med" len="med"/>
                    </a:lnL>
                    <a:lnR w="12700" cap="flat" cmpd="sng" algn="ctr">
                      <a:solidFill>
                        <a:srgbClr val="C7C8C6"/>
                      </a:solidFill>
                      <a:prstDash val="solid"/>
                      <a:round/>
                      <a:headEnd type="none" w="med" len="med"/>
                      <a:tailEnd type="none" w="med" len="med"/>
                    </a:lnR>
                    <a:lnT w="12700" cap="flat" cmpd="sng" algn="ctr">
                      <a:solidFill>
                        <a:srgbClr val="B9BEBB"/>
                      </a:solidFill>
                      <a:prstDash val="solid"/>
                      <a:round/>
                      <a:headEnd type="none" w="med" len="med"/>
                      <a:tailEnd type="none" w="med" len="med"/>
                    </a:lnT>
                    <a:lnB w="12700" cap="flat" cmpd="sng" algn="ctr">
                      <a:solidFill>
                        <a:srgbClr val="C7C8C6"/>
                      </a:solidFill>
                      <a:prstDash val="solid"/>
                      <a:round/>
                      <a:headEnd type="none" w="med" len="med"/>
                      <a:tailEnd type="none" w="med" len="med"/>
                    </a:lnB>
                    <a:solidFill>
                      <a:srgbClr val="FAFBF8"/>
                    </a:solidFill>
                  </a:tcPr>
                </a:tc>
              </a:tr>
            </a:tbl>
          </a:graphicData>
        </a:graphic>
      </p:graphicFrame>
      <p:sp>
        <p:nvSpPr>
          <p:cNvPr id="5" name="Text 2"/>
          <p:cNvSpPr/>
          <p:nvPr/>
        </p:nvSpPr>
        <p:spPr>
          <a:xfrm>
            <a:off x="812800" y="6238239"/>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B5F63"/>
                </a:solidFill>
                <a:latin typeface="Arial" pitchFamily="34" charset="0"/>
                <a:ea typeface="Arial" pitchFamily="34" charset="-122"/>
                <a:cs typeface="Arial" pitchFamily="34" charset="-120"/>
              </a:rPr>
              <a:t>Handheld 3D Printed Fan · Manufacturing Technology</a:t>
            </a:r>
            <a:endParaRPr lang="en-US" sz="1200" dirty="0"/>
          </a:p>
        </p:txBody>
      </p:sp>
      <p:sp>
        <p:nvSpPr>
          <p:cNvPr id="6" name="Text 3"/>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B5F63"/>
                </a:solidFill>
                <a:latin typeface="Arial" pitchFamily="34" charset="0"/>
                <a:ea typeface="Arial" pitchFamily="34" charset="-122"/>
                <a:cs typeface="Arial"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B7A75"/>
                </a:solidFill>
                <a:latin typeface="Arial" pitchFamily="34" charset="0"/>
                <a:ea typeface="Arial" pitchFamily="34" charset="-122"/>
                <a:cs typeface="Arial" pitchFamily="34" charset="-120"/>
              </a:rPr>
              <a:t>04 · DESIGN &amp; COMPONENTS</a:t>
            </a:r>
            <a:endParaRPr lang="en-US" sz="1200" dirty="0"/>
          </a:p>
        </p:txBody>
      </p:sp>
      <p:sp>
        <p:nvSpPr>
          <p:cNvPr id="3" name="Text 1"/>
          <p:cNvSpPr/>
          <p:nvPr>
            <p:ph type="title"/>
          </p:nvPr>
        </p:nvSpPr>
        <p:spPr>
          <a:xfrm>
            <a:off x="812800" y="11023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62B"/>
                </a:solidFill>
                <a:latin typeface="Arial" pitchFamily="34" charset="0"/>
                <a:ea typeface="Arial" pitchFamily="34" charset="-122"/>
                <a:cs typeface="Arial" pitchFamily="34" charset="-120"/>
              </a:rPr>
              <a:t>CAD model and parts</a:t>
            </a:r>
            <a:endParaRPr lang="en-US" sz="3200" dirty="0"/>
          </a:p>
        </p:txBody>
      </p:sp>
      <p:pic>
        <p:nvPicPr>
          <p:cNvPr id="4" name="Image 0" descr="Schematic of the fan: guard ring with spokes, five blades, hub and a handle with a switch">    </p:cNvPr>
          <p:cNvPicPr>
            <a:picLocks noChangeAspect="1"/>
          </p:cNvPicPr>
          <p:nvPr/>
        </p:nvPicPr>
        <p:blipFill>
          <a:blip r:embed="rId1"/>
          <a:srcRect l="0" r="0" t="-18830" b="-18830"/>
          <a:stretch/>
        </p:blipFill>
        <p:spPr>
          <a:xfrm>
            <a:off x="812800" y="1803400"/>
            <a:ext cx="2583180" cy="3556000"/>
          </a:xfrm>
          <a:prstGeom prst="rect">
            <a:avLst/>
          </a:prstGeom>
        </p:spPr>
      </p:pic>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3710940" y="2435860"/>
          <a:ext cx="7668260" cy="2301240"/>
        </p:xfrm>
        <a:graphic>
          <a:graphicData uri="http://schemas.openxmlformats.org/drawingml/2006/table">
            <a:tbl>
              <a:tblPr/>
              <a:tblGrid>
                <a:gridCol w="2453843"/>
                <a:gridCol w="3680765"/>
                <a:gridCol w="1533652"/>
              </a:tblGrid>
              <a:tr h="383540">
                <a:tc>
                  <a:txBody>
                    <a:bodyPr/>
                    <a:lstStyle/>
                    <a:p>
                      <a:pPr indent="0" marL="0">
                        <a:lnSpc>
                          <a:spcPts val="1960"/>
                        </a:lnSpc>
                        <a:buNone/>
                      </a:pPr>
                      <a:r>
                        <a:rPr lang="en-US" sz="1400" b="1" dirty="0">
                          <a:solidFill>
                            <a:srgbClr val="EAF2EF"/>
                          </a:solidFill>
                          <a:latin typeface="Arial" pitchFamily="34" charset="0"/>
                          <a:ea typeface="Arial" pitchFamily="34" charset="-122"/>
                          <a:cs typeface="Arial" pitchFamily="34" charset="-120"/>
                        </a:rPr>
                        <a:t>Part</a:t>
                      </a:r>
                      <a:endParaRPr lang="en-US" sz="1400" dirty="0">
                        <a:latin typeface="Arial" charset="0"/>
                        <a:ea typeface="Arial" charset="0"/>
                        <a:cs typeface="Arial" charset="0"/>
                      </a:endParaRPr>
                    </a:p>
                  </a:txBody>
                  <a:tcPr marL="62230" marR="62230" marT="62230" marB="62230" anchor="t">
                    <a:lnL w="12700" cap="flat" cmpd="sng" algn="ctr">
                      <a:solidFill>
                        <a:srgbClr val="C2C4C0"/>
                      </a:solidFill>
                      <a:prstDash val="solid"/>
                      <a:round/>
                      <a:headEnd type="none" w="med" len="med"/>
                      <a:tailEnd type="none" w="med" len="med"/>
                    </a:lnL>
                    <a:lnR w="12700" cap="flat" cmpd="sng" algn="ctr">
                      <a:solidFill>
                        <a:srgbClr val="142226"/>
                      </a:solidFill>
                      <a:prstDash val="solid"/>
                      <a:round/>
                      <a:headEnd type="none" w="med" len="med"/>
                      <a:tailEnd type="none" w="med" len="med"/>
                    </a:lnR>
                    <a:lnT w="12700" cap="flat" cmpd="sng" algn="ctr">
                      <a:solidFill>
                        <a:srgbClr val="C2C4C0"/>
                      </a:solidFill>
                      <a:prstDash val="solid"/>
                      <a:round/>
                      <a:headEnd type="none" w="med" len="med"/>
                      <a:tailEnd type="none" w="med" len="med"/>
                    </a:lnT>
                    <a:lnB w="12700" cap="flat" cmpd="sng" algn="ctr">
                      <a:solidFill>
                        <a:srgbClr val="142226"/>
                      </a:solidFill>
                      <a:prstDash val="solid"/>
                      <a:round/>
                      <a:headEnd type="none" w="med" len="med"/>
                      <a:tailEnd type="none" w="med" len="med"/>
                    </a:lnB>
                    <a:solidFill>
                      <a:srgbClr val="14262B"/>
                    </a:solidFill>
                  </a:tcPr>
                </a:tc>
                <a:tc>
                  <a:txBody>
                    <a:bodyPr/>
                    <a:lstStyle/>
                    <a:p>
                      <a:pPr indent="0" marL="0">
                        <a:lnSpc>
                          <a:spcPts val="1960"/>
                        </a:lnSpc>
                        <a:buNone/>
                      </a:pPr>
                      <a:r>
                        <a:rPr lang="en-US" sz="1400" b="1" dirty="0">
                          <a:solidFill>
                            <a:srgbClr val="EAF2EF"/>
                          </a:solidFill>
                          <a:latin typeface="Arial" pitchFamily="34" charset="0"/>
                          <a:ea typeface="Arial" pitchFamily="34" charset="-122"/>
                          <a:cs typeface="Arial" pitchFamily="34" charset="-120"/>
                        </a:rPr>
                        <a:t>Function</a:t>
                      </a:r>
                      <a:endParaRPr lang="en-US" sz="1400" dirty="0">
                        <a:latin typeface="Arial" charset="0"/>
                        <a:ea typeface="Arial" charset="0"/>
                        <a:cs typeface="Arial" charset="0"/>
                      </a:endParaRPr>
                    </a:p>
                  </a:txBody>
                  <a:tcPr marL="62230" marR="62230" marT="62230" marB="62230" anchor="t">
                    <a:lnL w="12700" cap="flat" cmpd="sng" algn="ctr">
                      <a:solidFill>
                        <a:srgbClr val="142226"/>
                      </a:solidFill>
                      <a:prstDash val="solid"/>
                      <a:round/>
                      <a:headEnd type="none" w="med" len="med"/>
                      <a:tailEnd type="none" w="med" len="med"/>
                    </a:lnL>
                    <a:lnR w="12700" cap="flat" cmpd="sng" algn="ctr">
                      <a:solidFill>
                        <a:srgbClr val="142226"/>
                      </a:solidFill>
                      <a:prstDash val="solid"/>
                      <a:round/>
                      <a:headEnd type="none" w="med" len="med"/>
                      <a:tailEnd type="none" w="med" len="med"/>
                    </a:lnR>
                    <a:lnT w="12700" cap="flat" cmpd="sng" algn="ctr">
                      <a:solidFill>
                        <a:srgbClr val="C2C4C0"/>
                      </a:solidFill>
                      <a:prstDash val="solid"/>
                      <a:round/>
                      <a:headEnd type="none" w="med" len="med"/>
                      <a:tailEnd type="none" w="med" len="med"/>
                    </a:lnT>
                    <a:lnB w="12700" cap="flat" cmpd="sng" algn="ctr">
                      <a:solidFill>
                        <a:srgbClr val="142226"/>
                      </a:solidFill>
                      <a:prstDash val="solid"/>
                      <a:round/>
                      <a:headEnd type="none" w="med" len="med"/>
                      <a:tailEnd type="none" w="med" len="med"/>
                    </a:lnB>
                    <a:solidFill>
                      <a:srgbClr val="14262B"/>
                    </a:solidFill>
                  </a:tcPr>
                </a:tc>
                <a:tc>
                  <a:txBody>
                    <a:bodyPr/>
                    <a:lstStyle/>
                    <a:p>
                      <a:pPr indent="0" marL="0">
                        <a:lnSpc>
                          <a:spcPts val="1960"/>
                        </a:lnSpc>
                        <a:buNone/>
                      </a:pPr>
                      <a:r>
                        <a:rPr lang="en-US" sz="1400" b="1" dirty="0">
                          <a:solidFill>
                            <a:srgbClr val="EAF2EF"/>
                          </a:solidFill>
                          <a:latin typeface="Arial" pitchFamily="34" charset="0"/>
                          <a:ea typeface="Arial" pitchFamily="34" charset="-122"/>
                          <a:cs typeface="Arial" pitchFamily="34" charset="-120"/>
                        </a:rPr>
                        <a:t>Source</a:t>
                      </a:r>
                      <a:endParaRPr lang="en-US" sz="1400" dirty="0">
                        <a:latin typeface="Arial" charset="0"/>
                        <a:ea typeface="Arial" charset="0"/>
                        <a:cs typeface="Arial" charset="0"/>
                      </a:endParaRPr>
                    </a:p>
                  </a:txBody>
                  <a:tcPr marL="62230" marR="62230" marT="62230" marB="62230" anchor="t">
                    <a:lnL w="12700" cap="flat" cmpd="sng" algn="ctr">
                      <a:solidFill>
                        <a:srgbClr val="142226"/>
                      </a:solidFill>
                      <a:prstDash val="solid"/>
                      <a:round/>
                      <a:headEnd type="none" w="med" len="med"/>
                      <a:tailEnd type="none" w="med" len="med"/>
                    </a:lnL>
                    <a:lnR w="12700" cap="flat" cmpd="sng" algn="ctr">
                      <a:solidFill>
                        <a:srgbClr val="142226"/>
                      </a:solidFill>
                      <a:prstDash val="solid"/>
                      <a:round/>
                      <a:headEnd type="none" w="med" len="med"/>
                      <a:tailEnd type="none" w="med" len="med"/>
                    </a:lnR>
                    <a:lnT w="12700" cap="flat" cmpd="sng" algn="ctr">
                      <a:solidFill>
                        <a:srgbClr val="C2C4C0"/>
                      </a:solidFill>
                      <a:prstDash val="solid"/>
                      <a:round/>
                      <a:headEnd type="none" w="med" len="med"/>
                      <a:tailEnd type="none" w="med" len="med"/>
                    </a:lnT>
                    <a:lnB w="12700" cap="flat" cmpd="sng" algn="ctr">
                      <a:solidFill>
                        <a:srgbClr val="142226"/>
                      </a:solidFill>
                      <a:prstDash val="solid"/>
                      <a:round/>
                      <a:headEnd type="none" w="med" len="med"/>
                      <a:tailEnd type="none" w="med" len="med"/>
                    </a:lnB>
                    <a:solidFill>
                      <a:srgbClr val="14262B"/>
                    </a:solidFill>
                  </a:tcPr>
                </a:tc>
              </a:tr>
              <a:tr h="383540">
                <a:tc>
                  <a:txBody>
                    <a:bodyPr/>
                    <a:lstStyle/>
                    <a:p>
                      <a:pPr indent="0" marL="0">
                        <a:lnSpc>
                          <a:spcPts val="1960"/>
                        </a:lnSpc>
                        <a:buNone/>
                      </a:pPr>
                      <a:r>
                        <a:rPr lang="en-US" sz="1400" dirty="0">
                          <a:solidFill>
                            <a:srgbClr val="14262B"/>
                          </a:solidFill>
                          <a:latin typeface="Arial" pitchFamily="34" charset="0"/>
                          <a:ea typeface="Arial" pitchFamily="34" charset="-122"/>
                          <a:cs typeface="Arial" pitchFamily="34" charset="-120"/>
                        </a:rPr>
                        <a:t>Blade set</a:t>
                      </a:r>
                      <a:endParaRPr lang="en-US" sz="1400" dirty="0">
                        <a:latin typeface="Arial" charset="0"/>
                        <a:ea typeface="Arial" charset="0"/>
                        <a:cs typeface="Arial" charset="0"/>
                      </a:endParaRPr>
                    </a:p>
                  </a:txBody>
                  <a:tcPr marL="62230" marR="62230" marT="62230" marB="62230" anchor="t">
                    <a:lnL w="12700" cap="flat" cmpd="sng" algn="ctr">
                      <a:solidFill>
                        <a:srgbClr val="C2C4C0"/>
                      </a:solidFill>
                      <a:prstDash val="solid"/>
                      <a:round/>
                      <a:headEnd type="none" w="med" len="med"/>
                      <a:tailEnd type="none" w="med" len="med"/>
                    </a:lnL>
                    <a:lnR w="12700" cap="flat" cmpd="sng" algn="ctr">
                      <a:solidFill>
                        <a:srgbClr val="C7C8C6"/>
                      </a:solidFill>
                      <a:prstDash val="solid"/>
                      <a:round/>
                      <a:headEnd type="none" w="med" len="med"/>
                      <a:tailEnd type="none" w="med" len="med"/>
                    </a:lnR>
                    <a:lnT w="12700" cap="flat" cmpd="sng" algn="ctr">
                      <a:solidFill>
                        <a:srgbClr val="142226"/>
                      </a:solidFill>
                      <a:prstDash val="solid"/>
                      <a:round/>
                      <a:headEnd type="none" w="med" len="med"/>
                      <a:tailEnd type="none" w="med" len="med"/>
                    </a:lnT>
                    <a:lnB w="12700" cap="flat" cmpd="sng" algn="ctr">
                      <a:solidFill>
                        <a:srgbClr val="C7C8C6"/>
                      </a:solidFill>
                      <a:prstDash val="solid"/>
                      <a:round/>
                      <a:headEnd type="none" w="med" len="med"/>
                      <a:tailEnd type="none" w="med" len="med"/>
                    </a:lnB>
                    <a:solidFill>
                      <a:srgbClr val="FAFBF8"/>
                    </a:solidFill>
                  </a:tcPr>
                </a:tc>
                <a:tc>
                  <a:txBody>
                    <a:bodyPr/>
                    <a:lstStyle/>
                    <a:p>
                      <a:pPr indent="0" marL="0">
                        <a:lnSpc>
                          <a:spcPts val="1960"/>
                        </a:lnSpc>
                        <a:buNone/>
                      </a:pPr>
                      <a:r>
                        <a:rPr lang="en-US" sz="1400" dirty="0">
                          <a:solidFill>
                            <a:srgbClr val="14262B"/>
                          </a:solidFill>
                          <a:latin typeface="Arial" pitchFamily="34" charset="0"/>
                          <a:ea typeface="Arial" pitchFamily="34" charset="-122"/>
                          <a:cs typeface="Arial" pitchFamily="34" charset="-120"/>
                        </a:rPr>
                        <a:t>Moves the air</a:t>
                      </a:r>
                      <a:endParaRPr lang="en-US" sz="1400" dirty="0">
                        <a:latin typeface="Arial" charset="0"/>
                        <a:ea typeface="Arial" charset="0"/>
                        <a:cs typeface="Arial" charset="0"/>
                      </a:endParaRPr>
                    </a:p>
                  </a:txBody>
                  <a:tcPr marL="62230" marR="62230" marT="62230" marB="62230" anchor="t">
                    <a:lnL w="12700" cap="flat" cmpd="sng" algn="ctr">
                      <a:solidFill>
                        <a:srgbClr val="C7C8C6"/>
                      </a:solidFill>
                      <a:prstDash val="solid"/>
                      <a:round/>
                      <a:headEnd type="none" w="med" len="med"/>
                      <a:tailEnd type="none" w="med" len="med"/>
                    </a:lnL>
                    <a:lnR w="12700" cap="flat" cmpd="sng" algn="ctr">
                      <a:solidFill>
                        <a:srgbClr val="C7C8C6"/>
                      </a:solidFill>
                      <a:prstDash val="solid"/>
                      <a:round/>
                      <a:headEnd type="none" w="med" len="med"/>
                      <a:tailEnd type="none" w="med" len="med"/>
                    </a:lnR>
                    <a:lnT w="12700" cap="flat" cmpd="sng" algn="ctr">
                      <a:solidFill>
                        <a:srgbClr val="142226"/>
                      </a:solidFill>
                      <a:prstDash val="solid"/>
                      <a:round/>
                      <a:headEnd type="none" w="med" len="med"/>
                      <a:tailEnd type="none" w="med" len="med"/>
                    </a:lnT>
                    <a:lnB w="12700" cap="flat" cmpd="sng" algn="ctr">
                      <a:solidFill>
                        <a:srgbClr val="C7C8C6"/>
                      </a:solidFill>
                      <a:prstDash val="solid"/>
                      <a:round/>
                      <a:headEnd type="none" w="med" len="med"/>
                      <a:tailEnd type="none" w="med" len="med"/>
                    </a:lnB>
                    <a:solidFill>
                      <a:srgbClr val="FAFBF8"/>
                    </a:solidFill>
                  </a:tcPr>
                </a:tc>
                <a:tc>
                  <a:txBody>
                    <a:bodyPr/>
                    <a:lstStyle/>
                    <a:p>
                      <a:pPr indent="0" marL="0">
                        <a:lnSpc>
                          <a:spcPts val="1960"/>
                        </a:lnSpc>
                        <a:buNone/>
                      </a:pPr>
                      <a:r>
                        <a:rPr lang="en-US" sz="1400" dirty="0">
                          <a:solidFill>
                            <a:srgbClr val="14262B"/>
                          </a:solidFill>
                          <a:latin typeface="Arial" pitchFamily="34" charset="0"/>
                          <a:ea typeface="Arial" pitchFamily="34" charset="-122"/>
                          <a:cs typeface="Arial" pitchFamily="34" charset="-120"/>
                        </a:rPr>
                        <a:t>Printed</a:t>
                      </a:r>
                      <a:endParaRPr lang="en-US" sz="1400" dirty="0">
                        <a:latin typeface="Arial" charset="0"/>
                        <a:ea typeface="Arial" charset="0"/>
                        <a:cs typeface="Arial" charset="0"/>
                      </a:endParaRPr>
                    </a:p>
                  </a:txBody>
                  <a:tcPr marL="62230" marR="62230" marT="62230" marB="62230" anchor="t">
                    <a:lnL w="12700" cap="flat" cmpd="sng" algn="ctr">
                      <a:solidFill>
                        <a:srgbClr val="C7C8C6"/>
                      </a:solidFill>
                      <a:prstDash val="solid"/>
                      <a:round/>
                      <a:headEnd type="none" w="med" len="med"/>
                      <a:tailEnd type="none" w="med" len="med"/>
                    </a:lnL>
                    <a:lnR w="12700" cap="flat" cmpd="sng" algn="ctr">
                      <a:solidFill>
                        <a:srgbClr val="C7C8C6"/>
                      </a:solidFill>
                      <a:prstDash val="solid"/>
                      <a:round/>
                      <a:headEnd type="none" w="med" len="med"/>
                      <a:tailEnd type="none" w="med" len="med"/>
                    </a:lnR>
                    <a:lnT w="12700" cap="flat" cmpd="sng" algn="ctr">
                      <a:solidFill>
                        <a:srgbClr val="142226"/>
                      </a:solidFill>
                      <a:prstDash val="solid"/>
                      <a:round/>
                      <a:headEnd type="none" w="med" len="med"/>
                      <a:tailEnd type="none" w="med" len="med"/>
                    </a:lnT>
                    <a:lnB w="12700" cap="flat" cmpd="sng" algn="ctr">
                      <a:solidFill>
                        <a:srgbClr val="C7C8C6"/>
                      </a:solidFill>
                      <a:prstDash val="solid"/>
                      <a:round/>
                      <a:headEnd type="none" w="med" len="med"/>
                      <a:tailEnd type="none" w="med" len="med"/>
                    </a:lnB>
                    <a:solidFill>
                      <a:srgbClr val="FAFBF8"/>
                    </a:solidFill>
                  </a:tcPr>
                </a:tc>
              </a:tr>
              <a:tr h="383540">
                <a:tc>
                  <a:txBody>
                    <a:bodyPr/>
                    <a:lstStyle/>
                    <a:p>
                      <a:pPr indent="0" marL="0">
                        <a:lnSpc>
                          <a:spcPts val="1960"/>
                        </a:lnSpc>
                        <a:buNone/>
                      </a:pPr>
                      <a:r>
                        <a:rPr lang="en-US" sz="1400" dirty="0">
                          <a:solidFill>
                            <a:srgbClr val="14262B"/>
                          </a:solidFill>
                          <a:latin typeface="Arial" pitchFamily="34" charset="0"/>
                          <a:ea typeface="Arial" pitchFamily="34" charset="-122"/>
                          <a:cs typeface="Arial" pitchFamily="34" charset="-120"/>
                        </a:rPr>
                        <a:t>Guard grill</a:t>
                      </a:r>
                      <a:endParaRPr lang="en-US" sz="1400" dirty="0">
                        <a:latin typeface="Arial" charset="0"/>
                        <a:ea typeface="Arial" charset="0"/>
                        <a:cs typeface="Arial" charset="0"/>
                      </a:endParaRPr>
                    </a:p>
                  </a:txBody>
                  <a:tcPr marL="62230" marR="62230" marT="62230" marB="62230" anchor="t">
                    <a:lnL w="12700" cap="flat" cmpd="sng" algn="ctr">
                      <a:solidFill>
                        <a:srgbClr val="C2C4C0"/>
                      </a:solidFill>
                      <a:prstDash val="solid"/>
                      <a:round/>
                      <a:headEnd type="none" w="med" len="med"/>
                      <a:tailEnd type="none" w="med" len="med"/>
                    </a:lnL>
                    <a:lnR w="12700" cap="flat" cmpd="sng" algn="ctr">
                      <a:solidFill>
                        <a:srgbClr val="B9BEBB"/>
                      </a:solidFill>
                      <a:prstDash val="solid"/>
                      <a:round/>
                      <a:headEnd type="none" w="med" len="med"/>
                      <a:tailEnd type="none" w="med" len="med"/>
                    </a:lnR>
                    <a:lnT w="12700" cap="flat" cmpd="sng" algn="ctr">
                      <a:solidFill>
                        <a:srgbClr val="C7C8C6"/>
                      </a:solidFill>
                      <a:prstDash val="solid"/>
                      <a:round/>
                      <a:headEnd type="none" w="med" len="med"/>
                      <a:tailEnd type="none" w="med" len="med"/>
                    </a:lnT>
                    <a:lnB w="12700" cap="flat" cmpd="sng" algn="ctr">
                      <a:solidFill>
                        <a:srgbClr val="B9BEBB"/>
                      </a:solidFill>
                      <a:prstDash val="solid"/>
                      <a:round/>
                      <a:headEnd type="none" w="med" len="med"/>
                      <a:tailEnd type="none" w="med" len="med"/>
                    </a:lnB>
                    <a:solidFill>
                      <a:srgbClr val="E8EEEA"/>
                    </a:solidFill>
                  </a:tcPr>
                </a:tc>
                <a:tc>
                  <a:txBody>
                    <a:bodyPr/>
                    <a:lstStyle/>
                    <a:p>
                      <a:pPr indent="0" marL="0">
                        <a:lnSpc>
                          <a:spcPts val="1960"/>
                        </a:lnSpc>
                        <a:buNone/>
                      </a:pPr>
                      <a:r>
                        <a:rPr lang="en-US" sz="1400" dirty="0">
                          <a:solidFill>
                            <a:srgbClr val="14262B"/>
                          </a:solidFill>
                          <a:latin typeface="Arial" pitchFamily="34" charset="0"/>
                          <a:ea typeface="Arial" pitchFamily="34" charset="-122"/>
                          <a:cs typeface="Arial" pitchFamily="34" charset="-120"/>
                        </a:rPr>
                        <a:t>Keeps fingers out</a:t>
                      </a:r>
                      <a:endParaRPr lang="en-US" sz="1400" dirty="0">
                        <a:latin typeface="Arial" charset="0"/>
                        <a:ea typeface="Arial" charset="0"/>
                        <a:cs typeface="Arial" charset="0"/>
                      </a:endParaRPr>
                    </a:p>
                  </a:txBody>
                  <a:tcPr marL="62230" marR="62230" marT="62230" marB="62230" anchor="t">
                    <a:lnL w="12700" cap="flat" cmpd="sng" algn="ctr">
                      <a:solidFill>
                        <a:srgbClr val="B9BEBB"/>
                      </a:solidFill>
                      <a:prstDash val="solid"/>
                      <a:round/>
                      <a:headEnd type="none" w="med" len="med"/>
                      <a:tailEnd type="none" w="med" len="med"/>
                    </a:lnL>
                    <a:lnR w="12700" cap="flat" cmpd="sng" algn="ctr">
                      <a:solidFill>
                        <a:srgbClr val="B9BEBB"/>
                      </a:solidFill>
                      <a:prstDash val="solid"/>
                      <a:round/>
                      <a:headEnd type="none" w="med" len="med"/>
                      <a:tailEnd type="none" w="med" len="med"/>
                    </a:lnR>
                    <a:lnT w="12700" cap="flat" cmpd="sng" algn="ctr">
                      <a:solidFill>
                        <a:srgbClr val="C7C8C6"/>
                      </a:solidFill>
                      <a:prstDash val="solid"/>
                      <a:round/>
                      <a:headEnd type="none" w="med" len="med"/>
                      <a:tailEnd type="none" w="med" len="med"/>
                    </a:lnT>
                    <a:lnB w="12700" cap="flat" cmpd="sng" algn="ctr">
                      <a:solidFill>
                        <a:srgbClr val="B9BEBB"/>
                      </a:solidFill>
                      <a:prstDash val="solid"/>
                      <a:round/>
                      <a:headEnd type="none" w="med" len="med"/>
                      <a:tailEnd type="none" w="med" len="med"/>
                    </a:lnB>
                    <a:solidFill>
                      <a:srgbClr val="E8EEEA"/>
                    </a:solidFill>
                  </a:tcPr>
                </a:tc>
                <a:tc>
                  <a:txBody>
                    <a:bodyPr/>
                    <a:lstStyle/>
                    <a:p>
                      <a:pPr indent="0" marL="0">
                        <a:lnSpc>
                          <a:spcPts val="1960"/>
                        </a:lnSpc>
                        <a:buNone/>
                      </a:pPr>
                      <a:r>
                        <a:rPr lang="en-US" sz="1400" dirty="0">
                          <a:solidFill>
                            <a:srgbClr val="14262B"/>
                          </a:solidFill>
                          <a:latin typeface="Arial" pitchFamily="34" charset="0"/>
                          <a:ea typeface="Arial" pitchFamily="34" charset="-122"/>
                          <a:cs typeface="Arial" pitchFamily="34" charset="-120"/>
                        </a:rPr>
                        <a:t>Printed</a:t>
                      </a:r>
                      <a:endParaRPr lang="en-US" sz="1400" dirty="0">
                        <a:latin typeface="Arial" charset="0"/>
                        <a:ea typeface="Arial" charset="0"/>
                        <a:cs typeface="Arial" charset="0"/>
                      </a:endParaRPr>
                    </a:p>
                  </a:txBody>
                  <a:tcPr marL="62230" marR="62230" marT="62230" marB="62230" anchor="t">
                    <a:lnL w="12700" cap="flat" cmpd="sng" algn="ctr">
                      <a:solidFill>
                        <a:srgbClr val="B9BEBB"/>
                      </a:solidFill>
                      <a:prstDash val="solid"/>
                      <a:round/>
                      <a:headEnd type="none" w="med" len="med"/>
                      <a:tailEnd type="none" w="med" len="med"/>
                    </a:lnL>
                    <a:lnR w="12700" cap="flat" cmpd="sng" algn="ctr">
                      <a:solidFill>
                        <a:srgbClr val="B9BEBB"/>
                      </a:solidFill>
                      <a:prstDash val="solid"/>
                      <a:round/>
                      <a:headEnd type="none" w="med" len="med"/>
                      <a:tailEnd type="none" w="med" len="med"/>
                    </a:lnR>
                    <a:lnT w="12700" cap="flat" cmpd="sng" algn="ctr">
                      <a:solidFill>
                        <a:srgbClr val="C7C8C6"/>
                      </a:solidFill>
                      <a:prstDash val="solid"/>
                      <a:round/>
                      <a:headEnd type="none" w="med" len="med"/>
                      <a:tailEnd type="none" w="med" len="med"/>
                    </a:lnT>
                    <a:lnB w="12700" cap="flat" cmpd="sng" algn="ctr">
                      <a:solidFill>
                        <a:srgbClr val="B9BEBB"/>
                      </a:solidFill>
                      <a:prstDash val="solid"/>
                      <a:round/>
                      <a:headEnd type="none" w="med" len="med"/>
                      <a:tailEnd type="none" w="med" len="med"/>
                    </a:lnB>
                    <a:solidFill>
                      <a:srgbClr val="E8EEEA"/>
                    </a:solidFill>
                  </a:tcPr>
                </a:tc>
              </a:tr>
              <a:tr h="383540">
                <a:tc>
                  <a:txBody>
                    <a:bodyPr/>
                    <a:lstStyle/>
                    <a:p>
                      <a:pPr indent="0" marL="0">
                        <a:lnSpc>
                          <a:spcPts val="1960"/>
                        </a:lnSpc>
                        <a:buNone/>
                      </a:pPr>
                      <a:r>
                        <a:rPr lang="en-US" sz="1400" dirty="0">
                          <a:solidFill>
                            <a:srgbClr val="14262B"/>
                          </a:solidFill>
                          <a:latin typeface="Arial" pitchFamily="34" charset="0"/>
                          <a:ea typeface="Arial" pitchFamily="34" charset="-122"/>
                          <a:cs typeface="Arial" pitchFamily="34" charset="-120"/>
                        </a:rPr>
                        <a:t>Motor housing</a:t>
                      </a:r>
                      <a:endParaRPr lang="en-US" sz="1400" dirty="0">
                        <a:latin typeface="Arial" charset="0"/>
                        <a:ea typeface="Arial" charset="0"/>
                        <a:cs typeface="Arial" charset="0"/>
                      </a:endParaRPr>
                    </a:p>
                  </a:txBody>
                  <a:tcPr marL="62230" marR="62230" marT="62230" marB="62230" anchor="t">
                    <a:lnL w="12700" cap="flat" cmpd="sng" algn="ctr">
                      <a:solidFill>
                        <a:srgbClr val="C2C4C0"/>
                      </a:solidFill>
                      <a:prstDash val="solid"/>
                      <a:round/>
                      <a:headEnd type="none" w="med" len="med"/>
                      <a:tailEnd type="none" w="med" len="med"/>
                    </a:lnL>
                    <a:lnR w="12700" cap="flat" cmpd="sng" algn="ctr">
                      <a:solidFill>
                        <a:srgbClr val="C7C8C6"/>
                      </a:solidFill>
                      <a:prstDash val="solid"/>
                      <a:round/>
                      <a:headEnd type="none" w="med" len="med"/>
                      <a:tailEnd type="none" w="med" len="med"/>
                    </a:lnR>
                    <a:lnT w="12700" cap="flat" cmpd="sng" algn="ctr">
                      <a:solidFill>
                        <a:srgbClr val="B9BEBB"/>
                      </a:solidFill>
                      <a:prstDash val="solid"/>
                      <a:round/>
                      <a:headEnd type="none" w="med" len="med"/>
                      <a:tailEnd type="none" w="med" len="med"/>
                    </a:lnT>
                    <a:lnB w="12700" cap="flat" cmpd="sng" algn="ctr">
                      <a:solidFill>
                        <a:srgbClr val="C7C8C6"/>
                      </a:solidFill>
                      <a:prstDash val="solid"/>
                      <a:round/>
                      <a:headEnd type="none" w="med" len="med"/>
                      <a:tailEnd type="none" w="med" len="med"/>
                    </a:lnB>
                    <a:solidFill>
                      <a:srgbClr val="FAFBF8"/>
                    </a:solidFill>
                  </a:tcPr>
                </a:tc>
                <a:tc>
                  <a:txBody>
                    <a:bodyPr/>
                    <a:lstStyle/>
                    <a:p>
                      <a:pPr indent="0" marL="0">
                        <a:lnSpc>
                          <a:spcPts val="1960"/>
                        </a:lnSpc>
                        <a:buNone/>
                      </a:pPr>
                      <a:r>
                        <a:rPr lang="en-US" sz="1400" dirty="0">
                          <a:solidFill>
                            <a:srgbClr val="14262B"/>
                          </a:solidFill>
                          <a:latin typeface="Arial" pitchFamily="34" charset="0"/>
                          <a:ea typeface="Arial" pitchFamily="34" charset="-122"/>
                          <a:cs typeface="Arial" pitchFamily="34" charset="-120"/>
                        </a:rPr>
                        <a:t>Holds motor and switch</a:t>
                      </a:r>
                      <a:endParaRPr lang="en-US" sz="1400" dirty="0">
                        <a:latin typeface="Arial" charset="0"/>
                        <a:ea typeface="Arial" charset="0"/>
                        <a:cs typeface="Arial" charset="0"/>
                      </a:endParaRPr>
                    </a:p>
                  </a:txBody>
                  <a:tcPr marL="62230" marR="62230" marT="62230" marB="62230" anchor="t">
                    <a:lnL w="12700" cap="flat" cmpd="sng" algn="ctr">
                      <a:solidFill>
                        <a:srgbClr val="C7C8C6"/>
                      </a:solidFill>
                      <a:prstDash val="solid"/>
                      <a:round/>
                      <a:headEnd type="none" w="med" len="med"/>
                      <a:tailEnd type="none" w="med" len="med"/>
                    </a:lnL>
                    <a:lnR w="12700" cap="flat" cmpd="sng" algn="ctr">
                      <a:solidFill>
                        <a:srgbClr val="C7C8C6"/>
                      </a:solidFill>
                      <a:prstDash val="solid"/>
                      <a:round/>
                      <a:headEnd type="none" w="med" len="med"/>
                      <a:tailEnd type="none" w="med" len="med"/>
                    </a:lnR>
                    <a:lnT w="12700" cap="flat" cmpd="sng" algn="ctr">
                      <a:solidFill>
                        <a:srgbClr val="B9BEBB"/>
                      </a:solidFill>
                      <a:prstDash val="solid"/>
                      <a:round/>
                      <a:headEnd type="none" w="med" len="med"/>
                      <a:tailEnd type="none" w="med" len="med"/>
                    </a:lnT>
                    <a:lnB w="12700" cap="flat" cmpd="sng" algn="ctr">
                      <a:solidFill>
                        <a:srgbClr val="C7C8C6"/>
                      </a:solidFill>
                      <a:prstDash val="solid"/>
                      <a:round/>
                      <a:headEnd type="none" w="med" len="med"/>
                      <a:tailEnd type="none" w="med" len="med"/>
                    </a:lnB>
                    <a:solidFill>
                      <a:srgbClr val="FAFBF8"/>
                    </a:solidFill>
                  </a:tcPr>
                </a:tc>
                <a:tc>
                  <a:txBody>
                    <a:bodyPr/>
                    <a:lstStyle/>
                    <a:p>
                      <a:pPr indent="0" marL="0">
                        <a:lnSpc>
                          <a:spcPts val="1960"/>
                        </a:lnSpc>
                        <a:buNone/>
                      </a:pPr>
                      <a:r>
                        <a:rPr lang="en-US" sz="1400" dirty="0">
                          <a:solidFill>
                            <a:srgbClr val="14262B"/>
                          </a:solidFill>
                          <a:latin typeface="Arial" pitchFamily="34" charset="0"/>
                          <a:ea typeface="Arial" pitchFamily="34" charset="-122"/>
                          <a:cs typeface="Arial" pitchFamily="34" charset="-120"/>
                        </a:rPr>
                        <a:t>Printed</a:t>
                      </a:r>
                      <a:endParaRPr lang="en-US" sz="1400" dirty="0">
                        <a:latin typeface="Arial" charset="0"/>
                        <a:ea typeface="Arial" charset="0"/>
                        <a:cs typeface="Arial" charset="0"/>
                      </a:endParaRPr>
                    </a:p>
                  </a:txBody>
                  <a:tcPr marL="62230" marR="62230" marT="62230" marB="62230" anchor="t">
                    <a:lnL w="12700" cap="flat" cmpd="sng" algn="ctr">
                      <a:solidFill>
                        <a:srgbClr val="C7C8C6"/>
                      </a:solidFill>
                      <a:prstDash val="solid"/>
                      <a:round/>
                      <a:headEnd type="none" w="med" len="med"/>
                      <a:tailEnd type="none" w="med" len="med"/>
                    </a:lnL>
                    <a:lnR w="12700" cap="flat" cmpd="sng" algn="ctr">
                      <a:solidFill>
                        <a:srgbClr val="C7C8C6"/>
                      </a:solidFill>
                      <a:prstDash val="solid"/>
                      <a:round/>
                      <a:headEnd type="none" w="med" len="med"/>
                      <a:tailEnd type="none" w="med" len="med"/>
                    </a:lnR>
                    <a:lnT w="12700" cap="flat" cmpd="sng" algn="ctr">
                      <a:solidFill>
                        <a:srgbClr val="B9BEBB"/>
                      </a:solidFill>
                      <a:prstDash val="solid"/>
                      <a:round/>
                      <a:headEnd type="none" w="med" len="med"/>
                      <a:tailEnd type="none" w="med" len="med"/>
                    </a:lnT>
                    <a:lnB w="12700" cap="flat" cmpd="sng" algn="ctr">
                      <a:solidFill>
                        <a:srgbClr val="C7C8C6"/>
                      </a:solidFill>
                      <a:prstDash val="solid"/>
                      <a:round/>
                      <a:headEnd type="none" w="med" len="med"/>
                      <a:tailEnd type="none" w="med" len="med"/>
                    </a:lnB>
                    <a:solidFill>
                      <a:srgbClr val="FAFBF8"/>
                    </a:solidFill>
                  </a:tcPr>
                </a:tc>
              </a:tr>
              <a:tr h="383540">
                <a:tc>
                  <a:txBody>
                    <a:bodyPr/>
                    <a:lstStyle/>
                    <a:p>
                      <a:pPr indent="0" marL="0">
                        <a:lnSpc>
                          <a:spcPts val="1960"/>
                        </a:lnSpc>
                        <a:buNone/>
                      </a:pPr>
                      <a:r>
                        <a:rPr lang="en-US" sz="1400" dirty="0">
                          <a:solidFill>
                            <a:srgbClr val="14262B"/>
                          </a:solidFill>
                          <a:latin typeface="Arial" pitchFamily="34" charset="0"/>
                          <a:ea typeface="Arial" pitchFamily="34" charset="-122"/>
                          <a:cs typeface="Arial" pitchFamily="34" charset="-120"/>
                        </a:rPr>
                        <a:t>Handle</a:t>
                      </a:r>
                      <a:endParaRPr lang="en-US" sz="1400" dirty="0">
                        <a:latin typeface="Arial" charset="0"/>
                        <a:ea typeface="Arial" charset="0"/>
                        <a:cs typeface="Arial" charset="0"/>
                      </a:endParaRPr>
                    </a:p>
                  </a:txBody>
                  <a:tcPr marL="62230" marR="62230" marT="62230" marB="62230" anchor="t">
                    <a:lnL w="12700" cap="flat" cmpd="sng" algn="ctr">
                      <a:solidFill>
                        <a:srgbClr val="C2C4C0"/>
                      </a:solidFill>
                      <a:prstDash val="solid"/>
                      <a:round/>
                      <a:headEnd type="none" w="med" len="med"/>
                      <a:tailEnd type="none" w="med" len="med"/>
                    </a:lnL>
                    <a:lnR w="12700" cap="flat" cmpd="sng" algn="ctr">
                      <a:solidFill>
                        <a:srgbClr val="B9BEBB"/>
                      </a:solidFill>
                      <a:prstDash val="solid"/>
                      <a:round/>
                      <a:headEnd type="none" w="med" len="med"/>
                      <a:tailEnd type="none" w="med" len="med"/>
                    </a:lnR>
                    <a:lnT w="12700" cap="flat" cmpd="sng" algn="ctr">
                      <a:solidFill>
                        <a:srgbClr val="C7C8C6"/>
                      </a:solidFill>
                      <a:prstDash val="solid"/>
                      <a:round/>
                      <a:headEnd type="none" w="med" len="med"/>
                      <a:tailEnd type="none" w="med" len="med"/>
                    </a:lnT>
                    <a:lnB w="12700" cap="flat" cmpd="sng" algn="ctr">
                      <a:solidFill>
                        <a:srgbClr val="B9BEBB"/>
                      </a:solidFill>
                      <a:prstDash val="solid"/>
                      <a:round/>
                      <a:headEnd type="none" w="med" len="med"/>
                      <a:tailEnd type="none" w="med" len="med"/>
                    </a:lnB>
                    <a:solidFill>
                      <a:srgbClr val="E8EEEA"/>
                    </a:solidFill>
                  </a:tcPr>
                </a:tc>
                <a:tc>
                  <a:txBody>
                    <a:bodyPr/>
                    <a:lstStyle/>
                    <a:p>
                      <a:pPr indent="0" marL="0">
                        <a:lnSpc>
                          <a:spcPts val="1960"/>
                        </a:lnSpc>
                        <a:buNone/>
                      </a:pPr>
                      <a:r>
                        <a:rPr lang="en-US" sz="1400" dirty="0">
                          <a:solidFill>
                            <a:srgbClr val="14262B"/>
                          </a:solidFill>
                          <a:latin typeface="Arial" pitchFamily="34" charset="0"/>
                          <a:ea typeface="Arial" pitchFamily="34" charset="-122"/>
                          <a:cs typeface="Arial" pitchFamily="34" charset="-120"/>
                        </a:rPr>
                        <a:t>Grip and battery bay</a:t>
                      </a:r>
                      <a:endParaRPr lang="en-US" sz="1400" dirty="0">
                        <a:latin typeface="Arial" charset="0"/>
                        <a:ea typeface="Arial" charset="0"/>
                        <a:cs typeface="Arial" charset="0"/>
                      </a:endParaRPr>
                    </a:p>
                  </a:txBody>
                  <a:tcPr marL="62230" marR="62230" marT="62230" marB="62230" anchor="t">
                    <a:lnL w="12700" cap="flat" cmpd="sng" algn="ctr">
                      <a:solidFill>
                        <a:srgbClr val="B9BEBB"/>
                      </a:solidFill>
                      <a:prstDash val="solid"/>
                      <a:round/>
                      <a:headEnd type="none" w="med" len="med"/>
                      <a:tailEnd type="none" w="med" len="med"/>
                    </a:lnL>
                    <a:lnR w="12700" cap="flat" cmpd="sng" algn="ctr">
                      <a:solidFill>
                        <a:srgbClr val="B9BEBB"/>
                      </a:solidFill>
                      <a:prstDash val="solid"/>
                      <a:round/>
                      <a:headEnd type="none" w="med" len="med"/>
                      <a:tailEnd type="none" w="med" len="med"/>
                    </a:lnR>
                    <a:lnT w="12700" cap="flat" cmpd="sng" algn="ctr">
                      <a:solidFill>
                        <a:srgbClr val="C7C8C6"/>
                      </a:solidFill>
                      <a:prstDash val="solid"/>
                      <a:round/>
                      <a:headEnd type="none" w="med" len="med"/>
                      <a:tailEnd type="none" w="med" len="med"/>
                    </a:lnT>
                    <a:lnB w="12700" cap="flat" cmpd="sng" algn="ctr">
                      <a:solidFill>
                        <a:srgbClr val="B9BEBB"/>
                      </a:solidFill>
                      <a:prstDash val="solid"/>
                      <a:round/>
                      <a:headEnd type="none" w="med" len="med"/>
                      <a:tailEnd type="none" w="med" len="med"/>
                    </a:lnB>
                    <a:solidFill>
                      <a:srgbClr val="E8EEEA"/>
                    </a:solidFill>
                  </a:tcPr>
                </a:tc>
                <a:tc>
                  <a:txBody>
                    <a:bodyPr/>
                    <a:lstStyle/>
                    <a:p>
                      <a:pPr indent="0" marL="0">
                        <a:lnSpc>
                          <a:spcPts val="1960"/>
                        </a:lnSpc>
                        <a:buNone/>
                      </a:pPr>
                      <a:r>
                        <a:rPr lang="en-US" sz="1400" dirty="0">
                          <a:solidFill>
                            <a:srgbClr val="14262B"/>
                          </a:solidFill>
                          <a:latin typeface="Arial" pitchFamily="34" charset="0"/>
                          <a:ea typeface="Arial" pitchFamily="34" charset="-122"/>
                          <a:cs typeface="Arial" pitchFamily="34" charset="-120"/>
                        </a:rPr>
                        <a:t>Printed</a:t>
                      </a:r>
                      <a:endParaRPr lang="en-US" sz="1400" dirty="0">
                        <a:latin typeface="Arial" charset="0"/>
                        <a:ea typeface="Arial" charset="0"/>
                        <a:cs typeface="Arial" charset="0"/>
                      </a:endParaRPr>
                    </a:p>
                  </a:txBody>
                  <a:tcPr marL="62230" marR="62230" marT="62230" marB="62230" anchor="t">
                    <a:lnL w="12700" cap="flat" cmpd="sng" algn="ctr">
                      <a:solidFill>
                        <a:srgbClr val="B9BEBB"/>
                      </a:solidFill>
                      <a:prstDash val="solid"/>
                      <a:round/>
                      <a:headEnd type="none" w="med" len="med"/>
                      <a:tailEnd type="none" w="med" len="med"/>
                    </a:lnL>
                    <a:lnR w="12700" cap="flat" cmpd="sng" algn="ctr">
                      <a:solidFill>
                        <a:srgbClr val="B9BEBB"/>
                      </a:solidFill>
                      <a:prstDash val="solid"/>
                      <a:round/>
                      <a:headEnd type="none" w="med" len="med"/>
                      <a:tailEnd type="none" w="med" len="med"/>
                    </a:lnR>
                    <a:lnT w="12700" cap="flat" cmpd="sng" algn="ctr">
                      <a:solidFill>
                        <a:srgbClr val="C7C8C6"/>
                      </a:solidFill>
                      <a:prstDash val="solid"/>
                      <a:round/>
                      <a:headEnd type="none" w="med" len="med"/>
                      <a:tailEnd type="none" w="med" len="med"/>
                    </a:lnT>
                    <a:lnB w="12700" cap="flat" cmpd="sng" algn="ctr">
                      <a:solidFill>
                        <a:srgbClr val="B9BEBB"/>
                      </a:solidFill>
                      <a:prstDash val="solid"/>
                      <a:round/>
                      <a:headEnd type="none" w="med" len="med"/>
                      <a:tailEnd type="none" w="med" len="med"/>
                    </a:lnB>
                    <a:solidFill>
                      <a:srgbClr val="E8EEEA"/>
                    </a:solidFill>
                  </a:tcPr>
                </a:tc>
              </a:tr>
              <a:tr h="383540">
                <a:tc>
                  <a:txBody>
                    <a:bodyPr/>
                    <a:lstStyle/>
                    <a:p>
                      <a:pPr indent="0" marL="0">
                        <a:lnSpc>
                          <a:spcPts val="1960"/>
                        </a:lnSpc>
                        <a:buNone/>
                      </a:pPr>
                      <a:r>
                        <a:rPr lang="en-US" sz="1400" dirty="0">
                          <a:solidFill>
                            <a:srgbClr val="14262B"/>
                          </a:solidFill>
                          <a:latin typeface="Arial" pitchFamily="34" charset="0"/>
                          <a:ea typeface="Arial" pitchFamily="34" charset="-122"/>
                          <a:cs typeface="Arial" pitchFamily="34" charset="-120"/>
                        </a:rPr>
                        <a:t>Motor, cell, switch</a:t>
                      </a:r>
                      <a:endParaRPr lang="en-US" sz="1400" dirty="0">
                        <a:latin typeface="Arial" charset="0"/>
                        <a:ea typeface="Arial" charset="0"/>
                        <a:cs typeface="Arial" charset="0"/>
                      </a:endParaRPr>
                    </a:p>
                  </a:txBody>
                  <a:tcPr marL="62230" marR="62230" marT="62230" marB="62230" anchor="t">
                    <a:lnL w="12700" cap="flat" cmpd="sng" algn="ctr">
                      <a:solidFill>
                        <a:srgbClr val="C2C4C0"/>
                      </a:solidFill>
                      <a:prstDash val="solid"/>
                      <a:round/>
                      <a:headEnd type="none" w="med" len="med"/>
                      <a:tailEnd type="none" w="med" len="med"/>
                    </a:lnL>
                    <a:lnR w="12700" cap="flat" cmpd="sng" algn="ctr">
                      <a:solidFill>
                        <a:srgbClr val="C7C8C6"/>
                      </a:solidFill>
                      <a:prstDash val="solid"/>
                      <a:round/>
                      <a:headEnd type="none" w="med" len="med"/>
                      <a:tailEnd type="none" w="med" len="med"/>
                    </a:lnR>
                    <a:lnT w="12700" cap="flat" cmpd="sng" algn="ctr">
                      <a:solidFill>
                        <a:srgbClr val="B9BEBB"/>
                      </a:solidFill>
                      <a:prstDash val="solid"/>
                      <a:round/>
                      <a:headEnd type="none" w="med" len="med"/>
                      <a:tailEnd type="none" w="med" len="med"/>
                    </a:lnT>
                    <a:lnB w="12700" cap="flat" cmpd="sng" algn="ctr">
                      <a:solidFill>
                        <a:srgbClr val="C7C8C6"/>
                      </a:solidFill>
                      <a:prstDash val="solid"/>
                      <a:round/>
                      <a:headEnd type="none" w="med" len="med"/>
                      <a:tailEnd type="none" w="med" len="med"/>
                    </a:lnB>
                    <a:solidFill>
                      <a:srgbClr val="FAFBF8"/>
                    </a:solidFill>
                  </a:tcPr>
                </a:tc>
                <a:tc>
                  <a:txBody>
                    <a:bodyPr/>
                    <a:lstStyle/>
                    <a:p>
                      <a:pPr indent="0" marL="0">
                        <a:lnSpc>
                          <a:spcPts val="1960"/>
                        </a:lnSpc>
                        <a:buNone/>
                      </a:pPr>
                      <a:r>
                        <a:rPr lang="en-US" sz="1400" dirty="0">
                          <a:solidFill>
                            <a:srgbClr val="14262B"/>
                          </a:solidFill>
                          <a:latin typeface="Arial" pitchFamily="34" charset="0"/>
                          <a:ea typeface="Arial" pitchFamily="34" charset="-122"/>
                          <a:cs typeface="Arial" pitchFamily="34" charset="-120"/>
                        </a:rPr>
                        <a:t>Drive and power</a:t>
                      </a:r>
                      <a:endParaRPr lang="en-US" sz="1400" dirty="0">
                        <a:latin typeface="Arial" charset="0"/>
                        <a:ea typeface="Arial" charset="0"/>
                        <a:cs typeface="Arial" charset="0"/>
                      </a:endParaRPr>
                    </a:p>
                  </a:txBody>
                  <a:tcPr marL="62230" marR="62230" marT="62230" marB="62230" anchor="t">
                    <a:lnL w="12700" cap="flat" cmpd="sng" algn="ctr">
                      <a:solidFill>
                        <a:srgbClr val="C7C8C6"/>
                      </a:solidFill>
                      <a:prstDash val="solid"/>
                      <a:round/>
                      <a:headEnd type="none" w="med" len="med"/>
                      <a:tailEnd type="none" w="med" len="med"/>
                    </a:lnL>
                    <a:lnR w="12700" cap="flat" cmpd="sng" algn="ctr">
                      <a:solidFill>
                        <a:srgbClr val="C7C8C6"/>
                      </a:solidFill>
                      <a:prstDash val="solid"/>
                      <a:round/>
                      <a:headEnd type="none" w="med" len="med"/>
                      <a:tailEnd type="none" w="med" len="med"/>
                    </a:lnR>
                    <a:lnT w="12700" cap="flat" cmpd="sng" algn="ctr">
                      <a:solidFill>
                        <a:srgbClr val="B9BEBB"/>
                      </a:solidFill>
                      <a:prstDash val="solid"/>
                      <a:round/>
                      <a:headEnd type="none" w="med" len="med"/>
                      <a:tailEnd type="none" w="med" len="med"/>
                    </a:lnT>
                    <a:lnB w="12700" cap="flat" cmpd="sng" algn="ctr">
                      <a:solidFill>
                        <a:srgbClr val="C7C8C6"/>
                      </a:solidFill>
                      <a:prstDash val="solid"/>
                      <a:round/>
                      <a:headEnd type="none" w="med" len="med"/>
                      <a:tailEnd type="none" w="med" len="med"/>
                    </a:lnB>
                    <a:solidFill>
                      <a:srgbClr val="FAFBF8"/>
                    </a:solidFill>
                  </a:tcPr>
                </a:tc>
                <a:tc>
                  <a:txBody>
                    <a:bodyPr/>
                    <a:lstStyle/>
                    <a:p>
                      <a:pPr indent="0" marL="0">
                        <a:lnSpc>
                          <a:spcPts val="1960"/>
                        </a:lnSpc>
                        <a:buNone/>
                      </a:pPr>
                      <a:r>
                        <a:rPr lang="en-US" sz="1400" dirty="0">
                          <a:solidFill>
                            <a:srgbClr val="14262B"/>
                          </a:solidFill>
                          <a:latin typeface="Arial" pitchFamily="34" charset="0"/>
                          <a:ea typeface="Arial" pitchFamily="34" charset="-122"/>
                          <a:cs typeface="Arial" pitchFamily="34" charset="-120"/>
                        </a:rPr>
                        <a:t>Bought</a:t>
                      </a:r>
                      <a:endParaRPr lang="en-US" sz="1400" dirty="0">
                        <a:latin typeface="Arial" charset="0"/>
                        <a:ea typeface="Arial" charset="0"/>
                        <a:cs typeface="Arial" charset="0"/>
                      </a:endParaRPr>
                    </a:p>
                  </a:txBody>
                  <a:tcPr marL="62230" marR="62230" marT="62230" marB="62230" anchor="t">
                    <a:lnL w="12700" cap="flat" cmpd="sng" algn="ctr">
                      <a:solidFill>
                        <a:srgbClr val="C7C8C6"/>
                      </a:solidFill>
                      <a:prstDash val="solid"/>
                      <a:round/>
                      <a:headEnd type="none" w="med" len="med"/>
                      <a:tailEnd type="none" w="med" len="med"/>
                    </a:lnL>
                    <a:lnR w="12700" cap="flat" cmpd="sng" algn="ctr">
                      <a:solidFill>
                        <a:srgbClr val="C7C8C6"/>
                      </a:solidFill>
                      <a:prstDash val="solid"/>
                      <a:round/>
                      <a:headEnd type="none" w="med" len="med"/>
                      <a:tailEnd type="none" w="med" len="med"/>
                    </a:lnR>
                    <a:lnT w="12700" cap="flat" cmpd="sng" algn="ctr">
                      <a:solidFill>
                        <a:srgbClr val="B9BEBB"/>
                      </a:solidFill>
                      <a:prstDash val="solid"/>
                      <a:round/>
                      <a:headEnd type="none" w="med" len="med"/>
                      <a:tailEnd type="none" w="med" len="med"/>
                    </a:lnT>
                    <a:lnB w="12700" cap="flat" cmpd="sng" algn="ctr">
                      <a:solidFill>
                        <a:srgbClr val="C7C8C6"/>
                      </a:solidFill>
                      <a:prstDash val="solid"/>
                      <a:round/>
                      <a:headEnd type="none" w="med" len="med"/>
                      <a:tailEnd type="none" w="med" len="med"/>
                    </a:lnB>
                    <a:solidFill>
                      <a:srgbClr val="FAFBF8"/>
                    </a:solidFill>
                  </a:tcPr>
                </a:tc>
              </a:tr>
            </a:tbl>
          </a:graphicData>
        </a:graphic>
      </p:graphicFrame>
      <p:sp>
        <p:nvSpPr>
          <p:cNvPr id="6" name="Text 2"/>
          <p:cNvSpPr/>
          <p:nvPr/>
        </p:nvSpPr>
        <p:spPr>
          <a:xfrm>
            <a:off x="812800" y="6238239"/>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B5F63"/>
                </a:solidFill>
                <a:latin typeface="Arial" pitchFamily="34" charset="0"/>
                <a:ea typeface="Arial" pitchFamily="34" charset="-122"/>
                <a:cs typeface="Arial" pitchFamily="34" charset="-120"/>
              </a:rPr>
              <a:t>Handheld 3D Printed Fan · Manufacturing Technology</a:t>
            </a:r>
            <a:endParaRPr lang="en-US" sz="1200" dirty="0"/>
          </a:p>
        </p:txBody>
      </p:sp>
      <p:sp>
        <p:nvSpPr>
          <p:cNvPr id="7" name="Text 3"/>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B5F63"/>
                </a:solidFill>
                <a:latin typeface="Arial" pitchFamily="34" charset="0"/>
                <a:ea typeface="Arial" pitchFamily="34" charset="-122"/>
                <a:cs typeface="Arial"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B7A75"/>
                </a:solidFill>
                <a:latin typeface="Arial" pitchFamily="34" charset="0"/>
                <a:ea typeface="Arial" pitchFamily="34" charset="-122"/>
                <a:cs typeface="Arial" pitchFamily="34" charset="-120"/>
              </a:rPr>
              <a:t>04 · MATERIAL SELECTION</a:t>
            </a:r>
            <a:endParaRPr lang="en-US" sz="1200" dirty="0"/>
          </a:p>
        </p:txBody>
      </p:sp>
      <p:sp>
        <p:nvSpPr>
          <p:cNvPr id="3" name="Text 1"/>
          <p:cNvSpPr/>
          <p:nvPr>
            <p:ph type="title"/>
          </p:nvPr>
        </p:nvSpPr>
        <p:spPr>
          <a:xfrm>
            <a:off x="812800" y="11023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62B"/>
                </a:solidFill>
                <a:latin typeface="Arial" pitchFamily="34" charset="0"/>
                <a:ea typeface="Arial" pitchFamily="34" charset="-122"/>
                <a:cs typeface="Arial" pitchFamily="34" charset="-120"/>
              </a:rPr>
              <a:t>Choosing the filament</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813560"/>
          <a:ext cx="10556240" cy="2301240"/>
        </p:xfrm>
        <a:graphic>
          <a:graphicData uri="http://schemas.openxmlformats.org/drawingml/2006/table">
            <a:tbl>
              <a:tblPr/>
              <a:tblGrid>
                <a:gridCol w="2639060"/>
                <a:gridCol w="2639060"/>
                <a:gridCol w="2639060"/>
                <a:gridCol w="2639060"/>
              </a:tblGrid>
              <a:tr h="383540">
                <a:tc>
                  <a:txBody>
                    <a:bodyPr/>
                    <a:lstStyle/>
                    <a:p>
                      <a:pPr indent="0" marL="0">
                        <a:lnSpc>
                          <a:spcPts val="1960"/>
                        </a:lnSpc>
                        <a:buNone/>
                      </a:pPr>
                      <a:r>
                        <a:rPr lang="en-US" sz="1400" b="1" dirty="0">
                          <a:solidFill>
                            <a:srgbClr val="EAF2EF"/>
                          </a:solidFill>
                          <a:latin typeface="Arial" pitchFamily="34" charset="0"/>
                          <a:ea typeface="Arial" pitchFamily="34" charset="-122"/>
                          <a:cs typeface="Arial" pitchFamily="34" charset="-120"/>
                        </a:rPr>
                        <a:t>Property</a:t>
                      </a:r>
                      <a:endParaRPr lang="en-US" sz="1400" dirty="0">
                        <a:latin typeface="Arial" charset="0"/>
                        <a:ea typeface="Arial" charset="0"/>
                        <a:cs typeface="Arial" charset="0"/>
                      </a:endParaRPr>
                    </a:p>
                  </a:txBody>
                  <a:tcPr marL="62230" marR="62230" marT="62230" marB="62230" anchor="t">
                    <a:lnL w="12700" cap="flat" cmpd="sng" algn="ctr">
                      <a:solidFill>
                        <a:srgbClr val="C2C4C0"/>
                      </a:solidFill>
                      <a:prstDash val="solid"/>
                      <a:round/>
                      <a:headEnd type="none" w="med" len="med"/>
                      <a:tailEnd type="none" w="med" len="med"/>
                    </a:lnL>
                    <a:lnR w="12700" cap="flat" cmpd="sng" algn="ctr">
                      <a:solidFill>
                        <a:srgbClr val="142226"/>
                      </a:solidFill>
                      <a:prstDash val="solid"/>
                      <a:round/>
                      <a:headEnd type="none" w="med" len="med"/>
                      <a:tailEnd type="none" w="med" len="med"/>
                    </a:lnR>
                    <a:lnT w="12700" cap="flat" cmpd="sng" algn="ctr">
                      <a:solidFill>
                        <a:srgbClr val="C2C4C0"/>
                      </a:solidFill>
                      <a:prstDash val="solid"/>
                      <a:round/>
                      <a:headEnd type="none" w="med" len="med"/>
                      <a:tailEnd type="none" w="med" len="med"/>
                    </a:lnT>
                    <a:lnB w="12700" cap="flat" cmpd="sng" algn="ctr">
                      <a:solidFill>
                        <a:srgbClr val="142226"/>
                      </a:solidFill>
                      <a:prstDash val="solid"/>
                      <a:round/>
                      <a:headEnd type="none" w="med" len="med"/>
                      <a:tailEnd type="none" w="med" len="med"/>
                    </a:lnB>
                    <a:solidFill>
                      <a:srgbClr val="14262B"/>
                    </a:solidFill>
                  </a:tcPr>
                </a:tc>
                <a:tc>
                  <a:txBody>
                    <a:bodyPr/>
                    <a:lstStyle/>
                    <a:p>
                      <a:pPr indent="0" marL="0">
                        <a:lnSpc>
                          <a:spcPts val="1960"/>
                        </a:lnSpc>
                        <a:buNone/>
                      </a:pPr>
                      <a:r>
                        <a:rPr lang="en-US" sz="1400" b="1" dirty="0">
                          <a:solidFill>
                            <a:srgbClr val="EAF2EF"/>
                          </a:solidFill>
                          <a:latin typeface="Arial" pitchFamily="34" charset="0"/>
                          <a:ea typeface="Arial" pitchFamily="34" charset="-122"/>
                          <a:cs typeface="Arial" pitchFamily="34" charset="-120"/>
                        </a:rPr>
                        <a:t>PLA</a:t>
                      </a:r>
                      <a:endParaRPr lang="en-US" sz="1400" dirty="0">
                        <a:latin typeface="Arial" charset="0"/>
                        <a:ea typeface="Arial" charset="0"/>
                        <a:cs typeface="Arial" charset="0"/>
                      </a:endParaRPr>
                    </a:p>
                  </a:txBody>
                  <a:tcPr marL="62230" marR="62230" marT="62230" marB="62230" anchor="t">
                    <a:lnL w="12700" cap="flat" cmpd="sng" algn="ctr">
                      <a:solidFill>
                        <a:srgbClr val="142226"/>
                      </a:solidFill>
                      <a:prstDash val="solid"/>
                      <a:round/>
                      <a:headEnd type="none" w="med" len="med"/>
                      <a:tailEnd type="none" w="med" len="med"/>
                    </a:lnL>
                    <a:lnR w="12700" cap="flat" cmpd="sng" algn="ctr">
                      <a:solidFill>
                        <a:srgbClr val="142226"/>
                      </a:solidFill>
                      <a:prstDash val="solid"/>
                      <a:round/>
                      <a:headEnd type="none" w="med" len="med"/>
                      <a:tailEnd type="none" w="med" len="med"/>
                    </a:lnR>
                    <a:lnT w="12700" cap="flat" cmpd="sng" algn="ctr">
                      <a:solidFill>
                        <a:srgbClr val="C2C4C0"/>
                      </a:solidFill>
                      <a:prstDash val="solid"/>
                      <a:round/>
                      <a:headEnd type="none" w="med" len="med"/>
                      <a:tailEnd type="none" w="med" len="med"/>
                    </a:lnT>
                    <a:lnB w="12700" cap="flat" cmpd="sng" algn="ctr">
                      <a:solidFill>
                        <a:srgbClr val="142226"/>
                      </a:solidFill>
                      <a:prstDash val="solid"/>
                      <a:round/>
                      <a:headEnd type="none" w="med" len="med"/>
                      <a:tailEnd type="none" w="med" len="med"/>
                    </a:lnB>
                    <a:solidFill>
                      <a:srgbClr val="14262B"/>
                    </a:solidFill>
                  </a:tcPr>
                </a:tc>
                <a:tc>
                  <a:txBody>
                    <a:bodyPr/>
                    <a:lstStyle/>
                    <a:p>
                      <a:pPr indent="0" marL="0">
                        <a:lnSpc>
                          <a:spcPts val="1960"/>
                        </a:lnSpc>
                        <a:buNone/>
                      </a:pPr>
                      <a:r>
                        <a:rPr lang="en-US" sz="1400" b="1" dirty="0">
                          <a:solidFill>
                            <a:srgbClr val="EAF2EF"/>
                          </a:solidFill>
                          <a:latin typeface="Arial" pitchFamily="34" charset="0"/>
                          <a:ea typeface="Arial" pitchFamily="34" charset="-122"/>
                          <a:cs typeface="Arial" pitchFamily="34" charset="-120"/>
                        </a:rPr>
                        <a:t>PETG</a:t>
                      </a:r>
                      <a:endParaRPr lang="en-US" sz="1400" dirty="0">
                        <a:latin typeface="Arial" charset="0"/>
                        <a:ea typeface="Arial" charset="0"/>
                        <a:cs typeface="Arial" charset="0"/>
                      </a:endParaRPr>
                    </a:p>
                  </a:txBody>
                  <a:tcPr marL="62230" marR="62230" marT="62230" marB="62230" anchor="t">
                    <a:lnL w="12700" cap="flat" cmpd="sng" algn="ctr">
                      <a:solidFill>
                        <a:srgbClr val="142226"/>
                      </a:solidFill>
                      <a:prstDash val="solid"/>
                      <a:round/>
                      <a:headEnd type="none" w="med" len="med"/>
                      <a:tailEnd type="none" w="med" len="med"/>
                    </a:lnL>
                    <a:lnR w="12700" cap="flat" cmpd="sng" algn="ctr">
                      <a:solidFill>
                        <a:srgbClr val="142226"/>
                      </a:solidFill>
                      <a:prstDash val="solid"/>
                      <a:round/>
                      <a:headEnd type="none" w="med" len="med"/>
                      <a:tailEnd type="none" w="med" len="med"/>
                    </a:lnR>
                    <a:lnT w="12700" cap="flat" cmpd="sng" algn="ctr">
                      <a:solidFill>
                        <a:srgbClr val="C2C4C0"/>
                      </a:solidFill>
                      <a:prstDash val="solid"/>
                      <a:round/>
                      <a:headEnd type="none" w="med" len="med"/>
                      <a:tailEnd type="none" w="med" len="med"/>
                    </a:lnT>
                    <a:lnB w="12700" cap="flat" cmpd="sng" algn="ctr">
                      <a:solidFill>
                        <a:srgbClr val="142226"/>
                      </a:solidFill>
                      <a:prstDash val="solid"/>
                      <a:round/>
                      <a:headEnd type="none" w="med" len="med"/>
                      <a:tailEnd type="none" w="med" len="med"/>
                    </a:lnB>
                    <a:solidFill>
                      <a:srgbClr val="14262B"/>
                    </a:solidFill>
                  </a:tcPr>
                </a:tc>
                <a:tc>
                  <a:txBody>
                    <a:bodyPr/>
                    <a:lstStyle/>
                    <a:p>
                      <a:pPr indent="0" marL="0">
                        <a:lnSpc>
                          <a:spcPts val="1960"/>
                        </a:lnSpc>
                        <a:buNone/>
                      </a:pPr>
                      <a:r>
                        <a:rPr lang="en-US" sz="1400" b="1" dirty="0">
                          <a:solidFill>
                            <a:srgbClr val="EAF2EF"/>
                          </a:solidFill>
                          <a:latin typeface="Arial" pitchFamily="34" charset="0"/>
                          <a:ea typeface="Arial" pitchFamily="34" charset="-122"/>
                          <a:cs typeface="Arial" pitchFamily="34" charset="-120"/>
                        </a:rPr>
                        <a:t>ABS</a:t>
                      </a:r>
                      <a:endParaRPr lang="en-US" sz="1400" dirty="0">
                        <a:latin typeface="Arial" charset="0"/>
                        <a:ea typeface="Arial" charset="0"/>
                        <a:cs typeface="Arial" charset="0"/>
                      </a:endParaRPr>
                    </a:p>
                  </a:txBody>
                  <a:tcPr marL="62230" marR="62230" marT="62230" marB="62230" anchor="t">
                    <a:lnL w="12700" cap="flat" cmpd="sng" algn="ctr">
                      <a:solidFill>
                        <a:srgbClr val="142226"/>
                      </a:solidFill>
                      <a:prstDash val="solid"/>
                      <a:round/>
                      <a:headEnd type="none" w="med" len="med"/>
                      <a:tailEnd type="none" w="med" len="med"/>
                    </a:lnL>
                    <a:lnR w="12700" cap="flat" cmpd="sng" algn="ctr">
                      <a:solidFill>
                        <a:srgbClr val="142226"/>
                      </a:solidFill>
                      <a:prstDash val="solid"/>
                      <a:round/>
                      <a:headEnd type="none" w="med" len="med"/>
                      <a:tailEnd type="none" w="med" len="med"/>
                    </a:lnR>
                    <a:lnT w="12700" cap="flat" cmpd="sng" algn="ctr">
                      <a:solidFill>
                        <a:srgbClr val="C2C4C0"/>
                      </a:solidFill>
                      <a:prstDash val="solid"/>
                      <a:round/>
                      <a:headEnd type="none" w="med" len="med"/>
                      <a:tailEnd type="none" w="med" len="med"/>
                    </a:lnT>
                    <a:lnB w="12700" cap="flat" cmpd="sng" algn="ctr">
                      <a:solidFill>
                        <a:srgbClr val="142226"/>
                      </a:solidFill>
                      <a:prstDash val="solid"/>
                      <a:round/>
                      <a:headEnd type="none" w="med" len="med"/>
                      <a:tailEnd type="none" w="med" len="med"/>
                    </a:lnB>
                    <a:solidFill>
                      <a:srgbClr val="14262B"/>
                    </a:solidFill>
                  </a:tcPr>
                </a:tc>
              </a:tr>
              <a:tr h="383540">
                <a:tc>
                  <a:txBody>
                    <a:bodyPr/>
                    <a:lstStyle/>
                    <a:p>
                      <a:pPr indent="0" marL="0">
                        <a:lnSpc>
                          <a:spcPts val="1960"/>
                        </a:lnSpc>
                        <a:buNone/>
                      </a:pPr>
                      <a:r>
                        <a:rPr lang="en-US" sz="1400" dirty="0">
                          <a:solidFill>
                            <a:srgbClr val="14262B"/>
                          </a:solidFill>
                          <a:latin typeface="Arial" pitchFamily="34" charset="0"/>
                          <a:ea typeface="Arial" pitchFamily="34" charset="-122"/>
                          <a:cs typeface="Arial" pitchFamily="34" charset="-120"/>
                        </a:rPr>
                        <a:t>Ease of printing</a:t>
                      </a:r>
                      <a:endParaRPr lang="en-US" sz="1400" dirty="0">
                        <a:latin typeface="Arial" charset="0"/>
                        <a:ea typeface="Arial" charset="0"/>
                        <a:cs typeface="Arial" charset="0"/>
                      </a:endParaRPr>
                    </a:p>
                  </a:txBody>
                  <a:tcPr marL="62230" marR="62230" marT="62230" marB="62230" anchor="t">
                    <a:lnL w="12700" cap="flat" cmpd="sng" algn="ctr">
                      <a:solidFill>
                        <a:srgbClr val="C2C4C0"/>
                      </a:solidFill>
                      <a:prstDash val="solid"/>
                      <a:round/>
                      <a:headEnd type="none" w="med" len="med"/>
                      <a:tailEnd type="none" w="med" len="med"/>
                    </a:lnL>
                    <a:lnR w="12700" cap="flat" cmpd="sng" algn="ctr">
                      <a:solidFill>
                        <a:srgbClr val="C7C8C6"/>
                      </a:solidFill>
                      <a:prstDash val="solid"/>
                      <a:round/>
                      <a:headEnd type="none" w="med" len="med"/>
                      <a:tailEnd type="none" w="med" len="med"/>
                    </a:lnR>
                    <a:lnT w="12700" cap="flat" cmpd="sng" algn="ctr">
                      <a:solidFill>
                        <a:srgbClr val="142226"/>
                      </a:solidFill>
                      <a:prstDash val="solid"/>
                      <a:round/>
                      <a:headEnd type="none" w="med" len="med"/>
                      <a:tailEnd type="none" w="med" len="med"/>
                    </a:lnT>
                    <a:lnB w="12700" cap="flat" cmpd="sng" algn="ctr">
                      <a:solidFill>
                        <a:srgbClr val="C7C8C6"/>
                      </a:solidFill>
                      <a:prstDash val="solid"/>
                      <a:round/>
                      <a:headEnd type="none" w="med" len="med"/>
                      <a:tailEnd type="none" w="med" len="med"/>
                    </a:lnB>
                    <a:solidFill>
                      <a:srgbClr val="FAFBF8"/>
                    </a:solidFill>
                  </a:tcPr>
                </a:tc>
                <a:tc>
                  <a:txBody>
                    <a:bodyPr/>
                    <a:lstStyle/>
                    <a:p>
                      <a:pPr indent="0" marL="0">
                        <a:lnSpc>
                          <a:spcPts val="1960"/>
                        </a:lnSpc>
                        <a:buNone/>
                      </a:pPr>
                      <a:r>
                        <a:rPr lang="en-US" sz="1400" dirty="0">
                          <a:solidFill>
                            <a:srgbClr val="14262B"/>
                          </a:solidFill>
                          <a:latin typeface="Arial" pitchFamily="34" charset="0"/>
                          <a:ea typeface="Arial" pitchFamily="34" charset="-122"/>
                          <a:cs typeface="Arial" pitchFamily="34" charset="-120"/>
                        </a:rPr>
                        <a:t>Easy</a:t>
                      </a:r>
                      <a:endParaRPr lang="en-US" sz="1400" dirty="0">
                        <a:latin typeface="Arial" charset="0"/>
                        <a:ea typeface="Arial" charset="0"/>
                        <a:cs typeface="Arial" charset="0"/>
                      </a:endParaRPr>
                    </a:p>
                  </a:txBody>
                  <a:tcPr marL="62230" marR="62230" marT="62230" marB="62230" anchor="t">
                    <a:lnL w="12700" cap="flat" cmpd="sng" algn="ctr">
                      <a:solidFill>
                        <a:srgbClr val="C7C8C6"/>
                      </a:solidFill>
                      <a:prstDash val="solid"/>
                      <a:round/>
                      <a:headEnd type="none" w="med" len="med"/>
                      <a:tailEnd type="none" w="med" len="med"/>
                    </a:lnL>
                    <a:lnR w="12700" cap="flat" cmpd="sng" algn="ctr">
                      <a:solidFill>
                        <a:srgbClr val="C7C8C6"/>
                      </a:solidFill>
                      <a:prstDash val="solid"/>
                      <a:round/>
                      <a:headEnd type="none" w="med" len="med"/>
                      <a:tailEnd type="none" w="med" len="med"/>
                    </a:lnR>
                    <a:lnT w="12700" cap="flat" cmpd="sng" algn="ctr">
                      <a:solidFill>
                        <a:srgbClr val="142226"/>
                      </a:solidFill>
                      <a:prstDash val="solid"/>
                      <a:round/>
                      <a:headEnd type="none" w="med" len="med"/>
                      <a:tailEnd type="none" w="med" len="med"/>
                    </a:lnT>
                    <a:lnB w="12700" cap="flat" cmpd="sng" algn="ctr">
                      <a:solidFill>
                        <a:srgbClr val="C7C8C6"/>
                      </a:solidFill>
                      <a:prstDash val="solid"/>
                      <a:round/>
                      <a:headEnd type="none" w="med" len="med"/>
                      <a:tailEnd type="none" w="med" len="med"/>
                    </a:lnB>
                    <a:solidFill>
                      <a:srgbClr val="FAFBF8"/>
                    </a:solidFill>
                  </a:tcPr>
                </a:tc>
                <a:tc>
                  <a:txBody>
                    <a:bodyPr/>
                    <a:lstStyle/>
                    <a:p>
                      <a:pPr indent="0" marL="0">
                        <a:lnSpc>
                          <a:spcPts val="1960"/>
                        </a:lnSpc>
                        <a:buNone/>
                      </a:pPr>
                      <a:r>
                        <a:rPr lang="en-US" sz="1400" dirty="0">
                          <a:solidFill>
                            <a:srgbClr val="14262B"/>
                          </a:solidFill>
                          <a:latin typeface="Arial" pitchFamily="34" charset="0"/>
                          <a:ea typeface="Arial" pitchFamily="34" charset="-122"/>
                          <a:cs typeface="Arial" pitchFamily="34" charset="-120"/>
                        </a:rPr>
                        <a:t>Moderate</a:t>
                      </a:r>
                      <a:endParaRPr lang="en-US" sz="1400" dirty="0">
                        <a:latin typeface="Arial" charset="0"/>
                        <a:ea typeface="Arial" charset="0"/>
                        <a:cs typeface="Arial" charset="0"/>
                      </a:endParaRPr>
                    </a:p>
                  </a:txBody>
                  <a:tcPr marL="62230" marR="62230" marT="62230" marB="62230" anchor="t">
                    <a:lnL w="12700" cap="flat" cmpd="sng" algn="ctr">
                      <a:solidFill>
                        <a:srgbClr val="C7C8C6"/>
                      </a:solidFill>
                      <a:prstDash val="solid"/>
                      <a:round/>
                      <a:headEnd type="none" w="med" len="med"/>
                      <a:tailEnd type="none" w="med" len="med"/>
                    </a:lnL>
                    <a:lnR w="12700" cap="flat" cmpd="sng" algn="ctr">
                      <a:solidFill>
                        <a:srgbClr val="C7C8C6"/>
                      </a:solidFill>
                      <a:prstDash val="solid"/>
                      <a:round/>
                      <a:headEnd type="none" w="med" len="med"/>
                      <a:tailEnd type="none" w="med" len="med"/>
                    </a:lnR>
                    <a:lnT w="12700" cap="flat" cmpd="sng" algn="ctr">
                      <a:solidFill>
                        <a:srgbClr val="142226"/>
                      </a:solidFill>
                      <a:prstDash val="solid"/>
                      <a:round/>
                      <a:headEnd type="none" w="med" len="med"/>
                      <a:tailEnd type="none" w="med" len="med"/>
                    </a:lnT>
                    <a:lnB w="12700" cap="flat" cmpd="sng" algn="ctr">
                      <a:solidFill>
                        <a:srgbClr val="C7C8C6"/>
                      </a:solidFill>
                      <a:prstDash val="solid"/>
                      <a:round/>
                      <a:headEnd type="none" w="med" len="med"/>
                      <a:tailEnd type="none" w="med" len="med"/>
                    </a:lnB>
                    <a:solidFill>
                      <a:srgbClr val="FAFBF8"/>
                    </a:solidFill>
                  </a:tcPr>
                </a:tc>
                <a:tc>
                  <a:txBody>
                    <a:bodyPr/>
                    <a:lstStyle/>
                    <a:p>
                      <a:pPr indent="0" marL="0">
                        <a:lnSpc>
                          <a:spcPts val="1960"/>
                        </a:lnSpc>
                        <a:buNone/>
                      </a:pPr>
                      <a:r>
                        <a:rPr lang="en-US" sz="1400" dirty="0">
                          <a:solidFill>
                            <a:srgbClr val="14262B"/>
                          </a:solidFill>
                          <a:latin typeface="Arial" pitchFamily="34" charset="0"/>
                          <a:ea typeface="Arial" pitchFamily="34" charset="-122"/>
                          <a:cs typeface="Arial" pitchFamily="34" charset="-120"/>
                        </a:rPr>
                        <a:t>Hard, warps</a:t>
                      </a:r>
                      <a:endParaRPr lang="en-US" sz="1400" dirty="0">
                        <a:latin typeface="Arial" charset="0"/>
                        <a:ea typeface="Arial" charset="0"/>
                        <a:cs typeface="Arial" charset="0"/>
                      </a:endParaRPr>
                    </a:p>
                  </a:txBody>
                  <a:tcPr marL="62230" marR="62230" marT="62230" marB="62230" anchor="t">
                    <a:lnL w="12700" cap="flat" cmpd="sng" algn="ctr">
                      <a:solidFill>
                        <a:srgbClr val="C7C8C6"/>
                      </a:solidFill>
                      <a:prstDash val="solid"/>
                      <a:round/>
                      <a:headEnd type="none" w="med" len="med"/>
                      <a:tailEnd type="none" w="med" len="med"/>
                    </a:lnL>
                    <a:lnR w="12700" cap="flat" cmpd="sng" algn="ctr">
                      <a:solidFill>
                        <a:srgbClr val="C7C8C6"/>
                      </a:solidFill>
                      <a:prstDash val="solid"/>
                      <a:round/>
                      <a:headEnd type="none" w="med" len="med"/>
                      <a:tailEnd type="none" w="med" len="med"/>
                    </a:lnR>
                    <a:lnT w="12700" cap="flat" cmpd="sng" algn="ctr">
                      <a:solidFill>
                        <a:srgbClr val="142226"/>
                      </a:solidFill>
                      <a:prstDash val="solid"/>
                      <a:round/>
                      <a:headEnd type="none" w="med" len="med"/>
                      <a:tailEnd type="none" w="med" len="med"/>
                    </a:lnT>
                    <a:lnB w="12700" cap="flat" cmpd="sng" algn="ctr">
                      <a:solidFill>
                        <a:srgbClr val="C7C8C6"/>
                      </a:solidFill>
                      <a:prstDash val="solid"/>
                      <a:round/>
                      <a:headEnd type="none" w="med" len="med"/>
                      <a:tailEnd type="none" w="med" len="med"/>
                    </a:lnB>
                    <a:solidFill>
                      <a:srgbClr val="FAFBF8"/>
                    </a:solidFill>
                  </a:tcPr>
                </a:tc>
              </a:tr>
              <a:tr h="383540">
                <a:tc>
                  <a:txBody>
                    <a:bodyPr/>
                    <a:lstStyle/>
                    <a:p>
                      <a:pPr indent="0" marL="0">
                        <a:lnSpc>
                          <a:spcPts val="1960"/>
                        </a:lnSpc>
                        <a:buNone/>
                      </a:pPr>
                      <a:r>
                        <a:rPr lang="en-US" sz="1400" dirty="0">
                          <a:solidFill>
                            <a:srgbClr val="14262B"/>
                          </a:solidFill>
                          <a:latin typeface="Arial" pitchFamily="34" charset="0"/>
                          <a:ea typeface="Arial" pitchFamily="34" charset="-122"/>
                          <a:cs typeface="Arial" pitchFamily="34" charset="-120"/>
                        </a:rPr>
                        <a:t>Toughness</a:t>
                      </a:r>
                      <a:endParaRPr lang="en-US" sz="1400" dirty="0">
                        <a:latin typeface="Arial" charset="0"/>
                        <a:ea typeface="Arial" charset="0"/>
                        <a:cs typeface="Arial" charset="0"/>
                      </a:endParaRPr>
                    </a:p>
                  </a:txBody>
                  <a:tcPr marL="62230" marR="62230" marT="62230" marB="62230" anchor="t">
                    <a:lnL w="12700" cap="flat" cmpd="sng" algn="ctr">
                      <a:solidFill>
                        <a:srgbClr val="C2C4C0"/>
                      </a:solidFill>
                      <a:prstDash val="solid"/>
                      <a:round/>
                      <a:headEnd type="none" w="med" len="med"/>
                      <a:tailEnd type="none" w="med" len="med"/>
                    </a:lnL>
                    <a:lnR w="12700" cap="flat" cmpd="sng" algn="ctr">
                      <a:solidFill>
                        <a:srgbClr val="B9BEBB"/>
                      </a:solidFill>
                      <a:prstDash val="solid"/>
                      <a:round/>
                      <a:headEnd type="none" w="med" len="med"/>
                      <a:tailEnd type="none" w="med" len="med"/>
                    </a:lnR>
                    <a:lnT w="12700" cap="flat" cmpd="sng" algn="ctr">
                      <a:solidFill>
                        <a:srgbClr val="C7C8C6"/>
                      </a:solidFill>
                      <a:prstDash val="solid"/>
                      <a:round/>
                      <a:headEnd type="none" w="med" len="med"/>
                      <a:tailEnd type="none" w="med" len="med"/>
                    </a:lnT>
                    <a:lnB w="12700" cap="flat" cmpd="sng" algn="ctr">
                      <a:solidFill>
                        <a:srgbClr val="B9BEBB"/>
                      </a:solidFill>
                      <a:prstDash val="solid"/>
                      <a:round/>
                      <a:headEnd type="none" w="med" len="med"/>
                      <a:tailEnd type="none" w="med" len="med"/>
                    </a:lnB>
                    <a:solidFill>
                      <a:srgbClr val="E8EEEA"/>
                    </a:solidFill>
                  </a:tcPr>
                </a:tc>
                <a:tc>
                  <a:txBody>
                    <a:bodyPr/>
                    <a:lstStyle/>
                    <a:p>
                      <a:pPr indent="0" marL="0">
                        <a:lnSpc>
                          <a:spcPts val="1960"/>
                        </a:lnSpc>
                        <a:buNone/>
                      </a:pPr>
                      <a:r>
                        <a:rPr lang="en-US" sz="1400" dirty="0">
                          <a:solidFill>
                            <a:srgbClr val="14262B"/>
                          </a:solidFill>
                          <a:latin typeface="Arial" pitchFamily="34" charset="0"/>
                          <a:ea typeface="Arial" pitchFamily="34" charset="-122"/>
                          <a:cs typeface="Arial" pitchFamily="34" charset="-120"/>
                        </a:rPr>
                        <a:t>Brittle</a:t>
                      </a:r>
                      <a:endParaRPr lang="en-US" sz="1400" dirty="0">
                        <a:latin typeface="Arial" charset="0"/>
                        <a:ea typeface="Arial" charset="0"/>
                        <a:cs typeface="Arial" charset="0"/>
                      </a:endParaRPr>
                    </a:p>
                  </a:txBody>
                  <a:tcPr marL="62230" marR="62230" marT="62230" marB="62230" anchor="t">
                    <a:lnL w="12700" cap="flat" cmpd="sng" algn="ctr">
                      <a:solidFill>
                        <a:srgbClr val="B9BEBB"/>
                      </a:solidFill>
                      <a:prstDash val="solid"/>
                      <a:round/>
                      <a:headEnd type="none" w="med" len="med"/>
                      <a:tailEnd type="none" w="med" len="med"/>
                    </a:lnL>
                    <a:lnR w="12700" cap="flat" cmpd="sng" algn="ctr">
                      <a:solidFill>
                        <a:srgbClr val="B9BEBB"/>
                      </a:solidFill>
                      <a:prstDash val="solid"/>
                      <a:round/>
                      <a:headEnd type="none" w="med" len="med"/>
                      <a:tailEnd type="none" w="med" len="med"/>
                    </a:lnR>
                    <a:lnT w="12700" cap="flat" cmpd="sng" algn="ctr">
                      <a:solidFill>
                        <a:srgbClr val="C7C8C6"/>
                      </a:solidFill>
                      <a:prstDash val="solid"/>
                      <a:round/>
                      <a:headEnd type="none" w="med" len="med"/>
                      <a:tailEnd type="none" w="med" len="med"/>
                    </a:lnT>
                    <a:lnB w="12700" cap="flat" cmpd="sng" algn="ctr">
                      <a:solidFill>
                        <a:srgbClr val="B9BEBB"/>
                      </a:solidFill>
                      <a:prstDash val="solid"/>
                      <a:round/>
                      <a:headEnd type="none" w="med" len="med"/>
                      <a:tailEnd type="none" w="med" len="med"/>
                    </a:lnB>
                    <a:solidFill>
                      <a:srgbClr val="E8EEEA"/>
                    </a:solidFill>
                  </a:tcPr>
                </a:tc>
                <a:tc>
                  <a:txBody>
                    <a:bodyPr/>
                    <a:lstStyle/>
                    <a:p>
                      <a:pPr indent="0" marL="0">
                        <a:lnSpc>
                          <a:spcPts val="1960"/>
                        </a:lnSpc>
                        <a:buNone/>
                      </a:pPr>
                      <a:r>
                        <a:rPr lang="en-US" sz="1400" dirty="0">
                          <a:solidFill>
                            <a:srgbClr val="14262B"/>
                          </a:solidFill>
                          <a:latin typeface="Arial" pitchFamily="34" charset="0"/>
                          <a:ea typeface="Arial" pitchFamily="34" charset="-122"/>
                          <a:cs typeface="Arial" pitchFamily="34" charset="-120"/>
                        </a:rPr>
                        <a:t>Tough</a:t>
                      </a:r>
                      <a:endParaRPr lang="en-US" sz="1400" dirty="0">
                        <a:latin typeface="Arial" charset="0"/>
                        <a:ea typeface="Arial" charset="0"/>
                        <a:cs typeface="Arial" charset="0"/>
                      </a:endParaRPr>
                    </a:p>
                  </a:txBody>
                  <a:tcPr marL="62230" marR="62230" marT="62230" marB="62230" anchor="t">
                    <a:lnL w="12700" cap="flat" cmpd="sng" algn="ctr">
                      <a:solidFill>
                        <a:srgbClr val="B9BEBB"/>
                      </a:solidFill>
                      <a:prstDash val="solid"/>
                      <a:round/>
                      <a:headEnd type="none" w="med" len="med"/>
                      <a:tailEnd type="none" w="med" len="med"/>
                    </a:lnL>
                    <a:lnR w="12700" cap="flat" cmpd="sng" algn="ctr">
                      <a:solidFill>
                        <a:srgbClr val="B9BEBB"/>
                      </a:solidFill>
                      <a:prstDash val="solid"/>
                      <a:round/>
                      <a:headEnd type="none" w="med" len="med"/>
                      <a:tailEnd type="none" w="med" len="med"/>
                    </a:lnR>
                    <a:lnT w="12700" cap="flat" cmpd="sng" algn="ctr">
                      <a:solidFill>
                        <a:srgbClr val="C7C8C6"/>
                      </a:solidFill>
                      <a:prstDash val="solid"/>
                      <a:round/>
                      <a:headEnd type="none" w="med" len="med"/>
                      <a:tailEnd type="none" w="med" len="med"/>
                    </a:lnT>
                    <a:lnB w="12700" cap="flat" cmpd="sng" algn="ctr">
                      <a:solidFill>
                        <a:srgbClr val="B9BEBB"/>
                      </a:solidFill>
                      <a:prstDash val="solid"/>
                      <a:round/>
                      <a:headEnd type="none" w="med" len="med"/>
                      <a:tailEnd type="none" w="med" len="med"/>
                    </a:lnB>
                    <a:solidFill>
                      <a:srgbClr val="E8EEEA"/>
                    </a:solidFill>
                  </a:tcPr>
                </a:tc>
                <a:tc>
                  <a:txBody>
                    <a:bodyPr/>
                    <a:lstStyle/>
                    <a:p>
                      <a:pPr indent="0" marL="0">
                        <a:lnSpc>
                          <a:spcPts val="1960"/>
                        </a:lnSpc>
                        <a:buNone/>
                      </a:pPr>
                      <a:r>
                        <a:rPr lang="en-US" sz="1400" dirty="0">
                          <a:solidFill>
                            <a:srgbClr val="14262B"/>
                          </a:solidFill>
                          <a:latin typeface="Arial" pitchFamily="34" charset="0"/>
                          <a:ea typeface="Arial" pitchFamily="34" charset="-122"/>
                          <a:cs typeface="Arial" pitchFamily="34" charset="-120"/>
                        </a:rPr>
                        <a:t>Tough</a:t>
                      </a:r>
                      <a:endParaRPr lang="en-US" sz="1400" dirty="0">
                        <a:latin typeface="Arial" charset="0"/>
                        <a:ea typeface="Arial" charset="0"/>
                        <a:cs typeface="Arial" charset="0"/>
                      </a:endParaRPr>
                    </a:p>
                  </a:txBody>
                  <a:tcPr marL="62230" marR="62230" marT="62230" marB="62230" anchor="t">
                    <a:lnL w="12700" cap="flat" cmpd="sng" algn="ctr">
                      <a:solidFill>
                        <a:srgbClr val="B9BEBB"/>
                      </a:solidFill>
                      <a:prstDash val="solid"/>
                      <a:round/>
                      <a:headEnd type="none" w="med" len="med"/>
                      <a:tailEnd type="none" w="med" len="med"/>
                    </a:lnL>
                    <a:lnR w="12700" cap="flat" cmpd="sng" algn="ctr">
                      <a:solidFill>
                        <a:srgbClr val="B9BEBB"/>
                      </a:solidFill>
                      <a:prstDash val="solid"/>
                      <a:round/>
                      <a:headEnd type="none" w="med" len="med"/>
                      <a:tailEnd type="none" w="med" len="med"/>
                    </a:lnR>
                    <a:lnT w="12700" cap="flat" cmpd="sng" algn="ctr">
                      <a:solidFill>
                        <a:srgbClr val="C7C8C6"/>
                      </a:solidFill>
                      <a:prstDash val="solid"/>
                      <a:round/>
                      <a:headEnd type="none" w="med" len="med"/>
                      <a:tailEnd type="none" w="med" len="med"/>
                    </a:lnT>
                    <a:lnB w="12700" cap="flat" cmpd="sng" algn="ctr">
                      <a:solidFill>
                        <a:srgbClr val="B9BEBB"/>
                      </a:solidFill>
                      <a:prstDash val="solid"/>
                      <a:round/>
                      <a:headEnd type="none" w="med" len="med"/>
                      <a:tailEnd type="none" w="med" len="med"/>
                    </a:lnB>
                    <a:solidFill>
                      <a:srgbClr val="E8EEEA"/>
                    </a:solidFill>
                  </a:tcPr>
                </a:tc>
              </a:tr>
              <a:tr h="383540">
                <a:tc>
                  <a:txBody>
                    <a:bodyPr/>
                    <a:lstStyle/>
                    <a:p>
                      <a:pPr indent="0" marL="0">
                        <a:lnSpc>
                          <a:spcPts val="1960"/>
                        </a:lnSpc>
                        <a:buNone/>
                      </a:pPr>
                      <a:r>
                        <a:rPr lang="en-US" sz="1400" dirty="0">
                          <a:solidFill>
                            <a:srgbClr val="14262B"/>
                          </a:solidFill>
                          <a:latin typeface="Arial" pitchFamily="34" charset="0"/>
                          <a:ea typeface="Arial" pitchFamily="34" charset="-122"/>
                          <a:cs typeface="Arial" pitchFamily="34" charset="-120"/>
                        </a:rPr>
                        <a:t>Softening point</a:t>
                      </a:r>
                      <a:endParaRPr lang="en-US" sz="1400" dirty="0">
                        <a:latin typeface="Arial" charset="0"/>
                        <a:ea typeface="Arial" charset="0"/>
                        <a:cs typeface="Arial" charset="0"/>
                      </a:endParaRPr>
                    </a:p>
                  </a:txBody>
                  <a:tcPr marL="62230" marR="62230" marT="62230" marB="62230" anchor="t">
                    <a:lnL w="12700" cap="flat" cmpd="sng" algn="ctr">
                      <a:solidFill>
                        <a:srgbClr val="C2C4C0"/>
                      </a:solidFill>
                      <a:prstDash val="solid"/>
                      <a:round/>
                      <a:headEnd type="none" w="med" len="med"/>
                      <a:tailEnd type="none" w="med" len="med"/>
                    </a:lnL>
                    <a:lnR w="12700" cap="flat" cmpd="sng" algn="ctr">
                      <a:solidFill>
                        <a:srgbClr val="C7C8C6"/>
                      </a:solidFill>
                      <a:prstDash val="solid"/>
                      <a:round/>
                      <a:headEnd type="none" w="med" len="med"/>
                      <a:tailEnd type="none" w="med" len="med"/>
                    </a:lnR>
                    <a:lnT w="12700" cap="flat" cmpd="sng" algn="ctr">
                      <a:solidFill>
                        <a:srgbClr val="B9BEBB"/>
                      </a:solidFill>
                      <a:prstDash val="solid"/>
                      <a:round/>
                      <a:headEnd type="none" w="med" len="med"/>
                      <a:tailEnd type="none" w="med" len="med"/>
                    </a:lnT>
                    <a:lnB w="12700" cap="flat" cmpd="sng" algn="ctr">
                      <a:solidFill>
                        <a:srgbClr val="C7C8C6"/>
                      </a:solidFill>
                      <a:prstDash val="solid"/>
                      <a:round/>
                      <a:headEnd type="none" w="med" len="med"/>
                      <a:tailEnd type="none" w="med" len="med"/>
                    </a:lnB>
                    <a:solidFill>
                      <a:srgbClr val="FAFBF8"/>
                    </a:solidFill>
                  </a:tcPr>
                </a:tc>
                <a:tc>
                  <a:txBody>
                    <a:bodyPr/>
                    <a:lstStyle/>
                    <a:p>
                      <a:pPr indent="0" marL="0">
                        <a:lnSpc>
                          <a:spcPts val="1960"/>
                        </a:lnSpc>
                        <a:buNone/>
                      </a:pPr>
                      <a:r>
                        <a:rPr lang="en-US" sz="1400" dirty="0">
                          <a:solidFill>
                            <a:srgbClr val="14262B"/>
                          </a:solidFill>
                          <a:latin typeface="Arial" pitchFamily="34" charset="0"/>
                          <a:ea typeface="Arial" pitchFamily="34" charset="-122"/>
                          <a:cs typeface="Arial" pitchFamily="34" charset="-120"/>
                        </a:rPr>
                        <a:t>About 60 °C</a:t>
                      </a:r>
                      <a:endParaRPr lang="en-US" sz="1400" dirty="0">
                        <a:latin typeface="Arial" charset="0"/>
                        <a:ea typeface="Arial" charset="0"/>
                        <a:cs typeface="Arial" charset="0"/>
                      </a:endParaRPr>
                    </a:p>
                  </a:txBody>
                  <a:tcPr marL="62230" marR="62230" marT="62230" marB="62230" anchor="t">
                    <a:lnL w="12700" cap="flat" cmpd="sng" algn="ctr">
                      <a:solidFill>
                        <a:srgbClr val="C7C8C6"/>
                      </a:solidFill>
                      <a:prstDash val="solid"/>
                      <a:round/>
                      <a:headEnd type="none" w="med" len="med"/>
                      <a:tailEnd type="none" w="med" len="med"/>
                    </a:lnL>
                    <a:lnR w="12700" cap="flat" cmpd="sng" algn="ctr">
                      <a:solidFill>
                        <a:srgbClr val="C7C8C6"/>
                      </a:solidFill>
                      <a:prstDash val="solid"/>
                      <a:round/>
                      <a:headEnd type="none" w="med" len="med"/>
                      <a:tailEnd type="none" w="med" len="med"/>
                    </a:lnR>
                    <a:lnT w="12700" cap="flat" cmpd="sng" algn="ctr">
                      <a:solidFill>
                        <a:srgbClr val="B9BEBB"/>
                      </a:solidFill>
                      <a:prstDash val="solid"/>
                      <a:round/>
                      <a:headEnd type="none" w="med" len="med"/>
                      <a:tailEnd type="none" w="med" len="med"/>
                    </a:lnT>
                    <a:lnB w="12700" cap="flat" cmpd="sng" algn="ctr">
                      <a:solidFill>
                        <a:srgbClr val="C7C8C6"/>
                      </a:solidFill>
                      <a:prstDash val="solid"/>
                      <a:round/>
                      <a:headEnd type="none" w="med" len="med"/>
                      <a:tailEnd type="none" w="med" len="med"/>
                    </a:lnB>
                    <a:solidFill>
                      <a:srgbClr val="FAFBF8"/>
                    </a:solidFill>
                  </a:tcPr>
                </a:tc>
                <a:tc>
                  <a:txBody>
                    <a:bodyPr/>
                    <a:lstStyle/>
                    <a:p>
                      <a:pPr indent="0" marL="0">
                        <a:lnSpc>
                          <a:spcPts val="1960"/>
                        </a:lnSpc>
                        <a:buNone/>
                      </a:pPr>
                      <a:r>
                        <a:rPr lang="en-US" sz="1400" dirty="0">
                          <a:solidFill>
                            <a:srgbClr val="14262B"/>
                          </a:solidFill>
                          <a:latin typeface="Arial" pitchFamily="34" charset="0"/>
                          <a:ea typeface="Arial" pitchFamily="34" charset="-122"/>
                          <a:cs typeface="Arial" pitchFamily="34" charset="-120"/>
                        </a:rPr>
                        <a:t>About 80 °C</a:t>
                      </a:r>
                      <a:endParaRPr lang="en-US" sz="1400" dirty="0">
                        <a:latin typeface="Arial" charset="0"/>
                        <a:ea typeface="Arial" charset="0"/>
                        <a:cs typeface="Arial" charset="0"/>
                      </a:endParaRPr>
                    </a:p>
                  </a:txBody>
                  <a:tcPr marL="62230" marR="62230" marT="62230" marB="62230" anchor="t">
                    <a:lnL w="12700" cap="flat" cmpd="sng" algn="ctr">
                      <a:solidFill>
                        <a:srgbClr val="C7C8C6"/>
                      </a:solidFill>
                      <a:prstDash val="solid"/>
                      <a:round/>
                      <a:headEnd type="none" w="med" len="med"/>
                      <a:tailEnd type="none" w="med" len="med"/>
                    </a:lnL>
                    <a:lnR w="12700" cap="flat" cmpd="sng" algn="ctr">
                      <a:solidFill>
                        <a:srgbClr val="C7C8C6"/>
                      </a:solidFill>
                      <a:prstDash val="solid"/>
                      <a:round/>
                      <a:headEnd type="none" w="med" len="med"/>
                      <a:tailEnd type="none" w="med" len="med"/>
                    </a:lnR>
                    <a:lnT w="12700" cap="flat" cmpd="sng" algn="ctr">
                      <a:solidFill>
                        <a:srgbClr val="B9BEBB"/>
                      </a:solidFill>
                      <a:prstDash val="solid"/>
                      <a:round/>
                      <a:headEnd type="none" w="med" len="med"/>
                      <a:tailEnd type="none" w="med" len="med"/>
                    </a:lnT>
                    <a:lnB w="12700" cap="flat" cmpd="sng" algn="ctr">
                      <a:solidFill>
                        <a:srgbClr val="C7C8C6"/>
                      </a:solidFill>
                      <a:prstDash val="solid"/>
                      <a:round/>
                      <a:headEnd type="none" w="med" len="med"/>
                      <a:tailEnd type="none" w="med" len="med"/>
                    </a:lnB>
                    <a:solidFill>
                      <a:srgbClr val="FAFBF8"/>
                    </a:solidFill>
                  </a:tcPr>
                </a:tc>
                <a:tc>
                  <a:txBody>
                    <a:bodyPr/>
                    <a:lstStyle/>
                    <a:p>
                      <a:pPr indent="0" marL="0">
                        <a:lnSpc>
                          <a:spcPts val="1960"/>
                        </a:lnSpc>
                        <a:buNone/>
                      </a:pPr>
                      <a:r>
                        <a:rPr lang="en-US" sz="1400" dirty="0">
                          <a:solidFill>
                            <a:srgbClr val="14262B"/>
                          </a:solidFill>
                          <a:latin typeface="Arial" pitchFamily="34" charset="0"/>
                          <a:ea typeface="Arial" pitchFamily="34" charset="-122"/>
                          <a:cs typeface="Arial" pitchFamily="34" charset="-120"/>
                        </a:rPr>
                        <a:t>About 105 °C</a:t>
                      </a:r>
                      <a:endParaRPr lang="en-US" sz="1400" dirty="0">
                        <a:latin typeface="Arial" charset="0"/>
                        <a:ea typeface="Arial" charset="0"/>
                        <a:cs typeface="Arial" charset="0"/>
                      </a:endParaRPr>
                    </a:p>
                  </a:txBody>
                  <a:tcPr marL="62230" marR="62230" marT="62230" marB="62230" anchor="t">
                    <a:lnL w="12700" cap="flat" cmpd="sng" algn="ctr">
                      <a:solidFill>
                        <a:srgbClr val="C7C8C6"/>
                      </a:solidFill>
                      <a:prstDash val="solid"/>
                      <a:round/>
                      <a:headEnd type="none" w="med" len="med"/>
                      <a:tailEnd type="none" w="med" len="med"/>
                    </a:lnL>
                    <a:lnR w="12700" cap="flat" cmpd="sng" algn="ctr">
                      <a:solidFill>
                        <a:srgbClr val="C7C8C6"/>
                      </a:solidFill>
                      <a:prstDash val="solid"/>
                      <a:round/>
                      <a:headEnd type="none" w="med" len="med"/>
                      <a:tailEnd type="none" w="med" len="med"/>
                    </a:lnR>
                    <a:lnT w="12700" cap="flat" cmpd="sng" algn="ctr">
                      <a:solidFill>
                        <a:srgbClr val="B9BEBB"/>
                      </a:solidFill>
                      <a:prstDash val="solid"/>
                      <a:round/>
                      <a:headEnd type="none" w="med" len="med"/>
                      <a:tailEnd type="none" w="med" len="med"/>
                    </a:lnT>
                    <a:lnB w="12700" cap="flat" cmpd="sng" algn="ctr">
                      <a:solidFill>
                        <a:srgbClr val="C7C8C6"/>
                      </a:solidFill>
                      <a:prstDash val="solid"/>
                      <a:round/>
                      <a:headEnd type="none" w="med" len="med"/>
                      <a:tailEnd type="none" w="med" len="med"/>
                    </a:lnB>
                    <a:solidFill>
                      <a:srgbClr val="FAFBF8"/>
                    </a:solidFill>
                  </a:tcPr>
                </a:tc>
              </a:tr>
              <a:tr h="383540">
                <a:tc>
                  <a:txBody>
                    <a:bodyPr/>
                    <a:lstStyle/>
                    <a:p>
                      <a:pPr indent="0" marL="0">
                        <a:lnSpc>
                          <a:spcPts val="1960"/>
                        </a:lnSpc>
                        <a:buNone/>
                      </a:pPr>
                      <a:r>
                        <a:rPr lang="en-US" sz="1400" dirty="0">
                          <a:solidFill>
                            <a:srgbClr val="14262B"/>
                          </a:solidFill>
                          <a:latin typeface="Arial" pitchFamily="34" charset="0"/>
                          <a:ea typeface="Arial" pitchFamily="34" charset="-122"/>
                          <a:cs typeface="Arial" pitchFamily="34" charset="-120"/>
                        </a:rPr>
                        <a:t>Fumes</a:t>
                      </a:r>
                      <a:endParaRPr lang="en-US" sz="1400" dirty="0">
                        <a:latin typeface="Arial" charset="0"/>
                        <a:ea typeface="Arial" charset="0"/>
                        <a:cs typeface="Arial" charset="0"/>
                      </a:endParaRPr>
                    </a:p>
                  </a:txBody>
                  <a:tcPr marL="62230" marR="62230" marT="62230" marB="62230" anchor="t">
                    <a:lnL w="12700" cap="flat" cmpd="sng" algn="ctr">
                      <a:solidFill>
                        <a:srgbClr val="C2C4C0"/>
                      </a:solidFill>
                      <a:prstDash val="solid"/>
                      <a:round/>
                      <a:headEnd type="none" w="med" len="med"/>
                      <a:tailEnd type="none" w="med" len="med"/>
                    </a:lnL>
                    <a:lnR w="12700" cap="flat" cmpd="sng" algn="ctr">
                      <a:solidFill>
                        <a:srgbClr val="B9BEBB"/>
                      </a:solidFill>
                      <a:prstDash val="solid"/>
                      <a:round/>
                      <a:headEnd type="none" w="med" len="med"/>
                      <a:tailEnd type="none" w="med" len="med"/>
                    </a:lnR>
                    <a:lnT w="12700" cap="flat" cmpd="sng" algn="ctr">
                      <a:solidFill>
                        <a:srgbClr val="C7C8C6"/>
                      </a:solidFill>
                      <a:prstDash val="solid"/>
                      <a:round/>
                      <a:headEnd type="none" w="med" len="med"/>
                      <a:tailEnd type="none" w="med" len="med"/>
                    </a:lnT>
                    <a:lnB w="12700" cap="flat" cmpd="sng" algn="ctr">
                      <a:solidFill>
                        <a:srgbClr val="B9BEBB"/>
                      </a:solidFill>
                      <a:prstDash val="solid"/>
                      <a:round/>
                      <a:headEnd type="none" w="med" len="med"/>
                      <a:tailEnd type="none" w="med" len="med"/>
                    </a:lnB>
                    <a:solidFill>
                      <a:srgbClr val="E8EEEA"/>
                    </a:solidFill>
                  </a:tcPr>
                </a:tc>
                <a:tc>
                  <a:txBody>
                    <a:bodyPr/>
                    <a:lstStyle/>
                    <a:p>
                      <a:pPr indent="0" marL="0">
                        <a:lnSpc>
                          <a:spcPts val="1960"/>
                        </a:lnSpc>
                        <a:buNone/>
                      </a:pPr>
                      <a:r>
                        <a:rPr lang="en-US" sz="1400" dirty="0">
                          <a:solidFill>
                            <a:srgbClr val="14262B"/>
                          </a:solidFill>
                          <a:latin typeface="Arial" pitchFamily="34" charset="0"/>
                          <a:ea typeface="Arial" pitchFamily="34" charset="-122"/>
                          <a:cs typeface="Arial" pitchFamily="34" charset="-120"/>
                        </a:rPr>
                        <a:t>Low odour</a:t>
                      </a:r>
                      <a:endParaRPr lang="en-US" sz="1400" dirty="0">
                        <a:latin typeface="Arial" charset="0"/>
                        <a:ea typeface="Arial" charset="0"/>
                        <a:cs typeface="Arial" charset="0"/>
                      </a:endParaRPr>
                    </a:p>
                  </a:txBody>
                  <a:tcPr marL="62230" marR="62230" marT="62230" marB="62230" anchor="t">
                    <a:lnL w="12700" cap="flat" cmpd="sng" algn="ctr">
                      <a:solidFill>
                        <a:srgbClr val="B9BEBB"/>
                      </a:solidFill>
                      <a:prstDash val="solid"/>
                      <a:round/>
                      <a:headEnd type="none" w="med" len="med"/>
                      <a:tailEnd type="none" w="med" len="med"/>
                    </a:lnL>
                    <a:lnR w="12700" cap="flat" cmpd="sng" algn="ctr">
                      <a:solidFill>
                        <a:srgbClr val="B9BEBB"/>
                      </a:solidFill>
                      <a:prstDash val="solid"/>
                      <a:round/>
                      <a:headEnd type="none" w="med" len="med"/>
                      <a:tailEnd type="none" w="med" len="med"/>
                    </a:lnR>
                    <a:lnT w="12700" cap="flat" cmpd="sng" algn="ctr">
                      <a:solidFill>
                        <a:srgbClr val="C7C8C6"/>
                      </a:solidFill>
                      <a:prstDash val="solid"/>
                      <a:round/>
                      <a:headEnd type="none" w="med" len="med"/>
                      <a:tailEnd type="none" w="med" len="med"/>
                    </a:lnT>
                    <a:lnB w="12700" cap="flat" cmpd="sng" algn="ctr">
                      <a:solidFill>
                        <a:srgbClr val="B9BEBB"/>
                      </a:solidFill>
                      <a:prstDash val="solid"/>
                      <a:round/>
                      <a:headEnd type="none" w="med" len="med"/>
                      <a:tailEnd type="none" w="med" len="med"/>
                    </a:lnB>
                    <a:solidFill>
                      <a:srgbClr val="E8EEEA"/>
                    </a:solidFill>
                  </a:tcPr>
                </a:tc>
                <a:tc>
                  <a:txBody>
                    <a:bodyPr/>
                    <a:lstStyle/>
                    <a:p>
                      <a:pPr indent="0" marL="0">
                        <a:lnSpc>
                          <a:spcPts val="1960"/>
                        </a:lnSpc>
                        <a:buNone/>
                      </a:pPr>
                      <a:r>
                        <a:rPr lang="en-US" sz="1400" dirty="0">
                          <a:solidFill>
                            <a:srgbClr val="14262B"/>
                          </a:solidFill>
                          <a:latin typeface="Arial" pitchFamily="34" charset="0"/>
                          <a:ea typeface="Arial" pitchFamily="34" charset="-122"/>
                          <a:cs typeface="Arial" pitchFamily="34" charset="-120"/>
                        </a:rPr>
                        <a:t>Low odour</a:t>
                      </a:r>
                      <a:endParaRPr lang="en-US" sz="1400" dirty="0">
                        <a:latin typeface="Arial" charset="0"/>
                        <a:ea typeface="Arial" charset="0"/>
                        <a:cs typeface="Arial" charset="0"/>
                      </a:endParaRPr>
                    </a:p>
                  </a:txBody>
                  <a:tcPr marL="62230" marR="62230" marT="62230" marB="62230" anchor="t">
                    <a:lnL w="12700" cap="flat" cmpd="sng" algn="ctr">
                      <a:solidFill>
                        <a:srgbClr val="B9BEBB"/>
                      </a:solidFill>
                      <a:prstDash val="solid"/>
                      <a:round/>
                      <a:headEnd type="none" w="med" len="med"/>
                      <a:tailEnd type="none" w="med" len="med"/>
                    </a:lnL>
                    <a:lnR w="12700" cap="flat" cmpd="sng" algn="ctr">
                      <a:solidFill>
                        <a:srgbClr val="B9BEBB"/>
                      </a:solidFill>
                      <a:prstDash val="solid"/>
                      <a:round/>
                      <a:headEnd type="none" w="med" len="med"/>
                      <a:tailEnd type="none" w="med" len="med"/>
                    </a:lnR>
                    <a:lnT w="12700" cap="flat" cmpd="sng" algn="ctr">
                      <a:solidFill>
                        <a:srgbClr val="C7C8C6"/>
                      </a:solidFill>
                      <a:prstDash val="solid"/>
                      <a:round/>
                      <a:headEnd type="none" w="med" len="med"/>
                      <a:tailEnd type="none" w="med" len="med"/>
                    </a:lnT>
                    <a:lnB w="12700" cap="flat" cmpd="sng" algn="ctr">
                      <a:solidFill>
                        <a:srgbClr val="B9BEBB"/>
                      </a:solidFill>
                      <a:prstDash val="solid"/>
                      <a:round/>
                      <a:headEnd type="none" w="med" len="med"/>
                      <a:tailEnd type="none" w="med" len="med"/>
                    </a:lnB>
                    <a:solidFill>
                      <a:srgbClr val="E8EEEA"/>
                    </a:solidFill>
                  </a:tcPr>
                </a:tc>
                <a:tc>
                  <a:txBody>
                    <a:bodyPr/>
                    <a:lstStyle/>
                    <a:p>
                      <a:pPr indent="0" marL="0">
                        <a:lnSpc>
                          <a:spcPts val="1960"/>
                        </a:lnSpc>
                        <a:buNone/>
                      </a:pPr>
                      <a:r>
                        <a:rPr lang="en-US" sz="1400" dirty="0">
                          <a:solidFill>
                            <a:srgbClr val="14262B"/>
                          </a:solidFill>
                          <a:latin typeface="Arial" pitchFamily="34" charset="0"/>
                          <a:ea typeface="Arial" pitchFamily="34" charset="-122"/>
                          <a:cs typeface="Arial" pitchFamily="34" charset="-120"/>
                        </a:rPr>
                        <a:t>Needs ventilation</a:t>
                      </a:r>
                      <a:endParaRPr lang="en-US" sz="1400" dirty="0">
                        <a:latin typeface="Arial" charset="0"/>
                        <a:ea typeface="Arial" charset="0"/>
                        <a:cs typeface="Arial" charset="0"/>
                      </a:endParaRPr>
                    </a:p>
                  </a:txBody>
                  <a:tcPr marL="62230" marR="62230" marT="62230" marB="62230" anchor="t">
                    <a:lnL w="12700" cap="flat" cmpd="sng" algn="ctr">
                      <a:solidFill>
                        <a:srgbClr val="B9BEBB"/>
                      </a:solidFill>
                      <a:prstDash val="solid"/>
                      <a:round/>
                      <a:headEnd type="none" w="med" len="med"/>
                      <a:tailEnd type="none" w="med" len="med"/>
                    </a:lnL>
                    <a:lnR w="12700" cap="flat" cmpd="sng" algn="ctr">
                      <a:solidFill>
                        <a:srgbClr val="B9BEBB"/>
                      </a:solidFill>
                      <a:prstDash val="solid"/>
                      <a:round/>
                      <a:headEnd type="none" w="med" len="med"/>
                      <a:tailEnd type="none" w="med" len="med"/>
                    </a:lnR>
                    <a:lnT w="12700" cap="flat" cmpd="sng" algn="ctr">
                      <a:solidFill>
                        <a:srgbClr val="C7C8C6"/>
                      </a:solidFill>
                      <a:prstDash val="solid"/>
                      <a:round/>
                      <a:headEnd type="none" w="med" len="med"/>
                      <a:tailEnd type="none" w="med" len="med"/>
                    </a:lnT>
                    <a:lnB w="12700" cap="flat" cmpd="sng" algn="ctr">
                      <a:solidFill>
                        <a:srgbClr val="B9BEBB"/>
                      </a:solidFill>
                      <a:prstDash val="solid"/>
                      <a:round/>
                      <a:headEnd type="none" w="med" len="med"/>
                      <a:tailEnd type="none" w="med" len="med"/>
                    </a:lnB>
                    <a:solidFill>
                      <a:srgbClr val="E8EEEA"/>
                    </a:solidFill>
                  </a:tcPr>
                </a:tc>
              </a:tr>
              <a:tr h="383540">
                <a:tc>
                  <a:txBody>
                    <a:bodyPr/>
                    <a:lstStyle/>
                    <a:p>
                      <a:pPr indent="0" marL="0">
                        <a:lnSpc>
                          <a:spcPts val="1960"/>
                        </a:lnSpc>
                        <a:buNone/>
                      </a:pPr>
                      <a:r>
                        <a:rPr lang="en-US" sz="1400" dirty="0">
                          <a:solidFill>
                            <a:srgbClr val="14262B"/>
                          </a:solidFill>
                          <a:latin typeface="Arial" pitchFamily="34" charset="0"/>
                          <a:ea typeface="Arial" pitchFamily="34" charset="-122"/>
                          <a:cs typeface="Arial" pitchFamily="34" charset="-120"/>
                        </a:rPr>
                        <a:t>Fit for this fan</a:t>
                      </a:r>
                      <a:endParaRPr lang="en-US" sz="1400" dirty="0">
                        <a:latin typeface="Arial" charset="0"/>
                        <a:ea typeface="Arial" charset="0"/>
                        <a:cs typeface="Arial" charset="0"/>
                      </a:endParaRPr>
                    </a:p>
                  </a:txBody>
                  <a:tcPr marL="62230" marR="62230" marT="62230" marB="62230" anchor="t">
                    <a:lnL w="12700" cap="flat" cmpd="sng" algn="ctr">
                      <a:solidFill>
                        <a:srgbClr val="C2C4C0"/>
                      </a:solidFill>
                      <a:prstDash val="solid"/>
                      <a:round/>
                      <a:headEnd type="none" w="med" len="med"/>
                      <a:tailEnd type="none" w="med" len="med"/>
                    </a:lnL>
                    <a:lnR w="12700" cap="flat" cmpd="sng" algn="ctr">
                      <a:solidFill>
                        <a:srgbClr val="C7C8C6"/>
                      </a:solidFill>
                      <a:prstDash val="solid"/>
                      <a:round/>
                      <a:headEnd type="none" w="med" len="med"/>
                      <a:tailEnd type="none" w="med" len="med"/>
                    </a:lnR>
                    <a:lnT w="12700" cap="flat" cmpd="sng" algn="ctr">
                      <a:solidFill>
                        <a:srgbClr val="B9BEBB"/>
                      </a:solidFill>
                      <a:prstDash val="solid"/>
                      <a:round/>
                      <a:headEnd type="none" w="med" len="med"/>
                      <a:tailEnd type="none" w="med" len="med"/>
                    </a:lnT>
                    <a:lnB w="12700" cap="flat" cmpd="sng" algn="ctr">
                      <a:solidFill>
                        <a:srgbClr val="C7C8C6"/>
                      </a:solidFill>
                      <a:prstDash val="solid"/>
                      <a:round/>
                      <a:headEnd type="none" w="med" len="med"/>
                      <a:tailEnd type="none" w="med" len="med"/>
                    </a:lnB>
                    <a:solidFill>
                      <a:srgbClr val="FAFBF8"/>
                    </a:solidFill>
                  </a:tcPr>
                </a:tc>
                <a:tc>
                  <a:txBody>
                    <a:bodyPr/>
                    <a:lstStyle/>
                    <a:p>
                      <a:pPr indent="0" marL="0">
                        <a:lnSpc>
                          <a:spcPts val="1960"/>
                        </a:lnSpc>
                        <a:buNone/>
                      </a:pPr>
                      <a:r>
                        <a:rPr lang="en-US" sz="1400" dirty="0">
                          <a:solidFill>
                            <a:srgbClr val="14262B"/>
                          </a:solidFill>
                          <a:latin typeface="Arial" pitchFamily="34" charset="0"/>
                          <a:ea typeface="Arial" pitchFamily="34" charset="-122"/>
                          <a:cs typeface="Arial" pitchFamily="34" charset="-120"/>
                        </a:rPr>
                        <a:t>Good for prototypes</a:t>
                      </a:r>
                      <a:endParaRPr lang="en-US" sz="1400" dirty="0">
                        <a:latin typeface="Arial" charset="0"/>
                        <a:ea typeface="Arial" charset="0"/>
                        <a:cs typeface="Arial" charset="0"/>
                      </a:endParaRPr>
                    </a:p>
                  </a:txBody>
                  <a:tcPr marL="62230" marR="62230" marT="62230" marB="62230" anchor="t">
                    <a:lnL w="12700" cap="flat" cmpd="sng" algn="ctr">
                      <a:solidFill>
                        <a:srgbClr val="C7C8C6"/>
                      </a:solidFill>
                      <a:prstDash val="solid"/>
                      <a:round/>
                      <a:headEnd type="none" w="med" len="med"/>
                      <a:tailEnd type="none" w="med" len="med"/>
                    </a:lnL>
                    <a:lnR w="12700" cap="flat" cmpd="sng" algn="ctr">
                      <a:solidFill>
                        <a:srgbClr val="C7C8C6"/>
                      </a:solidFill>
                      <a:prstDash val="solid"/>
                      <a:round/>
                      <a:headEnd type="none" w="med" len="med"/>
                      <a:tailEnd type="none" w="med" len="med"/>
                    </a:lnR>
                    <a:lnT w="12700" cap="flat" cmpd="sng" algn="ctr">
                      <a:solidFill>
                        <a:srgbClr val="B9BEBB"/>
                      </a:solidFill>
                      <a:prstDash val="solid"/>
                      <a:round/>
                      <a:headEnd type="none" w="med" len="med"/>
                      <a:tailEnd type="none" w="med" len="med"/>
                    </a:lnT>
                    <a:lnB w="12700" cap="flat" cmpd="sng" algn="ctr">
                      <a:solidFill>
                        <a:srgbClr val="C7C8C6"/>
                      </a:solidFill>
                      <a:prstDash val="solid"/>
                      <a:round/>
                      <a:headEnd type="none" w="med" len="med"/>
                      <a:tailEnd type="none" w="med" len="med"/>
                    </a:lnB>
                    <a:solidFill>
                      <a:srgbClr val="FAFBF8"/>
                    </a:solidFill>
                  </a:tcPr>
                </a:tc>
                <a:tc>
                  <a:txBody>
                    <a:bodyPr/>
                    <a:lstStyle/>
                    <a:p>
                      <a:pPr indent="0" marL="0">
                        <a:lnSpc>
                          <a:spcPts val="1960"/>
                        </a:lnSpc>
                        <a:buNone/>
                      </a:pPr>
                      <a:r>
                        <a:rPr lang="en-US" sz="1400" dirty="0">
                          <a:solidFill>
                            <a:srgbClr val="14262B"/>
                          </a:solidFill>
                          <a:latin typeface="Arial" pitchFamily="34" charset="0"/>
                          <a:ea typeface="Arial" pitchFamily="34" charset="-122"/>
                          <a:cs typeface="Arial" pitchFamily="34" charset="-120"/>
                        </a:rPr>
                        <a:t>Best for durability</a:t>
                      </a:r>
                      <a:endParaRPr lang="en-US" sz="1400" dirty="0">
                        <a:latin typeface="Arial" charset="0"/>
                        <a:ea typeface="Arial" charset="0"/>
                        <a:cs typeface="Arial" charset="0"/>
                      </a:endParaRPr>
                    </a:p>
                  </a:txBody>
                  <a:tcPr marL="62230" marR="62230" marT="62230" marB="62230" anchor="t">
                    <a:lnL w="12700" cap="flat" cmpd="sng" algn="ctr">
                      <a:solidFill>
                        <a:srgbClr val="C7C8C6"/>
                      </a:solidFill>
                      <a:prstDash val="solid"/>
                      <a:round/>
                      <a:headEnd type="none" w="med" len="med"/>
                      <a:tailEnd type="none" w="med" len="med"/>
                    </a:lnL>
                    <a:lnR w="12700" cap="flat" cmpd="sng" algn="ctr">
                      <a:solidFill>
                        <a:srgbClr val="C7C8C6"/>
                      </a:solidFill>
                      <a:prstDash val="solid"/>
                      <a:round/>
                      <a:headEnd type="none" w="med" len="med"/>
                      <a:tailEnd type="none" w="med" len="med"/>
                    </a:lnR>
                    <a:lnT w="12700" cap="flat" cmpd="sng" algn="ctr">
                      <a:solidFill>
                        <a:srgbClr val="B9BEBB"/>
                      </a:solidFill>
                      <a:prstDash val="solid"/>
                      <a:round/>
                      <a:headEnd type="none" w="med" len="med"/>
                      <a:tailEnd type="none" w="med" len="med"/>
                    </a:lnT>
                    <a:lnB w="12700" cap="flat" cmpd="sng" algn="ctr">
                      <a:solidFill>
                        <a:srgbClr val="C7C8C6"/>
                      </a:solidFill>
                      <a:prstDash val="solid"/>
                      <a:round/>
                      <a:headEnd type="none" w="med" len="med"/>
                      <a:tailEnd type="none" w="med" len="med"/>
                    </a:lnB>
                    <a:solidFill>
                      <a:srgbClr val="FAFBF8"/>
                    </a:solidFill>
                  </a:tcPr>
                </a:tc>
                <a:tc>
                  <a:txBody>
                    <a:bodyPr/>
                    <a:lstStyle/>
                    <a:p>
                      <a:pPr indent="0" marL="0">
                        <a:lnSpc>
                          <a:spcPts val="1960"/>
                        </a:lnSpc>
                        <a:buNone/>
                      </a:pPr>
                      <a:r>
                        <a:rPr lang="en-US" sz="1400" dirty="0">
                          <a:solidFill>
                            <a:srgbClr val="14262B"/>
                          </a:solidFill>
                          <a:latin typeface="Arial" pitchFamily="34" charset="0"/>
                          <a:ea typeface="Arial" pitchFamily="34" charset="-122"/>
                          <a:cs typeface="Arial" pitchFamily="34" charset="-120"/>
                        </a:rPr>
                        <a:t>Not preferred</a:t>
                      </a:r>
                      <a:endParaRPr lang="en-US" sz="1400" dirty="0">
                        <a:latin typeface="Arial" charset="0"/>
                        <a:ea typeface="Arial" charset="0"/>
                        <a:cs typeface="Arial" charset="0"/>
                      </a:endParaRPr>
                    </a:p>
                  </a:txBody>
                  <a:tcPr marL="62230" marR="62230" marT="62230" marB="62230" anchor="t">
                    <a:lnL w="12700" cap="flat" cmpd="sng" algn="ctr">
                      <a:solidFill>
                        <a:srgbClr val="C7C8C6"/>
                      </a:solidFill>
                      <a:prstDash val="solid"/>
                      <a:round/>
                      <a:headEnd type="none" w="med" len="med"/>
                      <a:tailEnd type="none" w="med" len="med"/>
                    </a:lnL>
                    <a:lnR w="12700" cap="flat" cmpd="sng" algn="ctr">
                      <a:solidFill>
                        <a:srgbClr val="C7C8C6"/>
                      </a:solidFill>
                      <a:prstDash val="solid"/>
                      <a:round/>
                      <a:headEnd type="none" w="med" len="med"/>
                      <a:tailEnd type="none" w="med" len="med"/>
                    </a:lnR>
                    <a:lnT w="12700" cap="flat" cmpd="sng" algn="ctr">
                      <a:solidFill>
                        <a:srgbClr val="B9BEBB"/>
                      </a:solidFill>
                      <a:prstDash val="solid"/>
                      <a:round/>
                      <a:headEnd type="none" w="med" len="med"/>
                      <a:tailEnd type="none" w="med" len="med"/>
                    </a:lnT>
                    <a:lnB w="12700" cap="flat" cmpd="sng" algn="ctr">
                      <a:solidFill>
                        <a:srgbClr val="C7C8C6"/>
                      </a:solidFill>
                      <a:prstDash val="solid"/>
                      <a:round/>
                      <a:headEnd type="none" w="med" len="med"/>
                      <a:tailEnd type="none" w="med" len="med"/>
                    </a:lnB>
                    <a:solidFill>
                      <a:srgbClr val="FAFBF8"/>
                    </a:solidFill>
                  </a:tcPr>
                </a:tc>
              </a:tr>
            </a:tbl>
          </a:graphicData>
        </a:graphic>
      </p:graphicFrame>
      <p:sp>
        <p:nvSpPr>
          <p:cNvPr id="5" name="Text 2"/>
          <p:cNvSpPr/>
          <p:nvPr/>
        </p:nvSpPr>
        <p:spPr>
          <a:xfrm>
            <a:off x="812800" y="4368800"/>
            <a:ext cx="10566400" cy="673100"/>
          </a:xfrm>
          <a:prstGeom prst="roundRect">
            <a:avLst>
              <a:gd name="adj" fmla="val 15094"/>
            </a:avLst>
          </a:prstGeom>
          <a:solidFill>
            <a:srgbClr val="0B7A75"/>
          </a:solidFill>
          <a:ln/>
        </p:spPr>
        <p:txBody>
          <a:bodyPr wrap="square" lIns="224242" tIns="173442" rIns="0" bIns="148042" rtlCol="0" anchor="t">
            <a:normAutofit/>
          </a:bodyPr>
          <a:lstStyle/>
          <a:p>
            <a:pPr algn="l" indent="0" marL="0">
              <a:lnSpc>
                <a:spcPts val="2100"/>
              </a:lnSpc>
              <a:buNone/>
            </a:pPr>
            <a:r>
              <a:rPr lang="en-US" sz="1500" dirty="0">
                <a:solidFill>
                  <a:srgbClr val="F3F5F1"/>
                </a:solidFill>
                <a:latin typeface="Arial" pitchFamily="34" charset="0"/>
                <a:ea typeface="Arial" pitchFamily="34" charset="-122"/>
                <a:cs typeface="Arial" pitchFamily="34" charset="-120"/>
              </a:rPr>
              <a:t>Selected: [PLA / PETG], because [your reason]. Update this to match your build.</a:t>
            </a:r>
            <a:endParaRPr lang="en-US" sz="1500" dirty="0"/>
          </a:p>
        </p:txBody>
      </p:sp>
      <p:sp>
        <p:nvSpPr>
          <p:cNvPr id="6" name="Text 3"/>
          <p:cNvSpPr/>
          <p:nvPr/>
        </p:nvSpPr>
        <p:spPr>
          <a:xfrm>
            <a:off x="812800" y="6238242"/>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B5F63"/>
                </a:solidFill>
                <a:latin typeface="Arial" pitchFamily="34" charset="0"/>
                <a:ea typeface="Arial" pitchFamily="34" charset="-122"/>
                <a:cs typeface="Arial" pitchFamily="34" charset="-120"/>
              </a:rPr>
              <a:t>Handheld 3D Printed Fan · Manufacturing Technology</a:t>
            </a:r>
            <a:endParaRPr lang="en-US" sz="1200" dirty="0"/>
          </a:p>
        </p:txBody>
      </p:sp>
      <p:sp>
        <p:nvSpPr>
          <p:cNvPr id="7" name="Text 4"/>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B5F63"/>
                </a:solidFill>
                <a:latin typeface="Arial" pitchFamily="34" charset="0"/>
                <a:ea typeface="Arial" pitchFamily="34" charset="-122"/>
                <a:cs typeface="Arial"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2229"/>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4FC9BF"/>
                </a:solidFill>
                <a:latin typeface="Arial" pitchFamily="34" charset="0"/>
                <a:ea typeface="Arial" pitchFamily="34" charset="-122"/>
                <a:cs typeface="Arial" pitchFamily="34" charset="-120"/>
              </a:rPr>
              <a:t>04 · MANUFACTURING PROCESS</a:t>
            </a:r>
            <a:endParaRPr lang="en-US" sz="1200" dirty="0"/>
          </a:p>
        </p:txBody>
      </p:sp>
      <p:sp>
        <p:nvSpPr>
          <p:cNvPr id="3" name="Text 1"/>
          <p:cNvSpPr/>
          <p:nvPr>
            <p:ph type="title"/>
          </p:nvPr>
        </p:nvSpPr>
        <p:spPr>
          <a:xfrm>
            <a:off x="812800" y="11023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EAF2EF"/>
                </a:solidFill>
                <a:latin typeface="Arial" pitchFamily="34" charset="0"/>
                <a:ea typeface="Arial" pitchFamily="34" charset="-122"/>
                <a:cs typeface="Arial" pitchFamily="34" charset="-120"/>
              </a:rPr>
              <a:t>From CAD to finished fan</a:t>
            </a:r>
            <a:endParaRPr lang="en-US" sz="3200" dirty="0"/>
          </a:p>
        </p:txBody>
      </p:sp>
      <p:sp>
        <p:nvSpPr>
          <p:cNvPr id="4" name="Shape 2"/>
          <p:cNvSpPr/>
          <p:nvPr/>
        </p:nvSpPr>
        <p:spPr>
          <a:xfrm>
            <a:off x="812800" y="1927864"/>
            <a:ext cx="3149600" cy="1386840"/>
          </a:xfrm>
          <a:prstGeom prst="roundRect">
            <a:avLst>
              <a:gd name="adj" fmla="val 7326"/>
            </a:avLst>
          </a:prstGeom>
          <a:solidFill>
            <a:srgbClr val="1A3640"/>
          </a:solidFill>
          <a:ln/>
        </p:spPr>
      </p:sp>
      <p:sp>
        <p:nvSpPr>
          <p:cNvPr id="5" name="Text 3"/>
          <p:cNvSpPr/>
          <p:nvPr/>
        </p:nvSpPr>
        <p:spPr>
          <a:xfrm>
            <a:off x="1016000" y="2131064"/>
            <a:ext cx="2825496"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F8F5E"/>
                </a:solidFill>
                <a:latin typeface="Arial" pitchFamily="34" charset="0"/>
                <a:ea typeface="Arial" pitchFamily="34" charset="-122"/>
                <a:cs typeface="Arial" pitchFamily="34" charset="-120"/>
              </a:rPr>
              <a:t>01</a:t>
            </a:r>
            <a:endParaRPr lang="en-US" sz="2000" dirty="0"/>
          </a:p>
        </p:txBody>
      </p:sp>
      <p:sp>
        <p:nvSpPr>
          <p:cNvPr id="6" name="Text 4"/>
          <p:cNvSpPr/>
          <p:nvPr/>
        </p:nvSpPr>
        <p:spPr>
          <a:xfrm>
            <a:off x="1016000" y="2537464"/>
            <a:ext cx="2825496"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EAF2EF"/>
                </a:solidFill>
                <a:latin typeface="Arial" pitchFamily="34" charset="0"/>
                <a:ea typeface="Arial" pitchFamily="34" charset="-122"/>
                <a:cs typeface="Arial" pitchFamily="34" charset="-120"/>
              </a:rPr>
              <a:t>CAD modelling</a:t>
            </a:r>
            <a:endParaRPr lang="en-US" sz="1800" dirty="0"/>
          </a:p>
        </p:txBody>
      </p:sp>
      <p:sp>
        <p:nvSpPr>
          <p:cNvPr id="7" name="Text 5"/>
          <p:cNvSpPr/>
          <p:nvPr/>
        </p:nvSpPr>
        <p:spPr>
          <a:xfrm>
            <a:off x="1016000" y="2862579"/>
            <a:ext cx="294640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FB8B4"/>
                </a:solidFill>
                <a:latin typeface="Arial" pitchFamily="34" charset="0"/>
                <a:ea typeface="Arial" pitchFamily="34" charset="-122"/>
                <a:cs typeface="Arial" pitchFamily="34" charset="-120"/>
              </a:rPr>
              <a:t>Parts modelled and checked for fit.</a:t>
            </a:r>
            <a:endParaRPr lang="en-US" sz="1400" dirty="0"/>
          </a:p>
        </p:txBody>
      </p:sp>
      <p:pic>
        <p:nvPicPr>
          <p:cNvPr id="8" name="Image 0" descr="arrow-right">    </p:cNvPr>
          <p:cNvPicPr>
            <a:picLocks noChangeAspect="1"/>
          </p:cNvPicPr>
          <p:nvPr/>
        </p:nvPicPr>
        <p:blipFill>
          <a:blip r:embed="rId1"/>
          <a:srcRect l="0" r="0" t="0" b="0"/>
          <a:stretch/>
        </p:blipFill>
        <p:spPr>
          <a:xfrm>
            <a:off x="4064000" y="2532379"/>
            <a:ext cx="355600" cy="177800"/>
          </a:xfrm>
          <a:prstGeom prst="rect">
            <a:avLst/>
          </a:prstGeom>
        </p:spPr>
      </p:pic>
      <p:sp>
        <p:nvSpPr>
          <p:cNvPr id="9" name="Shape 6"/>
          <p:cNvSpPr/>
          <p:nvPr/>
        </p:nvSpPr>
        <p:spPr>
          <a:xfrm>
            <a:off x="4521200" y="1803400"/>
            <a:ext cx="3149600" cy="1635760"/>
          </a:xfrm>
          <a:prstGeom prst="roundRect">
            <a:avLst>
              <a:gd name="adj" fmla="val 6211"/>
            </a:avLst>
          </a:prstGeom>
          <a:solidFill>
            <a:srgbClr val="1A3640"/>
          </a:solidFill>
          <a:ln/>
        </p:spPr>
      </p:sp>
      <p:sp>
        <p:nvSpPr>
          <p:cNvPr id="10" name="Text 7"/>
          <p:cNvSpPr/>
          <p:nvPr/>
        </p:nvSpPr>
        <p:spPr>
          <a:xfrm>
            <a:off x="4724400" y="2006600"/>
            <a:ext cx="2825496"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F8F5E"/>
                </a:solidFill>
                <a:latin typeface="Arial" pitchFamily="34" charset="0"/>
                <a:ea typeface="Arial" pitchFamily="34" charset="-122"/>
                <a:cs typeface="Arial" pitchFamily="34" charset="-120"/>
              </a:rPr>
              <a:t>02</a:t>
            </a:r>
            <a:endParaRPr lang="en-US" sz="2000" dirty="0"/>
          </a:p>
        </p:txBody>
      </p:sp>
      <p:sp>
        <p:nvSpPr>
          <p:cNvPr id="11" name="Text 8"/>
          <p:cNvSpPr/>
          <p:nvPr/>
        </p:nvSpPr>
        <p:spPr>
          <a:xfrm>
            <a:off x="4724400" y="2413000"/>
            <a:ext cx="2825496"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EAF2EF"/>
                </a:solidFill>
                <a:latin typeface="Arial" pitchFamily="34" charset="0"/>
                <a:ea typeface="Arial" pitchFamily="34" charset="-122"/>
                <a:cs typeface="Arial" pitchFamily="34" charset="-120"/>
              </a:rPr>
              <a:t>STL export</a:t>
            </a:r>
            <a:endParaRPr lang="en-US" sz="1800" dirty="0"/>
          </a:p>
        </p:txBody>
      </p:sp>
      <p:sp>
        <p:nvSpPr>
          <p:cNvPr id="12" name="Text 9"/>
          <p:cNvSpPr/>
          <p:nvPr/>
        </p:nvSpPr>
        <p:spPr>
          <a:xfrm>
            <a:off x="4724400" y="2738121"/>
            <a:ext cx="282549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FB8B4"/>
                </a:solidFill>
                <a:latin typeface="Arial" pitchFamily="34" charset="0"/>
                <a:ea typeface="Arial" pitchFamily="34" charset="-122"/>
                <a:cs typeface="Arial" pitchFamily="34" charset="-120"/>
              </a:rPr>
              <a:t>Mesh checked and oriented for printing.</a:t>
            </a:r>
            <a:endParaRPr lang="en-US" sz="1400" dirty="0"/>
          </a:p>
        </p:txBody>
      </p:sp>
      <p:pic>
        <p:nvPicPr>
          <p:cNvPr id="13" name="Image 1" descr="arrow-right">    </p:cNvPr>
          <p:cNvPicPr>
            <a:picLocks noChangeAspect="1"/>
          </p:cNvPicPr>
          <p:nvPr/>
        </p:nvPicPr>
        <p:blipFill>
          <a:blip r:embed="rId2"/>
          <a:srcRect l="0" r="0" t="0" b="0"/>
          <a:stretch/>
        </p:blipFill>
        <p:spPr>
          <a:xfrm>
            <a:off x="7772400" y="2532379"/>
            <a:ext cx="355600" cy="177800"/>
          </a:xfrm>
          <a:prstGeom prst="rect">
            <a:avLst/>
          </a:prstGeom>
        </p:spPr>
      </p:pic>
      <p:sp>
        <p:nvSpPr>
          <p:cNvPr id="14" name="Shape 10"/>
          <p:cNvSpPr/>
          <p:nvPr/>
        </p:nvSpPr>
        <p:spPr>
          <a:xfrm>
            <a:off x="8229600" y="1803400"/>
            <a:ext cx="3149600" cy="1635760"/>
          </a:xfrm>
          <a:prstGeom prst="roundRect">
            <a:avLst>
              <a:gd name="adj" fmla="val 6211"/>
            </a:avLst>
          </a:prstGeom>
          <a:solidFill>
            <a:srgbClr val="1A3640"/>
          </a:solidFill>
          <a:ln/>
        </p:spPr>
      </p:sp>
      <p:sp>
        <p:nvSpPr>
          <p:cNvPr id="15" name="Text 11"/>
          <p:cNvSpPr/>
          <p:nvPr/>
        </p:nvSpPr>
        <p:spPr>
          <a:xfrm>
            <a:off x="8432800" y="2006600"/>
            <a:ext cx="2825496"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F8F5E"/>
                </a:solidFill>
                <a:latin typeface="Arial" pitchFamily="34" charset="0"/>
                <a:ea typeface="Arial" pitchFamily="34" charset="-122"/>
                <a:cs typeface="Arial" pitchFamily="34" charset="-120"/>
              </a:rPr>
              <a:t>03</a:t>
            </a:r>
            <a:endParaRPr lang="en-US" sz="2000" dirty="0"/>
          </a:p>
        </p:txBody>
      </p:sp>
      <p:sp>
        <p:nvSpPr>
          <p:cNvPr id="16" name="Text 12"/>
          <p:cNvSpPr/>
          <p:nvPr/>
        </p:nvSpPr>
        <p:spPr>
          <a:xfrm>
            <a:off x="8432800" y="2413000"/>
            <a:ext cx="2825496"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EAF2EF"/>
                </a:solidFill>
                <a:latin typeface="Arial" pitchFamily="34" charset="0"/>
                <a:ea typeface="Arial" pitchFamily="34" charset="-122"/>
                <a:cs typeface="Arial" pitchFamily="34" charset="-120"/>
              </a:rPr>
              <a:t>Slicing</a:t>
            </a:r>
            <a:endParaRPr lang="en-US" sz="1800" dirty="0"/>
          </a:p>
        </p:txBody>
      </p:sp>
      <p:sp>
        <p:nvSpPr>
          <p:cNvPr id="17" name="Text 13"/>
          <p:cNvSpPr/>
          <p:nvPr/>
        </p:nvSpPr>
        <p:spPr>
          <a:xfrm>
            <a:off x="8432800" y="2738121"/>
            <a:ext cx="282549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FB8B4"/>
                </a:solidFill>
                <a:latin typeface="Arial" pitchFamily="34" charset="0"/>
                <a:ea typeface="Arial" pitchFamily="34" charset="-122"/>
                <a:cs typeface="Arial" pitchFamily="34" charset="-120"/>
              </a:rPr>
              <a:t>Layer height, infill and supports set.</a:t>
            </a:r>
            <a:endParaRPr lang="en-US" sz="1400" dirty="0"/>
          </a:p>
        </p:txBody>
      </p:sp>
      <p:sp>
        <p:nvSpPr>
          <p:cNvPr id="18" name="Shape 14"/>
          <p:cNvSpPr/>
          <p:nvPr/>
        </p:nvSpPr>
        <p:spPr>
          <a:xfrm>
            <a:off x="812800" y="3693164"/>
            <a:ext cx="3149600" cy="1635760"/>
          </a:xfrm>
          <a:prstGeom prst="roundRect">
            <a:avLst>
              <a:gd name="adj" fmla="val 6211"/>
            </a:avLst>
          </a:prstGeom>
          <a:solidFill>
            <a:srgbClr val="1A3640"/>
          </a:solidFill>
          <a:ln/>
        </p:spPr>
      </p:sp>
      <p:sp>
        <p:nvSpPr>
          <p:cNvPr id="19" name="Text 15"/>
          <p:cNvSpPr/>
          <p:nvPr/>
        </p:nvSpPr>
        <p:spPr>
          <a:xfrm>
            <a:off x="1016000" y="3896364"/>
            <a:ext cx="2825496"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F8F5E"/>
                </a:solidFill>
                <a:latin typeface="Arial" pitchFamily="34" charset="0"/>
                <a:ea typeface="Arial" pitchFamily="34" charset="-122"/>
                <a:cs typeface="Arial" pitchFamily="34" charset="-120"/>
              </a:rPr>
              <a:t>04</a:t>
            </a:r>
            <a:endParaRPr lang="en-US" sz="2000" dirty="0"/>
          </a:p>
        </p:txBody>
      </p:sp>
      <p:sp>
        <p:nvSpPr>
          <p:cNvPr id="20" name="Text 16"/>
          <p:cNvSpPr/>
          <p:nvPr/>
        </p:nvSpPr>
        <p:spPr>
          <a:xfrm>
            <a:off x="1016000" y="4302764"/>
            <a:ext cx="2825496"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EAF2EF"/>
                </a:solidFill>
                <a:latin typeface="Arial" pitchFamily="34" charset="0"/>
                <a:ea typeface="Arial" pitchFamily="34" charset="-122"/>
                <a:cs typeface="Arial" pitchFamily="34" charset="-120"/>
              </a:rPr>
              <a:t>FDM printing</a:t>
            </a:r>
            <a:endParaRPr lang="en-US" sz="1800" dirty="0"/>
          </a:p>
        </p:txBody>
      </p:sp>
      <p:sp>
        <p:nvSpPr>
          <p:cNvPr id="21" name="Text 17"/>
          <p:cNvSpPr/>
          <p:nvPr/>
        </p:nvSpPr>
        <p:spPr>
          <a:xfrm>
            <a:off x="1016000" y="4627879"/>
            <a:ext cx="282549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FB8B4"/>
                </a:solidFill>
                <a:latin typeface="Arial" pitchFamily="34" charset="0"/>
                <a:ea typeface="Arial" pitchFamily="34" charset="-122"/>
                <a:cs typeface="Arial" pitchFamily="34" charset="-120"/>
              </a:rPr>
              <a:t>Parts printed in the chosen filament.</a:t>
            </a:r>
            <a:endParaRPr lang="en-US" sz="1400" dirty="0"/>
          </a:p>
        </p:txBody>
      </p:sp>
      <p:pic>
        <p:nvPicPr>
          <p:cNvPr id="22" name="Image 2" descr="arrow-right">    </p:cNvPr>
          <p:cNvPicPr>
            <a:picLocks noChangeAspect="1"/>
          </p:cNvPicPr>
          <p:nvPr/>
        </p:nvPicPr>
        <p:blipFill>
          <a:blip r:embed="rId3"/>
          <a:srcRect l="0" r="0" t="0" b="0"/>
          <a:stretch/>
        </p:blipFill>
        <p:spPr>
          <a:xfrm>
            <a:off x="4064000" y="4422142"/>
            <a:ext cx="355600" cy="177800"/>
          </a:xfrm>
          <a:prstGeom prst="rect">
            <a:avLst/>
          </a:prstGeom>
        </p:spPr>
      </p:pic>
      <p:sp>
        <p:nvSpPr>
          <p:cNvPr id="23" name="Shape 18"/>
          <p:cNvSpPr/>
          <p:nvPr/>
        </p:nvSpPr>
        <p:spPr>
          <a:xfrm>
            <a:off x="4521200" y="3693164"/>
            <a:ext cx="3149600" cy="1635760"/>
          </a:xfrm>
          <a:prstGeom prst="roundRect">
            <a:avLst>
              <a:gd name="adj" fmla="val 6211"/>
            </a:avLst>
          </a:prstGeom>
          <a:solidFill>
            <a:srgbClr val="1A3640"/>
          </a:solidFill>
          <a:ln/>
        </p:spPr>
      </p:sp>
      <p:sp>
        <p:nvSpPr>
          <p:cNvPr id="24" name="Text 19"/>
          <p:cNvSpPr/>
          <p:nvPr/>
        </p:nvSpPr>
        <p:spPr>
          <a:xfrm>
            <a:off x="4724400" y="3896364"/>
            <a:ext cx="2825496"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F8F5E"/>
                </a:solidFill>
                <a:latin typeface="Arial" pitchFamily="34" charset="0"/>
                <a:ea typeface="Arial" pitchFamily="34" charset="-122"/>
                <a:cs typeface="Arial" pitchFamily="34" charset="-120"/>
              </a:rPr>
              <a:t>05</a:t>
            </a:r>
            <a:endParaRPr lang="en-US" sz="2000" dirty="0"/>
          </a:p>
        </p:txBody>
      </p:sp>
      <p:sp>
        <p:nvSpPr>
          <p:cNvPr id="25" name="Text 20"/>
          <p:cNvSpPr/>
          <p:nvPr/>
        </p:nvSpPr>
        <p:spPr>
          <a:xfrm>
            <a:off x="4724400" y="4302764"/>
            <a:ext cx="2825496"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EAF2EF"/>
                </a:solidFill>
                <a:latin typeface="Arial" pitchFamily="34" charset="0"/>
                <a:ea typeface="Arial" pitchFamily="34" charset="-122"/>
                <a:cs typeface="Arial" pitchFamily="34" charset="-120"/>
              </a:rPr>
              <a:t>Finishing</a:t>
            </a:r>
            <a:endParaRPr lang="en-US" sz="1800" dirty="0"/>
          </a:p>
        </p:txBody>
      </p:sp>
      <p:sp>
        <p:nvSpPr>
          <p:cNvPr id="26" name="Text 21"/>
          <p:cNvSpPr/>
          <p:nvPr/>
        </p:nvSpPr>
        <p:spPr>
          <a:xfrm>
            <a:off x="4724400" y="4627879"/>
            <a:ext cx="282549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FB8B4"/>
                </a:solidFill>
                <a:latin typeface="Arial" pitchFamily="34" charset="0"/>
                <a:ea typeface="Arial" pitchFamily="34" charset="-122"/>
                <a:cs typeface="Arial" pitchFamily="34" charset="-120"/>
              </a:rPr>
              <a:t>Supports removed, edges sanded, blades balanced.</a:t>
            </a:r>
            <a:endParaRPr lang="en-US" sz="1400" dirty="0"/>
          </a:p>
        </p:txBody>
      </p:sp>
      <p:pic>
        <p:nvPicPr>
          <p:cNvPr id="27" name="Image 3" descr="arrow-right">    </p:cNvPr>
          <p:cNvPicPr>
            <a:picLocks noChangeAspect="1"/>
          </p:cNvPicPr>
          <p:nvPr/>
        </p:nvPicPr>
        <p:blipFill>
          <a:blip r:embed="rId4"/>
          <a:srcRect l="0" r="0" t="0" b="0"/>
          <a:stretch/>
        </p:blipFill>
        <p:spPr>
          <a:xfrm>
            <a:off x="7772400" y="4422142"/>
            <a:ext cx="355600" cy="177800"/>
          </a:xfrm>
          <a:prstGeom prst="rect">
            <a:avLst/>
          </a:prstGeom>
        </p:spPr>
      </p:pic>
      <p:sp>
        <p:nvSpPr>
          <p:cNvPr id="28" name="Shape 22"/>
          <p:cNvSpPr/>
          <p:nvPr/>
        </p:nvSpPr>
        <p:spPr>
          <a:xfrm>
            <a:off x="8229600" y="3693164"/>
            <a:ext cx="3149600" cy="1635760"/>
          </a:xfrm>
          <a:prstGeom prst="roundRect">
            <a:avLst>
              <a:gd name="adj" fmla="val 6211"/>
            </a:avLst>
          </a:prstGeom>
          <a:solidFill>
            <a:srgbClr val="1A3640"/>
          </a:solidFill>
          <a:ln/>
        </p:spPr>
      </p:sp>
      <p:sp>
        <p:nvSpPr>
          <p:cNvPr id="29" name="Text 23"/>
          <p:cNvSpPr/>
          <p:nvPr/>
        </p:nvSpPr>
        <p:spPr>
          <a:xfrm>
            <a:off x="8432800" y="3896364"/>
            <a:ext cx="2825496"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F8F5E"/>
                </a:solidFill>
                <a:latin typeface="Arial" pitchFamily="34" charset="0"/>
                <a:ea typeface="Arial" pitchFamily="34" charset="-122"/>
                <a:cs typeface="Arial" pitchFamily="34" charset="-120"/>
              </a:rPr>
              <a:t>06</a:t>
            </a:r>
            <a:endParaRPr lang="en-US" sz="2000" dirty="0"/>
          </a:p>
        </p:txBody>
      </p:sp>
      <p:sp>
        <p:nvSpPr>
          <p:cNvPr id="30" name="Text 24"/>
          <p:cNvSpPr/>
          <p:nvPr/>
        </p:nvSpPr>
        <p:spPr>
          <a:xfrm>
            <a:off x="8432800" y="4302764"/>
            <a:ext cx="2825496"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EAF2EF"/>
                </a:solidFill>
                <a:latin typeface="Arial" pitchFamily="34" charset="0"/>
                <a:ea typeface="Arial" pitchFamily="34" charset="-122"/>
                <a:cs typeface="Arial" pitchFamily="34" charset="-120"/>
              </a:rPr>
              <a:t>Assembly and test</a:t>
            </a:r>
            <a:endParaRPr lang="en-US" sz="1800" dirty="0"/>
          </a:p>
        </p:txBody>
      </p:sp>
      <p:sp>
        <p:nvSpPr>
          <p:cNvPr id="31" name="Text 25"/>
          <p:cNvSpPr/>
          <p:nvPr/>
        </p:nvSpPr>
        <p:spPr>
          <a:xfrm>
            <a:off x="8432800" y="4627879"/>
            <a:ext cx="282549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FB8B4"/>
                </a:solidFill>
                <a:latin typeface="Arial" pitchFamily="34" charset="0"/>
                <a:ea typeface="Arial" pitchFamily="34" charset="-122"/>
                <a:cs typeface="Arial" pitchFamily="34" charset="-120"/>
              </a:rPr>
              <a:t>Motor, cell and switch fitted, then tested.</a:t>
            </a:r>
            <a:endParaRPr lang="en-US" sz="1400" dirty="0"/>
          </a:p>
        </p:txBody>
      </p:sp>
      <p:sp>
        <p:nvSpPr>
          <p:cNvPr id="32" name="Text 26"/>
          <p:cNvSpPr/>
          <p:nvPr/>
        </p:nvSpPr>
        <p:spPr>
          <a:xfrm>
            <a:off x="812800" y="6238242"/>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8B4"/>
                </a:solidFill>
                <a:latin typeface="Arial" pitchFamily="34" charset="0"/>
                <a:ea typeface="Arial" pitchFamily="34" charset="-122"/>
                <a:cs typeface="Arial" pitchFamily="34" charset="-120"/>
              </a:rPr>
              <a:t>Handheld 3D Printed Fan · Manufacturing Technology</a:t>
            </a:r>
            <a:endParaRPr lang="en-US" sz="1200" dirty="0"/>
          </a:p>
        </p:txBody>
      </p:sp>
      <p:sp>
        <p:nvSpPr>
          <p:cNvPr id="33" name="Text 27"/>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FB8B4"/>
                </a:solidFill>
                <a:latin typeface="Arial" pitchFamily="34" charset="0"/>
                <a:ea typeface="Arial" pitchFamily="34" charset="-122"/>
                <a:cs typeface="Arial"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B7A75"/>
                </a:solidFill>
                <a:latin typeface="Arial" pitchFamily="34" charset="0"/>
                <a:ea typeface="Arial" pitchFamily="34" charset="-122"/>
                <a:cs typeface="Arial" pitchFamily="34" charset="-120"/>
              </a:rPr>
              <a:t>04 · PRINTING PARAMETERS</a:t>
            </a:r>
            <a:endParaRPr lang="en-US" sz="1200" dirty="0"/>
          </a:p>
        </p:txBody>
      </p:sp>
      <p:sp>
        <p:nvSpPr>
          <p:cNvPr id="3" name="Text 1"/>
          <p:cNvSpPr/>
          <p:nvPr>
            <p:ph type="title"/>
          </p:nvPr>
        </p:nvSpPr>
        <p:spPr>
          <a:xfrm>
            <a:off x="812800" y="11023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62B"/>
                </a:solidFill>
                <a:latin typeface="Arial" pitchFamily="34" charset="0"/>
                <a:ea typeface="Arial" pitchFamily="34" charset="-122"/>
                <a:cs typeface="Arial" pitchFamily="34" charset="-120"/>
              </a:rPr>
              <a:t>Slicer settings used</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813560"/>
          <a:ext cx="10556240" cy="2684780"/>
        </p:xfrm>
        <a:graphic>
          <a:graphicData uri="http://schemas.openxmlformats.org/drawingml/2006/table">
            <a:tbl>
              <a:tblPr/>
              <a:tblGrid>
                <a:gridCol w="2955747"/>
                <a:gridCol w="3589122"/>
                <a:gridCol w="4011371"/>
              </a:tblGrid>
              <a:tr h="383540">
                <a:tc>
                  <a:txBody>
                    <a:bodyPr/>
                    <a:lstStyle/>
                    <a:p>
                      <a:pPr indent="0" marL="0">
                        <a:lnSpc>
                          <a:spcPts val="1960"/>
                        </a:lnSpc>
                        <a:buNone/>
                      </a:pPr>
                      <a:r>
                        <a:rPr lang="en-US" sz="1400" b="1" dirty="0">
                          <a:solidFill>
                            <a:srgbClr val="EAF2EF"/>
                          </a:solidFill>
                          <a:latin typeface="Arial" pitchFamily="34" charset="0"/>
                          <a:ea typeface="Arial" pitchFamily="34" charset="-122"/>
                          <a:cs typeface="Arial" pitchFamily="34" charset="-120"/>
                        </a:rPr>
                        <a:t>Parameter</a:t>
                      </a:r>
                      <a:endParaRPr lang="en-US" sz="1400" dirty="0">
                        <a:latin typeface="Arial" charset="0"/>
                        <a:ea typeface="Arial" charset="0"/>
                        <a:cs typeface="Arial" charset="0"/>
                      </a:endParaRPr>
                    </a:p>
                  </a:txBody>
                  <a:tcPr marL="62230" marR="62230" marT="62230" marB="62230" anchor="t">
                    <a:lnL w="12700" cap="flat" cmpd="sng" algn="ctr">
                      <a:solidFill>
                        <a:srgbClr val="C2C4C0"/>
                      </a:solidFill>
                      <a:prstDash val="solid"/>
                      <a:round/>
                      <a:headEnd type="none" w="med" len="med"/>
                      <a:tailEnd type="none" w="med" len="med"/>
                    </a:lnL>
                    <a:lnR w="12700" cap="flat" cmpd="sng" algn="ctr">
                      <a:solidFill>
                        <a:srgbClr val="142226"/>
                      </a:solidFill>
                      <a:prstDash val="solid"/>
                      <a:round/>
                      <a:headEnd type="none" w="med" len="med"/>
                      <a:tailEnd type="none" w="med" len="med"/>
                    </a:lnR>
                    <a:lnT w="12700" cap="flat" cmpd="sng" algn="ctr">
                      <a:solidFill>
                        <a:srgbClr val="C2C4C0"/>
                      </a:solidFill>
                      <a:prstDash val="solid"/>
                      <a:round/>
                      <a:headEnd type="none" w="med" len="med"/>
                      <a:tailEnd type="none" w="med" len="med"/>
                    </a:lnT>
                    <a:lnB w="12700" cap="flat" cmpd="sng" algn="ctr">
                      <a:solidFill>
                        <a:srgbClr val="142226"/>
                      </a:solidFill>
                      <a:prstDash val="solid"/>
                      <a:round/>
                      <a:headEnd type="none" w="med" len="med"/>
                      <a:tailEnd type="none" w="med" len="med"/>
                    </a:lnB>
                    <a:solidFill>
                      <a:srgbClr val="14262B"/>
                    </a:solidFill>
                  </a:tcPr>
                </a:tc>
                <a:tc>
                  <a:txBody>
                    <a:bodyPr/>
                    <a:lstStyle/>
                    <a:p>
                      <a:pPr indent="0" marL="0">
                        <a:lnSpc>
                          <a:spcPts val="1960"/>
                        </a:lnSpc>
                        <a:buNone/>
                      </a:pPr>
                      <a:r>
                        <a:rPr lang="en-US" sz="1400" b="1" dirty="0">
                          <a:solidFill>
                            <a:srgbClr val="EAF2EF"/>
                          </a:solidFill>
                          <a:latin typeface="Arial" pitchFamily="34" charset="0"/>
                          <a:ea typeface="Arial" pitchFamily="34" charset="-122"/>
                          <a:cs typeface="Arial" pitchFamily="34" charset="-120"/>
                        </a:rPr>
                        <a:t>Setting</a:t>
                      </a:r>
                      <a:endParaRPr lang="en-US" sz="1400" dirty="0">
                        <a:latin typeface="Arial" charset="0"/>
                        <a:ea typeface="Arial" charset="0"/>
                        <a:cs typeface="Arial" charset="0"/>
                      </a:endParaRPr>
                    </a:p>
                  </a:txBody>
                  <a:tcPr marL="62230" marR="62230" marT="62230" marB="62230" anchor="t">
                    <a:lnL w="12700" cap="flat" cmpd="sng" algn="ctr">
                      <a:solidFill>
                        <a:srgbClr val="142226"/>
                      </a:solidFill>
                      <a:prstDash val="solid"/>
                      <a:round/>
                      <a:headEnd type="none" w="med" len="med"/>
                      <a:tailEnd type="none" w="med" len="med"/>
                    </a:lnL>
                    <a:lnR w="12700" cap="flat" cmpd="sng" algn="ctr">
                      <a:solidFill>
                        <a:srgbClr val="142226"/>
                      </a:solidFill>
                      <a:prstDash val="solid"/>
                      <a:round/>
                      <a:headEnd type="none" w="med" len="med"/>
                      <a:tailEnd type="none" w="med" len="med"/>
                    </a:lnR>
                    <a:lnT w="12700" cap="flat" cmpd="sng" algn="ctr">
                      <a:solidFill>
                        <a:srgbClr val="C2C4C0"/>
                      </a:solidFill>
                      <a:prstDash val="solid"/>
                      <a:round/>
                      <a:headEnd type="none" w="med" len="med"/>
                      <a:tailEnd type="none" w="med" len="med"/>
                    </a:lnT>
                    <a:lnB w="12700" cap="flat" cmpd="sng" algn="ctr">
                      <a:solidFill>
                        <a:srgbClr val="142226"/>
                      </a:solidFill>
                      <a:prstDash val="solid"/>
                      <a:round/>
                      <a:headEnd type="none" w="med" len="med"/>
                      <a:tailEnd type="none" w="med" len="med"/>
                    </a:lnB>
                    <a:solidFill>
                      <a:srgbClr val="14262B"/>
                    </a:solidFill>
                  </a:tcPr>
                </a:tc>
                <a:tc>
                  <a:txBody>
                    <a:bodyPr/>
                    <a:lstStyle/>
                    <a:p>
                      <a:pPr indent="0" marL="0">
                        <a:lnSpc>
                          <a:spcPts val="1960"/>
                        </a:lnSpc>
                        <a:buNone/>
                      </a:pPr>
                      <a:r>
                        <a:rPr lang="en-US" sz="1400" b="1" dirty="0">
                          <a:solidFill>
                            <a:srgbClr val="EAF2EF"/>
                          </a:solidFill>
                          <a:latin typeface="Arial" pitchFamily="34" charset="0"/>
                          <a:ea typeface="Arial" pitchFamily="34" charset="-122"/>
                          <a:cs typeface="Arial" pitchFamily="34" charset="-120"/>
                        </a:rPr>
                        <a:t>Why</a:t>
                      </a:r>
                      <a:endParaRPr lang="en-US" sz="1400" dirty="0">
                        <a:latin typeface="Arial" charset="0"/>
                        <a:ea typeface="Arial" charset="0"/>
                        <a:cs typeface="Arial" charset="0"/>
                      </a:endParaRPr>
                    </a:p>
                  </a:txBody>
                  <a:tcPr marL="62230" marR="62230" marT="62230" marB="62230" anchor="t">
                    <a:lnL w="12700" cap="flat" cmpd="sng" algn="ctr">
                      <a:solidFill>
                        <a:srgbClr val="142226"/>
                      </a:solidFill>
                      <a:prstDash val="solid"/>
                      <a:round/>
                      <a:headEnd type="none" w="med" len="med"/>
                      <a:tailEnd type="none" w="med" len="med"/>
                    </a:lnL>
                    <a:lnR w="12700" cap="flat" cmpd="sng" algn="ctr">
                      <a:solidFill>
                        <a:srgbClr val="142226"/>
                      </a:solidFill>
                      <a:prstDash val="solid"/>
                      <a:round/>
                      <a:headEnd type="none" w="med" len="med"/>
                      <a:tailEnd type="none" w="med" len="med"/>
                    </a:lnR>
                    <a:lnT w="12700" cap="flat" cmpd="sng" algn="ctr">
                      <a:solidFill>
                        <a:srgbClr val="C2C4C0"/>
                      </a:solidFill>
                      <a:prstDash val="solid"/>
                      <a:round/>
                      <a:headEnd type="none" w="med" len="med"/>
                      <a:tailEnd type="none" w="med" len="med"/>
                    </a:lnT>
                    <a:lnB w="12700" cap="flat" cmpd="sng" algn="ctr">
                      <a:solidFill>
                        <a:srgbClr val="142226"/>
                      </a:solidFill>
                      <a:prstDash val="solid"/>
                      <a:round/>
                      <a:headEnd type="none" w="med" len="med"/>
                      <a:tailEnd type="none" w="med" len="med"/>
                    </a:lnB>
                    <a:solidFill>
                      <a:srgbClr val="14262B"/>
                    </a:solidFill>
                  </a:tcPr>
                </a:tc>
              </a:tr>
              <a:tr h="383540">
                <a:tc>
                  <a:txBody>
                    <a:bodyPr/>
                    <a:lstStyle/>
                    <a:p>
                      <a:pPr indent="0" marL="0">
                        <a:lnSpc>
                          <a:spcPts val="1960"/>
                        </a:lnSpc>
                        <a:buNone/>
                      </a:pPr>
                      <a:r>
                        <a:rPr lang="en-US" sz="1400" dirty="0">
                          <a:solidFill>
                            <a:srgbClr val="14262B"/>
                          </a:solidFill>
                          <a:latin typeface="Arial" pitchFamily="34" charset="0"/>
                          <a:ea typeface="Arial" pitchFamily="34" charset="-122"/>
                          <a:cs typeface="Arial" pitchFamily="34" charset="-120"/>
                        </a:rPr>
                        <a:t>Printer</a:t>
                      </a:r>
                      <a:endParaRPr lang="en-US" sz="1400" dirty="0">
                        <a:latin typeface="Arial" charset="0"/>
                        <a:ea typeface="Arial" charset="0"/>
                        <a:cs typeface="Arial" charset="0"/>
                      </a:endParaRPr>
                    </a:p>
                  </a:txBody>
                  <a:tcPr marL="62230" marR="62230" marT="62230" marB="62230" anchor="t">
                    <a:lnL w="12700" cap="flat" cmpd="sng" algn="ctr">
                      <a:solidFill>
                        <a:srgbClr val="C2C4C0"/>
                      </a:solidFill>
                      <a:prstDash val="solid"/>
                      <a:round/>
                      <a:headEnd type="none" w="med" len="med"/>
                      <a:tailEnd type="none" w="med" len="med"/>
                    </a:lnL>
                    <a:lnR w="12700" cap="flat" cmpd="sng" algn="ctr">
                      <a:solidFill>
                        <a:srgbClr val="C7C8C6"/>
                      </a:solidFill>
                      <a:prstDash val="solid"/>
                      <a:round/>
                      <a:headEnd type="none" w="med" len="med"/>
                      <a:tailEnd type="none" w="med" len="med"/>
                    </a:lnR>
                    <a:lnT w="12700" cap="flat" cmpd="sng" algn="ctr">
                      <a:solidFill>
                        <a:srgbClr val="142226"/>
                      </a:solidFill>
                      <a:prstDash val="solid"/>
                      <a:round/>
                      <a:headEnd type="none" w="med" len="med"/>
                      <a:tailEnd type="none" w="med" len="med"/>
                    </a:lnT>
                    <a:lnB w="12700" cap="flat" cmpd="sng" algn="ctr">
                      <a:solidFill>
                        <a:srgbClr val="C7C8C6"/>
                      </a:solidFill>
                      <a:prstDash val="solid"/>
                      <a:round/>
                      <a:headEnd type="none" w="med" len="med"/>
                      <a:tailEnd type="none" w="med" len="med"/>
                    </a:lnB>
                    <a:solidFill>
                      <a:srgbClr val="FAFBF8"/>
                    </a:solidFill>
                  </a:tcPr>
                </a:tc>
                <a:tc>
                  <a:txBody>
                    <a:bodyPr/>
                    <a:lstStyle/>
                    <a:p>
                      <a:pPr indent="0" marL="0">
                        <a:lnSpc>
                          <a:spcPts val="1960"/>
                        </a:lnSpc>
                        <a:buNone/>
                      </a:pPr>
                      <a:r>
                        <a:rPr lang="en-US" sz="1400" dirty="0">
                          <a:solidFill>
                            <a:srgbClr val="14262B"/>
                          </a:solidFill>
                          <a:latin typeface="Arial" pitchFamily="34" charset="0"/>
                          <a:ea typeface="Arial" pitchFamily="34" charset="-122"/>
                          <a:cs typeface="Arial" pitchFamily="34" charset="-120"/>
                        </a:rPr>
                        <a:t>FDM, 0.4 mm nozzle</a:t>
                      </a:r>
                      <a:endParaRPr lang="en-US" sz="1400" dirty="0">
                        <a:latin typeface="Arial" charset="0"/>
                        <a:ea typeface="Arial" charset="0"/>
                        <a:cs typeface="Arial" charset="0"/>
                      </a:endParaRPr>
                    </a:p>
                  </a:txBody>
                  <a:tcPr marL="62230" marR="62230" marT="62230" marB="62230" anchor="t">
                    <a:lnL w="12700" cap="flat" cmpd="sng" algn="ctr">
                      <a:solidFill>
                        <a:srgbClr val="C7C8C6"/>
                      </a:solidFill>
                      <a:prstDash val="solid"/>
                      <a:round/>
                      <a:headEnd type="none" w="med" len="med"/>
                      <a:tailEnd type="none" w="med" len="med"/>
                    </a:lnL>
                    <a:lnR w="12700" cap="flat" cmpd="sng" algn="ctr">
                      <a:solidFill>
                        <a:srgbClr val="C7C8C6"/>
                      </a:solidFill>
                      <a:prstDash val="solid"/>
                      <a:round/>
                      <a:headEnd type="none" w="med" len="med"/>
                      <a:tailEnd type="none" w="med" len="med"/>
                    </a:lnR>
                    <a:lnT w="12700" cap="flat" cmpd="sng" algn="ctr">
                      <a:solidFill>
                        <a:srgbClr val="142226"/>
                      </a:solidFill>
                      <a:prstDash val="solid"/>
                      <a:round/>
                      <a:headEnd type="none" w="med" len="med"/>
                      <a:tailEnd type="none" w="med" len="med"/>
                    </a:lnT>
                    <a:lnB w="12700" cap="flat" cmpd="sng" algn="ctr">
                      <a:solidFill>
                        <a:srgbClr val="C7C8C6"/>
                      </a:solidFill>
                      <a:prstDash val="solid"/>
                      <a:round/>
                      <a:headEnd type="none" w="med" len="med"/>
                      <a:tailEnd type="none" w="med" len="med"/>
                    </a:lnB>
                    <a:solidFill>
                      <a:srgbClr val="FAFBF8"/>
                    </a:solidFill>
                  </a:tcPr>
                </a:tc>
                <a:tc>
                  <a:txBody>
                    <a:bodyPr/>
                    <a:lstStyle/>
                    <a:p>
                      <a:pPr indent="0" marL="0">
                        <a:lnSpc>
                          <a:spcPts val="1960"/>
                        </a:lnSpc>
                        <a:buNone/>
                      </a:pPr>
                      <a:r>
                        <a:rPr lang="en-US" sz="1400" dirty="0">
                          <a:solidFill>
                            <a:srgbClr val="14262B"/>
                          </a:solidFill>
                          <a:latin typeface="Arial" pitchFamily="34" charset="0"/>
                          <a:ea typeface="Arial" pitchFamily="34" charset="-122"/>
                          <a:cs typeface="Arial" pitchFamily="34" charset="-120"/>
                        </a:rPr>
                        <a:t>Common and low cost</a:t>
                      </a:r>
                      <a:endParaRPr lang="en-US" sz="1400" dirty="0">
                        <a:latin typeface="Arial" charset="0"/>
                        <a:ea typeface="Arial" charset="0"/>
                        <a:cs typeface="Arial" charset="0"/>
                      </a:endParaRPr>
                    </a:p>
                  </a:txBody>
                  <a:tcPr marL="62230" marR="62230" marT="62230" marB="62230" anchor="t">
                    <a:lnL w="12700" cap="flat" cmpd="sng" algn="ctr">
                      <a:solidFill>
                        <a:srgbClr val="C7C8C6"/>
                      </a:solidFill>
                      <a:prstDash val="solid"/>
                      <a:round/>
                      <a:headEnd type="none" w="med" len="med"/>
                      <a:tailEnd type="none" w="med" len="med"/>
                    </a:lnL>
                    <a:lnR w="12700" cap="flat" cmpd="sng" algn="ctr">
                      <a:solidFill>
                        <a:srgbClr val="C7C8C6"/>
                      </a:solidFill>
                      <a:prstDash val="solid"/>
                      <a:round/>
                      <a:headEnd type="none" w="med" len="med"/>
                      <a:tailEnd type="none" w="med" len="med"/>
                    </a:lnR>
                    <a:lnT w="12700" cap="flat" cmpd="sng" algn="ctr">
                      <a:solidFill>
                        <a:srgbClr val="142226"/>
                      </a:solidFill>
                      <a:prstDash val="solid"/>
                      <a:round/>
                      <a:headEnd type="none" w="med" len="med"/>
                      <a:tailEnd type="none" w="med" len="med"/>
                    </a:lnT>
                    <a:lnB w="12700" cap="flat" cmpd="sng" algn="ctr">
                      <a:solidFill>
                        <a:srgbClr val="C7C8C6"/>
                      </a:solidFill>
                      <a:prstDash val="solid"/>
                      <a:round/>
                      <a:headEnd type="none" w="med" len="med"/>
                      <a:tailEnd type="none" w="med" len="med"/>
                    </a:lnB>
                    <a:solidFill>
                      <a:srgbClr val="FAFBF8"/>
                    </a:solidFill>
                  </a:tcPr>
                </a:tc>
              </a:tr>
              <a:tr h="383540">
                <a:tc>
                  <a:txBody>
                    <a:bodyPr/>
                    <a:lstStyle/>
                    <a:p>
                      <a:pPr indent="0" marL="0">
                        <a:lnSpc>
                          <a:spcPts val="1960"/>
                        </a:lnSpc>
                        <a:buNone/>
                      </a:pPr>
                      <a:r>
                        <a:rPr lang="en-US" sz="1400" dirty="0">
                          <a:solidFill>
                            <a:srgbClr val="14262B"/>
                          </a:solidFill>
                          <a:latin typeface="Arial" pitchFamily="34" charset="0"/>
                          <a:ea typeface="Arial" pitchFamily="34" charset="-122"/>
                          <a:cs typeface="Arial" pitchFamily="34" charset="-120"/>
                        </a:rPr>
                        <a:t>Layer height</a:t>
                      </a:r>
                      <a:endParaRPr lang="en-US" sz="1400" dirty="0">
                        <a:latin typeface="Arial" charset="0"/>
                        <a:ea typeface="Arial" charset="0"/>
                        <a:cs typeface="Arial" charset="0"/>
                      </a:endParaRPr>
                    </a:p>
                  </a:txBody>
                  <a:tcPr marL="62230" marR="62230" marT="62230" marB="62230" anchor="t">
                    <a:lnL w="12700" cap="flat" cmpd="sng" algn="ctr">
                      <a:solidFill>
                        <a:srgbClr val="C2C4C0"/>
                      </a:solidFill>
                      <a:prstDash val="solid"/>
                      <a:round/>
                      <a:headEnd type="none" w="med" len="med"/>
                      <a:tailEnd type="none" w="med" len="med"/>
                    </a:lnL>
                    <a:lnR w="12700" cap="flat" cmpd="sng" algn="ctr">
                      <a:solidFill>
                        <a:srgbClr val="B9BEBB"/>
                      </a:solidFill>
                      <a:prstDash val="solid"/>
                      <a:round/>
                      <a:headEnd type="none" w="med" len="med"/>
                      <a:tailEnd type="none" w="med" len="med"/>
                    </a:lnR>
                    <a:lnT w="12700" cap="flat" cmpd="sng" algn="ctr">
                      <a:solidFill>
                        <a:srgbClr val="C7C8C6"/>
                      </a:solidFill>
                      <a:prstDash val="solid"/>
                      <a:round/>
                      <a:headEnd type="none" w="med" len="med"/>
                      <a:tailEnd type="none" w="med" len="med"/>
                    </a:lnT>
                    <a:lnB w="12700" cap="flat" cmpd="sng" algn="ctr">
                      <a:solidFill>
                        <a:srgbClr val="B9BEBB"/>
                      </a:solidFill>
                      <a:prstDash val="solid"/>
                      <a:round/>
                      <a:headEnd type="none" w="med" len="med"/>
                      <a:tailEnd type="none" w="med" len="med"/>
                    </a:lnB>
                    <a:solidFill>
                      <a:srgbClr val="E8EEEA"/>
                    </a:solidFill>
                  </a:tcPr>
                </a:tc>
                <a:tc>
                  <a:txBody>
                    <a:bodyPr/>
                    <a:lstStyle/>
                    <a:p>
                      <a:pPr indent="0" marL="0">
                        <a:lnSpc>
                          <a:spcPts val="1960"/>
                        </a:lnSpc>
                        <a:buNone/>
                      </a:pPr>
                      <a:r>
                        <a:rPr lang="en-US" sz="1400" dirty="0">
                          <a:solidFill>
                            <a:srgbClr val="14262B"/>
                          </a:solidFill>
                          <a:latin typeface="Arial" pitchFamily="34" charset="0"/>
                          <a:ea typeface="Arial" pitchFamily="34" charset="-122"/>
                          <a:cs typeface="Arial" pitchFamily="34" charset="-120"/>
                        </a:rPr>
                        <a:t>0.2 mm</a:t>
                      </a:r>
                      <a:endParaRPr lang="en-US" sz="1400" dirty="0">
                        <a:latin typeface="Arial" charset="0"/>
                        <a:ea typeface="Arial" charset="0"/>
                        <a:cs typeface="Arial" charset="0"/>
                      </a:endParaRPr>
                    </a:p>
                  </a:txBody>
                  <a:tcPr marL="62230" marR="62230" marT="62230" marB="62230" anchor="t">
                    <a:lnL w="12700" cap="flat" cmpd="sng" algn="ctr">
                      <a:solidFill>
                        <a:srgbClr val="B9BEBB"/>
                      </a:solidFill>
                      <a:prstDash val="solid"/>
                      <a:round/>
                      <a:headEnd type="none" w="med" len="med"/>
                      <a:tailEnd type="none" w="med" len="med"/>
                    </a:lnL>
                    <a:lnR w="12700" cap="flat" cmpd="sng" algn="ctr">
                      <a:solidFill>
                        <a:srgbClr val="B9BEBB"/>
                      </a:solidFill>
                      <a:prstDash val="solid"/>
                      <a:round/>
                      <a:headEnd type="none" w="med" len="med"/>
                      <a:tailEnd type="none" w="med" len="med"/>
                    </a:lnR>
                    <a:lnT w="12700" cap="flat" cmpd="sng" algn="ctr">
                      <a:solidFill>
                        <a:srgbClr val="C7C8C6"/>
                      </a:solidFill>
                      <a:prstDash val="solid"/>
                      <a:round/>
                      <a:headEnd type="none" w="med" len="med"/>
                      <a:tailEnd type="none" w="med" len="med"/>
                    </a:lnT>
                    <a:lnB w="12700" cap="flat" cmpd="sng" algn="ctr">
                      <a:solidFill>
                        <a:srgbClr val="B9BEBB"/>
                      </a:solidFill>
                      <a:prstDash val="solid"/>
                      <a:round/>
                      <a:headEnd type="none" w="med" len="med"/>
                      <a:tailEnd type="none" w="med" len="med"/>
                    </a:lnB>
                    <a:solidFill>
                      <a:srgbClr val="E8EEEA"/>
                    </a:solidFill>
                  </a:tcPr>
                </a:tc>
                <a:tc>
                  <a:txBody>
                    <a:bodyPr/>
                    <a:lstStyle/>
                    <a:p>
                      <a:pPr indent="0" marL="0">
                        <a:lnSpc>
                          <a:spcPts val="1960"/>
                        </a:lnSpc>
                        <a:buNone/>
                      </a:pPr>
                      <a:r>
                        <a:rPr lang="en-US" sz="1400" dirty="0">
                          <a:solidFill>
                            <a:srgbClr val="14262B"/>
                          </a:solidFill>
                          <a:latin typeface="Arial" pitchFamily="34" charset="0"/>
                          <a:ea typeface="Arial" pitchFamily="34" charset="-122"/>
                          <a:cs typeface="Arial" pitchFamily="34" charset="-120"/>
                        </a:rPr>
                        <a:t>Balance of speed and finish</a:t>
                      </a:r>
                      <a:endParaRPr lang="en-US" sz="1400" dirty="0">
                        <a:latin typeface="Arial" charset="0"/>
                        <a:ea typeface="Arial" charset="0"/>
                        <a:cs typeface="Arial" charset="0"/>
                      </a:endParaRPr>
                    </a:p>
                  </a:txBody>
                  <a:tcPr marL="62230" marR="62230" marT="62230" marB="62230" anchor="t">
                    <a:lnL w="12700" cap="flat" cmpd="sng" algn="ctr">
                      <a:solidFill>
                        <a:srgbClr val="B9BEBB"/>
                      </a:solidFill>
                      <a:prstDash val="solid"/>
                      <a:round/>
                      <a:headEnd type="none" w="med" len="med"/>
                      <a:tailEnd type="none" w="med" len="med"/>
                    </a:lnL>
                    <a:lnR w="12700" cap="flat" cmpd="sng" algn="ctr">
                      <a:solidFill>
                        <a:srgbClr val="B9BEBB"/>
                      </a:solidFill>
                      <a:prstDash val="solid"/>
                      <a:round/>
                      <a:headEnd type="none" w="med" len="med"/>
                      <a:tailEnd type="none" w="med" len="med"/>
                    </a:lnR>
                    <a:lnT w="12700" cap="flat" cmpd="sng" algn="ctr">
                      <a:solidFill>
                        <a:srgbClr val="C7C8C6"/>
                      </a:solidFill>
                      <a:prstDash val="solid"/>
                      <a:round/>
                      <a:headEnd type="none" w="med" len="med"/>
                      <a:tailEnd type="none" w="med" len="med"/>
                    </a:lnT>
                    <a:lnB w="12700" cap="flat" cmpd="sng" algn="ctr">
                      <a:solidFill>
                        <a:srgbClr val="B9BEBB"/>
                      </a:solidFill>
                      <a:prstDash val="solid"/>
                      <a:round/>
                      <a:headEnd type="none" w="med" len="med"/>
                      <a:tailEnd type="none" w="med" len="med"/>
                    </a:lnB>
                    <a:solidFill>
                      <a:srgbClr val="E8EEEA"/>
                    </a:solidFill>
                  </a:tcPr>
                </a:tc>
              </a:tr>
              <a:tr h="383540">
                <a:tc>
                  <a:txBody>
                    <a:bodyPr/>
                    <a:lstStyle/>
                    <a:p>
                      <a:pPr indent="0" marL="0">
                        <a:lnSpc>
                          <a:spcPts val="1960"/>
                        </a:lnSpc>
                        <a:buNone/>
                      </a:pPr>
                      <a:r>
                        <a:rPr lang="en-US" sz="1400" dirty="0">
                          <a:solidFill>
                            <a:srgbClr val="14262B"/>
                          </a:solidFill>
                          <a:latin typeface="Arial" pitchFamily="34" charset="0"/>
                          <a:ea typeface="Arial" pitchFamily="34" charset="-122"/>
                          <a:cs typeface="Arial" pitchFamily="34" charset="-120"/>
                        </a:rPr>
                        <a:t>Infill</a:t>
                      </a:r>
                      <a:endParaRPr lang="en-US" sz="1400" dirty="0">
                        <a:latin typeface="Arial" charset="0"/>
                        <a:ea typeface="Arial" charset="0"/>
                        <a:cs typeface="Arial" charset="0"/>
                      </a:endParaRPr>
                    </a:p>
                  </a:txBody>
                  <a:tcPr marL="62230" marR="62230" marT="62230" marB="62230" anchor="t">
                    <a:lnL w="12700" cap="flat" cmpd="sng" algn="ctr">
                      <a:solidFill>
                        <a:srgbClr val="C2C4C0"/>
                      </a:solidFill>
                      <a:prstDash val="solid"/>
                      <a:round/>
                      <a:headEnd type="none" w="med" len="med"/>
                      <a:tailEnd type="none" w="med" len="med"/>
                    </a:lnL>
                    <a:lnR w="12700" cap="flat" cmpd="sng" algn="ctr">
                      <a:solidFill>
                        <a:srgbClr val="C7C8C6"/>
                      </a:solidFill>
                      <a:prstDash val="solid"/>
                      <a:round/>
                      <a:headEnd type="none" w="med" len="med"/>
                      <a:tailEnd type="none" w="med" len="med"/>
                    </a:lnR>
                    <a:lnT w="12700" cap="flat" cmpd="sng" algn="ctr">
                      <a:solidFill>
                        <a:srgbClr val="B9BEBB"/>
                      </a:solidFill>
                      <a:prstDash val="solid"/>
                      <a:round/>
                      <a:headEnd type="none" w="med" len="med"/>
                      <a:tailEnd type="none" w="med" len="med"/>
                    </a:lnT>
                    <a:lnB w="12700" cap="flat" cmpd="sng" algn="ctr">
                      <a:solidFill>
                        <a:srgbClr val="C7C8C6"/>
                      </a:solidFill>
                      <a:prstDash val="solid"/>
                      <a:round/>
                      <a:headEnd type="none" w="med" len="med"/>
                      <a:tailEnd type="none" w="med" len="med"/>
                    </a:lnB>
                    <a:solidFill>
                      <a:srgbClr val="FAFBF8"/>
                    </a:solidFill>
                  </a:tcPr>
                </a:tc>
                <a:tc>
                  <a:txBody>
                    <a:bodyPr/>
                    <a:lstStyle/>
                    <a:p>
                      <a:pPr indent="0" marL="0">
                        <a:lnSpc>
                          <a:spcPts val="1960"/>
                        </a:lnSpc>
                        <a:buNone/>
                      </a:pPr>
                      <a:r>
                        <a:rPr lang="en-US" sz="1400" dirty="0">
                          <a:solidFill>
                            <a:srgbClr val="14262B"/>
                          </a:solidFill>
                          <a:latin typeface="Arial" pitchFamily="34" charset="0"/>
                          <a:ea typeface="Arial" pitchFamily="34" charset="-122"/>
                          <a:cs typeface="Arial" pitchFamily="34" charset="-120"/>
                        </a:rPr>
                        <a:t>20 to 30 %</a:t>
                      </a:r>
                      <a:endParaRPr lang="en-US" sz="1400" dirty="0">
                        <a:latin typeface="Arial" charset="0"/>
                        <a:ea typeface="Arial" charset="0"/>
                        <a:cs typeface="Arial" charset="0"/>
                      </a:endParaRPr>
                    </a:p>
                  </a:txBody>
                  <a:tcPr marL="62230" marR="62230" marT="62230" marB="62230" anchor="t">
                    <a:lnL w="12700" cap="flat" cmpd="sng" algn="ctr">
                      <a:solidFill>
                        <a:srgbClr val="C7C8C6"/>
                      </a:solidFill>
                      <a:prstDash val="solid"/>
                      <a:round/>
                      <a:headEnd type="none" w="med" len="med"/>
                      <a:tailEnd type="none" w="med" len="med"/>
                    </a:lnL>
                    <a:lnR w="12700" cap="flat" cmpd="sng" algn="ctr">
                      <a:solidFill>
                        <a:srgbClr val="C7C8C6"/>
                      </a:solidFill>
                      <a:prstDash val="solid"/>
                      <a:round/>
                      <a:headEnd type="none" w="med" len="med"/>
                      <a:tailEnd type="none" w="med" len="med"/>
                    </a:lnR>
                    <a:lnT w="12700" cap="flat" cmpd="sng" algn="ctr">
                      <a:solidFill>
                        <a:srgbClr val="B9BEBB"/>
                      </a:solidFill>
                      <a:prstDash val="solid"/>
                      <a:round/>
                      <a:headEnd type="none" w="med" len="med"/>
                      <a:tailEnd type="none" w="med" len="med"/>
                    </a:lnT>
                    <a:lnB w="12700" cap="flat" cmpd="sng" algn="ctr">
                      <a:solidFill>
                        <a:srgbClr val="C7C8C6"/>
                      </a:solidFill>
                      <a:prstDash val="solid"/>
                      <a:round/>
                      <a:headEnd type="none" w="med" len="med"/>
                      <a:tailEnd type="none" w="med" len="med"/>
                    </a:lnB>
                    <a:solidFill>
                      <a:srgbClr val="FAFBF8"/>
                    </a:solidFill>
                  </a:tcPr>
                </a:tc>
                <a:tc>
                  <a:txBody>
                    <a:bodyPr/>
                    <a:lstStyle/>
                    <a:p>
                      <a:pPr indent="0" marL="0">
                        <a:lnSpc>
                          <a:spcPts val="1960"/>
                        </a:lnSpc>
                        <a:buNone/>
                      </a:pPr>
                      <a:r>
                        <a:rPr lang="en-US" sz="1400" dirty="0">
                          <a:solidFill>
                            <a:srgbClr val="14262B"/>
                          </a:solidFill>
                          <a:latin typeface="Arial" pitchFamily="34" charset="0"/>
                          <a:ea typeface="Arial" pitchFamily="34" charset="-122"/>
                          <a:cs typeface="Arial" pitchFamily="34" charset="-120"/>
                        </a:rPr>
                        <a:t>Light yet stiff</a:t>
                      </a:r>
                      <a:endParaRPr lang="en-US" sz="1400" dirty="0">
                        <a:latin typeface="Arial" charset="0"/>
                        <a:ea typeface="Arial" charset="0"/>
                        <a:cs typeface="Arial" charset="0"/>
                      </a:endParaRPr>
                    </a:p>
                  </a:txBody>
                  <a:tcPr marL="62230" marR="62230" marT="62230" marB="62230" anchor="t">
                    <a:lnL w="12700" cap="flat" cmpd="sng" algn="ctr">
                      <a:solidFill>
                        <a:srgbClr val="C7C8C6"/>
                      </a:solidFill>
                      <a:prstDash val="solid"/>
                      <a:round/>
                      <a:headEnd type="none" w="med" len="med"/>
                      <a:tailEnd type="none" w="med" len="med"/>
                    </a:lnL>
                    <a:lnR w="12700" cap="flat" cmpd="sng" algn="ctr">
                      <a:solidFill>
                        <a:srgbClr val="C7C8C6"/>
                      </a:solidFill>
                      <a:prstDash val="solid"/>
                      <a:round/>
                      <a:headEnd type="none" w="med" len="med"/>
                      <a:tailEnd type="none" w="med" len="med"/>
                    </a:lnR>
                    <a:lnT w="12700" cap="flat" cmpd="sng" algn="ctr">
                      <a:solidFill>
                        <a:srgbClr val="B9BEBB"/>
                      </a:solidFill>
                      <a:prstDash val="solid"/>
                      <a:round/>
                      <a:headEnd type="none" w="med" len="med"/>
                      <a:tailEnd type="none" w="med" len="med"/>
                    </a:lnT>
                    <a:lnB w="12700" cap="flat" cmpd="sng" algn="ctr">
                      <a:solidFill>
                        <a:srgbClr val="C7C8C6"/>
                      </a:solidFill>
                      <a:prstDash val="solid"/>
                      <a:round/>
                      <a:headEnd type="none" w="med" len="med"/>
                      <a:tailEnd type="none" w="med" len="med"/>
                    </a:lnB>
                    <a:solidFill>
                      <a:srgbClr val="FAFBF8"/>
                    </a:solidFill>
                  </a:tcPr>
                </a:tc>
              </a:tr>
              <a:tr h="383540">
                <a:tc>
                  <a:txBody>
                    <a:bodyPr/>
                    <a:lstStyle/>
                    <a:p>
                      <a:pPr indent="0" marL="0">
                        <a:lnSpc>
                          <a:spcPts val="1960"/>
                        </a:lnSpc>
                        <a:buNone/>
                      </a:pPr>
                      <a:r>
                        <a:rPr lang="en-US" sz="1400" dirty="0">
                          <a:solidFill>
                            <a:srgbClr val="14262B"/>
                          </a:solidFill>
                          <a:latin typeface="Arial" pitchFamily="34" charset="0"/>
                          <a:ea typeface="Arial" pitchFamily="34" charset="-122"/>
                          <a:cs typeface="Arial" pitchFamily="34" charset="-120"/>
                        </a:rPr>
                        <a:t>Walls</a:t>
                      </a:r>
                      <a:endParaRPr lang="en-US" sz="1400" dirty="0">
                        <a:latin typeface="Arial" charset="0"/>
                        <a:ea typeface="Arial" charset="0"/>
                        <a:cs typeface="Arial" charset="0"/>
                      </a:endParaRPr>
                    </a:p>
                  </a:txBody>
                  <a:tcPr marL="62230" marR="62230" marT="62230" marB="62230" anchor="t">
                    <a:lnL w="12700" cap="flat" cmpd="sng" algn="ctr">
                      <a:solidFill>
                        <a:srgbClr val="C2C4C0"/>
                      </a:solidFill>
                      <a:prstDash val="solid"/>
                      <a:round/>
                      <a:headEnd type="none" w="med" len="med"/>
                      <a:tailEnd type="none" w="med" len="med"/>
                    </a:lnL>
                    <a:lnR w="12700" cap="flat" cmpd="sng" algn="ctr">
                      <a:solidFill>
                        <a:srgbClr val="B9BEBB"/>
                      </a:solidFill>
                      <a:prstDash val="solid"/>
                      <a:round/>
                      <a:headEnd type="none" w="med" len="med"/>
                      <a:tailEnd type="none" w="med" len="med"/>
                    </a:lnR>
                    <a:lnT w="12700" cap="flat" cmpd="sng" algn="ctr">
                      <a:solidFill>
                        <a:srgbClr val="C7C8C6"/>
                      </a:solidFill>
                      <a:prstDash val="solid"/>
                      <a:round/>
                      <a:headEnd type="none" w="med" len="med"/>
                      <a:tailEnd type="none" w="med" len="med"/>
                    </a:lnT>
                    <a:lnB w="12700" cap="flat" cmpd="sng" algn="ctr">
                      <a:solidFill>
                        <a:srgbClr val="B9BEBB"/>
                      </a:solidFill>
                      <a:prstDash val="solid"/>
                      <a:round/>
                      <a:headEnd type="none" w="med" len="med"/>
                      <a:tailEnd type="none" w="med" len="med"/>
                    </a:lnB>
                    <a:solidFill>
                      <a:srgbClr val="E8EEEA"/>
                    </a:solidFill>
                  </a:tcPr>
                </a:tc>
                <a:tc>
                  <a:txBody>
                    <a:bodyPr/>
                    <a:lstStyle/>
                    <a:p>
                      <a:pPr indent="0" marL="0">
                        <a:lnSpc>
                          <a:spcPts val="1960"/>
                        </a:lnSpc>
                        <a:buNone/>
                      </a:pPr>
                      <a:r>
                        <a:rPr lang="en-US" sz="1400" dirty="0">
                          <a:solidFill>
                            <a:srgbClr val="14262B"/>
                          </a:solidFill>
                          <a:latin typeface="Arial" pitchFamily="34" charset="0"/>
                          <a:ea typeface="Arial" pitchFamily="34" charset="-122"/>
                          <a:cs typeface="Arial" pitchFamily="34" charset="-120"/>
                        </a:rPr>
                        <a:t>3 perimeters</a:t>
                      </a:r>
                      <a:endParaRPr lang="en-US" sz="1400" dirty="0">
                        <a:latin typeface="Arial" charset="0"/>
                        <a:ea typeface="Arial" charset="0"/>
                        <a:cs typeface="Arial" charset="0"/>
                      </a:endParaRPr>
                    </a:p>
                  </a:txBody>
                  <a:tcPr marL="62230" marR="62230" marT="62230" marB="62230" anchor="t">
                    <a:lnL w="12700" cap="flat" cmpd="sng" algn="ctr">
                      <a:solidFill>
                        <a:srgbClr val="B9BEBB"/>
                      </a:solidFill>
                      <a:prstDash val="solid"/>
                      <a:round/>
                      <a:headEnd type="none" w="med" len="med"/>
                      <a:tailEnd type="none" w="med" len="med"/>
                    </a:lnL>
                    <a:lnR w="12700" cap="flat" cmpd="sng" algn="ctr">
                      <a:solidFill>
                        <a:srgbClr val="B9BEBB"/>
                      </a:solidFill>
                      <a:prstDash val="solid"/>
                      <a:round/>
                      <a:headEnd type="none" w="med" len="med"/>
                      <a:tailEnd type="none" w="med" len="med"/>
                    </a:lnR>
                    <a:lnT w="12700" cap="flat" cmpd="sng" algn="ctr">
                      <a:solidFill>
                        <a:srgbClr val="C7C8C6"/>
                      </a:solidFill>
                      <a:prstDash val="solid"/>
                      <a:round/>
                      <a:headEnd type="none" w="med" len="med"/>
                      <a:tailEnd type="none" w="med" len="med"/>
                    </a:lnT>
                    <a:lnB w="12700" cap="flat" cmpd="sng" algn="ctr">
                      <a:solidFill>
                        <a:srgbClr val="B9BEBB"/>
                      </a:solidFill>
                      <a:prstDash val="solid"/>
                      <a:round/>
                      <a:headEnd type="none" w="med" len="med"/>
                      <a:tailEnd type="none" w="med" len="med"/>
                    </a:lnB>
                    <a:solidFill>
                      <a:srgbClr val="E8EEEA"/>
                    </a:solidFill>
                  </a:tcPr>
                </a:tc>
                <a:tc>
                  <a:txBody>
                    <a:bodyPr/>
                    <a:lstStyle/>
                    <a:p>
                      <a:pPr indent="0" marL="0">
                        <a:lnSpc>
                          <a:spcPts val="1960"/>
                        </a:lnSpc>
                        <a:buNone/>
                      </a:pPr>
                      <a:r>
                        <a:rPr lang="en-US" sz="1400" dirty="0">
                          <a:solidFill>
                            <a:srgbClr val="14262B"/>
                          </a:solidFill>
                          <a:latin typeface="Arial" pitchFamily="34" charset="0"/>
                          <a:ea typeface="Arial" pitchFamily="34" charset="-122"/>
                          <a:cs typeface="Arial" pitchFamily="34" charset="-120"/>
                        </a:rPr>
                        <a:t>Strength at the motor mount</a:t>
                      </a:r>
                      <a:endParaRPr lang="en-US" sz="1400" dirty="0">
                        <a:latin typeface="Arial" charset="0"/>
                        <a:ea typeface="Arial" charset="0"/>
                        <a:cs typeface="Arial" charset="0"/>
                      </a:endParaRPr>
                    </a:p>
                  </a:txBody>
                  <a:tcPr marL="62230" marR="62230" marT="62230" marB="62230" anchor="t">
                    <a:lnL w="12700" cap="flat" cmpd="sng" algn="ctr">
                      <a:solidFill>
                        <a:srgbClr val="B9BEBB"/>
                      </a:solidFill>
                      <a:prstDash val="solid"/>
                      <a:round/>
                      <a:headEnd type="none" w="med" len="med"/>
                      <a:tailEnd type="none" w="med" len="med"/>
                    </a:lnL>
                    <a:lnR w="12700" cap="flat" cmpd="sng" algn="ctr">
                      <a:solidFill>
                        <a:srgbClr val="B9BEBB"/>
                      </a:solidFill>
                      <a:prstDash val="solid"/>
                      <a:round/>
                      <a:headEnd type="none" w="med" len="med"/>
                      <a:tailEnd type="none" w="med" len="med"/>
                    </a:lnR>
                    <a:lnT w="12700" cap="flat" cmpd="sng" algn="ctr">
                      <a:solidFill>
                        <a:srgbClr val="C7C8C6"/>
                      </a:solidFill>
                      <a:prstDash val="solid"/>
                      <a:round/>
                      <a:headEnd type="none" w="med" len="med"/>
                      <a:tailEnd type="none" w="med" len="med"/>
                    </a:lnT>
                    <a:lnB w="12700" cap="flat" cmpd="sng" algn="ctr">
                      <a:solidFill>
                        <a:srgbClr val="B9BEBB"/>
                      </a:solidFill>
                      <a:prstDash val="solid"/>
                      <a:round/>
                      <a:headEnd type="none" w="med" len="med"/>
                      <a:tailEnd type="none" w="med" len="med"/>
                    </a:lnB>
                    <a:solidFill>
                      <a:srgbClr val="E8EEEA"/>
                    </a:solidFill>
                  </a:tcPr>
                </a:tc>
              </a:tr>
              <a:tr h="383540">
                <a:tc>
                  <a:txBody>
                    <a:bodyPr/>
                    <a:lstStyle/>
                    <a:p>
                      <a:pPr indent="0" marL="0">
                        <a:lnSpc>
                          <a:spcPts val="1960"/>
                        </a:lnSpc>
                        <a:buNone/>
                      </a:pPr>
                      <a:r>
                        <a:rPr lang="en-US" sz="1400" dirty="0">
                          <a:solidFill>
                            <a:srgbClr val="14262B"/>
                          </a:solidFill>
                          <a:latin typeface="Arial" pitchFamily="34" charset="0"/>
                          <a:ea typeface="Arial" pitchFamily="34" charset="-122"/>
                          <a:cs typeface="Arial" pitchFamily="34" charset="-120"/>
                        </a:rPr>
                        <a:t>Supports</a:t>
                      </a:r>
                      <a:endParaRPr lang="en-US" sz="1400" dirty="0">
                        <a:latin typeface="Arial" charset="0"/>
                        <a:ea typeface="Arial" charset="0"/>
                        <a:cs typeface="Arial" charset="0"/>
                      </a:endParaRPr>
                    </a:p>
                  </a:txBody>
                  <a:tcPr marL="62230" marR="62230" marT="62230" marB="62230" anchor="t">
                    <a:lnL w="12700" cap="flat" cmpd="sng" algn="ctr">
                      <a:solidFill>
                        <a:srgbClr val="C2C4C0"/>
                      </a:solidFill>
                      <a:prstDash val="solid"/>
                      <a:round/>
                      <a:headEnd type="none" w="med" len="med"/>
                      <a:tailEnd type="none" w="med" len="med"/>
                    </a:lnL>
                    <a:lnR w="12700" cap="flat" cmpd="sng" algn="ctr">
                      <a:solidFill>
                        <a:srgbClr val="C7C8C6"/>
                      </a:solidFill>
                      <a:prstDash val="solid"/>
                      <a:round/>
                      <a:headEnd type="none" w="med" len="med"/>
                      <a:tailEnd type="none" w="med" len="med"/>
                    </a:lnR>
                    <a:lnT w="12700" cap="flat" cmpd="sng" algn="ctr">
                      <a:solidFill>
                        <a:srgbClr val="B9BEBB"/>
                      </a:solidFill>
                      <a:prstDash val="solid"/>
                      <a:round/>
                      <a:headEnd type="none" w="med" len="med"/>
                      <a:tailEnd type="none" w="med" len="med"/>
                    </a:lnT>
                    <a:lnB w="12700" cap="flat" cmpd="sng" algn="ctr">
                      <a:solidFill>
                        <a:srgbClr val="C7C8C6"/>
                      </a:solidFill>
                      <a:prstDash val="solid"/>
                      <a:round/>
                      <a:headEnd type="none" w="med" len="med"/>
                      <a:tailEnd type="none" w="med" len="med"/>
                    </a:lnB>
                    <a:solidFill>
                      <a:srgbClr val="FAFBF8"/>
                    </a:solidFill>
                  </a:tcPr>
                </a:tc>
                <a:tc>
                  <a:txBody>
                    <a:bodyPr/>
                    <a:lstStyle/>
                    <a:p>
                      <a:pPr indent="0" marL="0">
                        <a:lnSpc>
                          <a:spcPts val="1960"/>
                        </a:lnSpc>
                        <a:buNone/>
                      </a:pPr>
                      <a:r>
                        <a:rPr lang="en-US" sz="1400" dirty="0">
                          <a:solidFill>
                            <a:srgbClr val="14262B"/>
                          </a:solidFill>
                          <a:latin typeface="Arial" pitchFamily="34" charset="0"/>
                          <a:ea typeface="Arial" pitchFamily="34" charset="-122"/>
                          <a:cs typeface="Arial" pitchFamily="34" charset="-120"/>
                        </a:rPr>
                        <a:t>Minimal, by orientation</a:t>
                      </a:r>
                      <a:endParaRPr lang="en-US" sz="1400" dirty="0">
                        <a:latin typeface="Arial" charset="0"/>
                        <a:ea typeface="Arial" charset="0"/>
                        <a:cs typeface="Arial" charset="0"/>
                      </a:endParaRPr>
                    </a:p>
                  </a:txBody>
                  <a:tcPr marL="62230" marR="62230" marT="62230" marB="62230" anchor="t">
                    <a:lnL w="12700" cap="flat" cmpd="sng" algn="ctr">
                      <a:solidFill>
                        <a:srgbClr val="C7C8C6"/>
                      </a:solidFill>
                      <a:prstDash val="solid"/>
                      <a:round/>
                      <a:headEnd type="none" w="med" len="med"/>
                      <a:tailEnd type="none" w="med" len="med"/>
                    </a:lnL>
                    <a:lnR w="12700" cap="flat" cmpd="sng" algn="ctr">
                      <a:solidFill>
                        <a:srgbClr val="C7C8C6"/>
                      </a:solidFill>
                      <a:prstDash val="solid"/>
                      <a:round/>
                      <a:headEnd type="none" w="med" len="med"/>
                      <a:tailEnd type="none" w="med" len="med"/>
                    </a:lnR>
                    <a:lnT w="12700" cap="flat" cmpd="sng" algn="ctr">
                      <a:solidFill>
                        <a:srgbClr val="B9BEBB"/>
                      </a:solidFill>
                      <a:prstDash val="solid"/>
                      <a:round/>
                      <a:headEnd type="none" w="med" len="med"/>
                      <a:tailEnd type="none" w="med" len="med"/>
                    </a:lnT>
                    <a:lnB w="12700" cap="flat" cmpd="sng" algn="ctr">
                      <a:solidFill>
                        <a:srgbClr val="C7C8C6"/>
                      </a:solidFill>
                      <a:prstDash val="solid"/>
                      <a:round/>
                      <a:headEnd type="none" w="med" len="med"/>
                      <a:tailEnd type="none" w="med" len="med"/>
                    </a:lnB>
                    <a:solidFill>
                      <a:srgbClr val="FAFBF8"/>
                    </a:solidFill>
                  </a:tcPr>
                </a:tc>
                <a:tc>
                  <a:txBody>
                    <a:bodyPr/>
                    <a:lstStyle/>
                    <a:p>
                      <a:pPr indent="0" marL="0">
                        <a:lnSpc>
                          <a:spcPts val="1960"/>
                        </a:lnSpc>
                        <a:buNone/>
                      </a:pPr>
                      <a:r>
                        <a:rPr lang="en-US" sz="1400" dirty="0">
                          <a:solidFill>
                            <a:srgbClr val="14262B"/>
                          </a:solidFill>
                          <a:latin typeface="Arial" pitchFamily="34" charset="0"/>
                          <a:ea typeface="Arial" pitchFamily="34" charset="-122"/>
                          <a:cs typeface="Arial" pitchFamily="34" charset="-120"/>
                        </a:rPr>
                        <a:t>Less cleanup, better surface</a:t>
                      </a:r>
                      <a:endParaRPr lang="en-US" sz="1400" dirty="0">
                        <a:latin typeface="Arial" charset="0"/>
                        <a:ea typeface="Arial" charset="0"/>
                        <a:cs typeface="Arial" charset="0"/>
                      </a:endParaRPr>
                    </a:p>
                  </a:txBody>
                  <a:tcPr marL="62230" marR="62230" marT="62230" marB="62230" anchor="t">
                    <a:lnL w="12700" cap="flat" cmpd="sng" algn="ctr">
                      <a:solidFill>
                        <a:srgbClr val="C7C8C6"/>
                      </a:solidFill>
                      <a:prstDash val="solid"/>
                      <a:round/>
                      <a:headEnd type="none" w="med" len="med"/>
                      <a:tailEnd type="none" w="med" len="med"/>
                    </a:lnL>
                    <a:lnR w="12700" cap="flat" cmpd="sng" algn="ctr">
                      <a:solidFill>
                        <a:srgbClr val="C7C8C6"/>
                      </a:solidFill>
                      <a:prstDash val="solid"/>
                      <a:round/>
                      <a:headEnd type="none" w="med" len="med"/>
                      <a:tailEnd type="none" w="med" len="med"/>
                    </a:lnR>
                    <a:lnT w="12700" cap="flat" cmpd="sng" algn="ctr">
                      <a:solidFill>
                        <a:srgbClr val="B9BEBB"/>
                      </a:solidFill>
                      <a:prstDash val="solid"/>
                      <a:round/>
                      <a:headEnd type="none" w="med" len="med"/>
                      <a:tailEnd type="none" w="med" len="med"/>
                    </a:lnT>
                    <a:lnB w="12700" cap="flat" cmpd="sng" algn="ctr">
                      <a:solidFill>
                        <a:srgbClr val="C7C8C6"/>
                      </a:solidFill>
                      <a:prstDash val="solid"/>
                      <a:round/>
                      <a:headEnd type="none" w="med" len="med"/>
                      <a:tailEnd type="none" w="med" len="med"/>
                    </a:lnB>
                    <a:solidFill>
                      <a:srgbClr val="FAFBF8"/>
                    </a:solidFill>
                  </a:tcPr>
                </a:tc>
              </a:tr>
              <a:tr h="383540">
                <a:tc>
                  <a:txBody>
                    <a:bodyPr/>
                    <a:lstStyle/>
                    <a:p>
                      <a:pPr indent="0" marL="0">
                        <a:lnSpc>
                          <a:spcPts val="1960"/>
                        </a:lnSpc>
                        <a:buNone/>
                      </a:pPr>
                      <a:r>
                        <a:rPr lang="en-US" sz="1400" dirty="0">
                          <a:solidFill>
                            <a:srgbClr val="14262B"/>
                          </a:solidFill>
                          <a:latin typeface="Arial" pitchFamily="34" charset="0"/>
                          <a:ea typeface="Arial" pitchFamily="34" charset="-122"/>
                          <a:cs typeface="Arial" pitchFamily="34" charset="-120"/>
                        </a:rPr>
                        <a:t>Nozzle / bed</a:t>
                      </a:r>
                      <a:endParaRPr lang="en-US" sz="1400" dirty="0">
                        <a:latin typeface="Arial" charset="0"/>
                        <a:ea typeface="Arial" charset="0"/>
                        <a:cs typeface="Arial" charset="0"/>
                      </a:endParaRPr>
                    </a:p>
                  </a:txBody>
                  <a:tcPr marL="62230" marR="62230" marT="62230" marB="62230" anchor="t">
                    <a:lnL w="12700" cap="flat" cmpd="sng" algn="ctr">
                      <a:solidFill>
                        <a:srgbClr val="C2C4C0"/>
                      </a:solidFill>
                      <a:prstDash val="solid"/>
                      <a:round/>
                      <a:headEnd type="none" w="med" len="med"/>
                      <a:tailEnd type="none" w="med" len="med"/>
                    </a:lnL>
                    <a:lnR w="12700" cap="flat" cmpd="sng" algn="ctr">
                      <a:solidFill>
                        <a:srgbClr val="B9BEBB"/>
                      </a:solidFill>
                      <a:prstDash val="solid"/>
                      <a:round/>
                      <a:headEnd type="none" w="med" len="med"/>
                      <a:tailEnd type="none" w="med" len="med"/>
                    </a:lnR>
                    <a:lnT w="12700" cap="flat" cmpd="sng" algn="ctr">
                      <a:solidFill>
                        <a:srgbClr val="C7C8C6"/>
                      </a:solidFill>
                      <a:prstDash val="solid"/>
                      <a:round/>
                      <a:headEnd type="none" w="med" len="med"/>
                      <a:tailEnd type="none" w="med" len="med"/>
                    </a:lnT>
                    <a:lnB w="12700" cap="flat" cmpd="sng" algn="ctr">
                      <a:solidFill>
                        <a:srgbClr val="B9BEBB"/>
                      </a:solidFill>
                      <a:prstDash val="solid"/>
                      <a:round/>
                      <a:headEnd type="none" w="med" len="med"/>
                      <a:tailEnd type="none" w="med" len="med"/>
                    </a:lnB>
                    <a:solidFill>
                      <a:srgbClr val="E8EEEA"/>
                    </a:solidFill>
                  </a:tcPr>
                </a:tc>
                <a:tc>
                  <a:txBody>
                    <a:bodyPr/>
                    <a:lstStyle/>
                    <a:p>
                      <a:pPr indent="0" marL="0">
                        <a:lnSpc>
                          <a:spcPts val="1960"/>
                        </a:lnSpc>
                        <a:buNone/>
                      </a:pPr>
                      <a:r>
                        <a:rPr lang="en-US" sz="1400" dirty="0">
                          <a:solidFill>
                            <a:srgbClr val="14262B"/>
                          </a:solidFill>
                          <a:latin typeface="Arial" pitchFamily="34" charset="0"/>
                          <a:ea typeface="Arial" pitchFamily="34" charset="-122"/>
                          <a:cs typeface="Arial" pitchFamily="34" charset="-120"/>
                        </a:rPr>
                        <a:t>[__ °C] / [__ °C]</a:t>
                      </a:r>
                      <a:endParaRPr lang="en-US" sz="1400" dirty="0">
                        <a:latin typeface="Arial" charset="0"/>
                        <a:ea typeface="Arial" charset="0"/>
                        <a:cs typeface="Arial" charset="0"/>
                      </a:endParaRPr>
                    </a:p>
                  </a:txBody>
                  <a:tcPr marL="62230" marR="62230" marT="62230" marB="62230" anchor="t">
                    <a:lnL w="12700" cap="flat" cmpd="sng" algn="ctr">
                      <a:solidFill>
                        <a:srgbClr val="B9BEBB"/>
                      </a:solidFill>
                      <a:prstDash val="solid"/>
                      <a:round/>
                      <a:headEnd type="none" w="med" len="med"/>
                      <a:tailEnd type="none" w="med" len="med"/>
                    </a:lnL>
                    <a:lnR w="12700" cap="flat" cmpd="sng" algn="ctr">
                      <a:solidFill>
                        <a:srgbClr val="B9BEBB"/>
                      </a:solidFill>
                      <a:prstDash val="solid"/>
                      <a:round/>
                      <a:headEnd type="none" w="med" len="med"/>
                      <a:tailEnd type="none" w="med" len="med"/>
                    </a:lnR>
                    <a:lnT w="12700" cap="flat" cmpd="sng" algn="ctr">
                      <a:solidFill>
                        <a:srgbClr val="C7C8C6"/>
                      </a:solidFill>
                      <a:prstDash val="solid"/>
                      <a:round/>
                      <a:headEnd type="none" w="med" len="med"/>
                      <a:tailEnd type="none" w="med" len="med"/>
                    </a:lnT>
                    <a:lnB w="12700" cap="flat" cmpd="sng" algn="ctr">
                      <a:solidFill>
                        <a:srgbClr val="B9BEBB"/>
                      </a:solidFill>
                      <a:prstDash val="solid"/>
                      <a:round/>
                      <a:headEnd type="none" w="med" len="med"/>
                      <a:tailEnd type="none" w="med" len="med"/>
                    </a:lnB>
                    <a:solidFill>
                      <a:srgbClr val="E8EEEA"/>
                    </a:solidFill>
                  </a:tcPr>
                </a:tc>
                <a:tc>
                  <a:txBody>
                    <a:bodyPr/>
                    <a:lstStyle/>
                    <a:p>
                      <a:pPr indent="0" marL="0">
                        <a:lnSpc>
                          <a:spcPts val="1960"/>
                        </a:lnSpc>
                        <a:buNone/>
                      </a:pPr>
                      <a:r>
                        <a:rPr lang="en-US" sz="1400" dirty="0">
                          <a:solidFill>
                            <a:srgbClr val="14262B"/>
                          </a:solidFill>
                          <a:latin typeface="Arial" pitchFamily="34" charset="0"/>
                          <a:ea typeface="Arial" pitchFamily="34" charset="-122"/>
                          <a:cs typeface="Arial" pitchFamily="34" charset="-120"/>
                        </a:rPr>
                        <a:t>Per filament datasheet</a:t>
                      </a:r>
                      <a:endParaRPr lang="en-US" sz="1400" dirty="0">
                        <a:latin typeface="Arial" charset="0"/>
                        <a:ea typeface="Arial" charset="0"/>
                        <a:cs typeface="Arial" charset="0"/>
                      </a:endParaRPr>
                    </a:p>
                  </a:txBody>
                  <a:tcPr marL="62230" marR="62230" marT="62230" marB="62230" anchor="t">
                    <a:lnL w="12700" cap="flat" cmpd="sng" algn="ctr">
                      <a:solidFill>
                        <a:srgbClr val="B9BEBB"/>
                      </a:solidFill>
                      <a:prstDash val="solid"/>
                      <a:round/>
                      <a:headEnd type="none" w="med" len="med"/>
                      <a:tailEnd type="none" w="med" len="med"/>
                    </a:lnL>
                    <a:lnR w="12700" cap="flat" cmpd="sng" algn="ctr">
                      <a:solidFill>
                        <a:srgbClr val="B9BEBB"/>
                      </a:solidFill>
                      <a:prstDash val="solid"/>
                      <a:round/>
                      <a:headEnd type="none" w="med" len="med"/>
                      <a:tailEnd type="none" w="med" len="med"/>
                    </a:lnR>
                    <a:lnT w="12700" cap="flat" cmpd="sng" algn="ctr">
                      <a:solidFill>
                        <a:srgbClr val="C7C8C6"/>
                      </a:solidFill>
                      <a:prstDash val="solid"/>
                      <a:round/>
                      <a:headEnd type="none" w="med" len="med"/>
                      <a:tailEnd type="none" w="med" len="med"/>
                    </a:lnT>
                    <a:lnB w="12700" cap="flat" cmpd="sng" algn="ctr">
                      <a:solidFill>
                        <a:srgbClr val="B9BEBB"/>
                      </a:solidFill>
                      <a:prstDash val="solid"/>
                      <a:round/>
                      <a:headEnd type="none" w="med" len="med"/>
                      <a:tailEnd type="none" w="med" len="med"/>
                    </a:lnB>
                    <a:solidFill>
                      <a:srgbClr val="E8EEEA"/>
                    </a:solidFill>
                  </a:tcPr>
                </a:tc>
              </a:tr>
            </a:tbl>
          </a:graphicData>
        </a:graphic>
      </p:graphicFrame>
      <p:sp>
        <p:nvSpPr>
          <p:cNvPr id="5" name="Text 2"/>
          <p:cNvSpPr/>
          <p:nvPr/>
        </p:nvSpPr>
        <p:spPr>
          <a:xfrm>
            <a:off x="812800" y="4752342"/>
            <a:ext cx="10566400" cy="673100"/>
          </a:xfrm>
          <a:prstGeom prst="roundRect">
            <a:avLst>
              <a:gd name="adj" fmla="val 15094"/>
            </a:avLst>
          </a:prstGeom>
          <a:solidFill>
            <a:srgbClr val="0B7A75"/>
          </a:solidFill>
          <a:ln/>
        </p:spPr>
        <p:txBody>
          <a:bodyPr wrap="square" lIns="224242" tIns="173442" rIns="0" bIns="148042" rtlCol="0" anchor="t">
            <a:normAutofit/>
          </a:bodyPr>
          <a:lstStyle/>
          <a:p>
            <a:pPr algn="l" indent="0" marL="0">
              <a:lnSpc>
                <a:spcPts val="2100"/>
              </a:lnSpc>
              <a:buNone/>
            </a:pPr>
            <a:r>
              <a:rPr lang="en-US" sz="1500" dirty="0">
                <a:solidFill>
                  <a:srgbClr val="F3F5F1"/>
                </a:solidFill>
                <a:latin typeface="Arial" pitchFamily="34" charset="0"/>
                <a:ea typeface="Arial" pitchFamily="34" charset="-122"/>
                <a:cs typeface="Arial" pitchFamily="34" charset="-120"/>
              </a:rPr>
              <a:t>These are typical starting values. Replace them with your own slicer profile.</a:t>
            </a:r>
            <a:endParaRPr lang="en-US" sz="1500" dirty="0"/>
          </a:p>
        </p:txBody>
      </p:sp>
      <p:sp>
        <p:nvSpPr>
          <p:cNvPr id="6" name="Text 3"/>
          <p:cNvSpPr/>
          <p:nvPr/>
        </p:nvSpPr>
        <p:spPr>
          <a:xfrm>
            <a:off x="812800" y="6238242"/>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B5F63"/>
                </a:solidFill>
                <a:latin typeface="Arial" pitchFamily="34" charset="0"/>
                <a:ea typeface="Arial" pitchFamily="34" charset="-122"/>
                <a:cs typeface="Arial" pitchFamily="34" charset="-120"/>
              </a:rPr>
              <a:t>Handheld 3D Printed Fan · Manufacturing Technology</a:t>
            </a:r>
            <a:endParaRPr lang="en-US" sz="1200" dirty="0"/>
          </a:p>
        </p:txBody>
      </p:sp>
      <p:sp>
        <p:nvSpPr>
          <p:cNvPr id="7" name="Text 4"/>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B5F63"/>
                </a:solidFill>
                <a:latin typeface="Arial" pitchFamily="34" charset="0"/>
                <a:ea typeface="Arial" pitchFamily="34" charset="-122"/>
                <a:cs typeface="Arial"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B7A75"/>
                </a:solidFill>
                <a:latin typeface="Arial" pitchFamily="34" charset="0"/>
                <a:ea typeface="Arial" pitchFamily="34" charset="-122"/>
                <a:cs typeface="Arial" pitchFamily="34" charset="-120"/>
              </a:rPr>
              <a:t>04 · ASSEMBLY &amp; COST</a:t>
            </a:r>
            <a:endParaRPr lang="en-US" sz="1200" dirty="0"/>
          </a:p>
        </p:txBody>
      </p:sp>
      <p:sp>
        <p:nvSpPr>
          <p:cNvPr id="3" name="Text 1"/>
          <p:cNvSpPr/>
          <p:nvPr>
            <p:ph type="title"/>
          </p:nvPr>
        </p:nvSpPr>
        <p:spPr>
          <a:xfrm>
            <a:off x="812800" y="11023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62B"/>
                </a:solidFill>
                <a:latin typeface="Arial" pitchFamily="34" charset="0"/>
                <a:ea typeface="Arial" pitchFamily="34" charset="-122"/>
                <a:cs typeface="Arial" pitchFamily="34" charset="-120"/>
              </a:rPr>
              <a:t>Bill of materials and assembly</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813560"/>
          <a:ext cx="6339840" cy="2498090"/>
        </p:xfrm>
        <a:graphic>
          <a:graphicData uri="http://schemas.openxmlformats.org/drawingml/2006/table">
            <a:tbl>
              <a:tblPr/>
              <a:tblGrid>
                <a:gridCol w="2789530"/>
                <a:gridCol w="887578"/>
                <a:gridCol w="1521562"/>
                <a:gridCol w="1141171"/>
              </a:tblGrid>
              <a:tr h="356870">
                <a:tc>
                  <a:txBody>
                    <a:bodyPr/>
                    <a:lstStyle/>
                    <a:p>
                      <a:pPr indent="0" marL="0">
                        <a:lnSpc>
                          <a:spcPts val="1820"/>
                        </a:lnSpc>
                        <a:buNone/>
                      </a:pPr>
                      <a:r>
                        <a:rPr lang="en-US" sz="1300" b="1" dirty="0">
                          <a:solidFill>
                            <a:srgbClr val="EAF2EF"/>
                          </a:solidFill>
                          <a:latin typeface="Arial" pitchFamily="34" charset="0"/>
                          <a:ea typeface="Arial" pitchFamily="34" charset="-122"/>
                          <a:cs typeface="Arial" pitchFamily="34" charset="-120"/>
                        </a:rPr>
                        <a:t>Item</a:t>
                      </a:r>
                      <a:endParaRPr lang="en-US" sz="1300" dirty="0">
                        <a:latin typeface="Arial" charset="0"/>
                        <a:ea typeface="Arial" charset="0"/>
                        <a:cs typeface="Arial" charset="0"/>
                      </a:endParaRPr>
                    </a:p>
                  </a:txBody>
                  <a:tcPr marL="57785" marR="57785" marT="57785" marB="57785" anchor="t">
                    <a:lnL w="12700" cap="flat" cmpd="sng" algn="ctr">
                      <a:solidFill>
                        <a:srgbClr val="C2C4C0"/>
                      </a:solidFill>
                      <a:prstDash val="solid"/>
                      <a:round/>
                      <a:headEnd type="none" w="med" len="med"/>
                      <a:tailEnd type="none" w="med" len="med"/>
                    </a:lnL>
                    <a:lnR w="12700" cap="flat" cmpd="sng" algn="ctr">
                      <a:solidFill>
                        <a:srgbClr val="142226"/>
                      </a:solidFill>
                      <a:prstDash val="solid"/>
                      <a:round/>
                      <a:headEnd type="none" w="med" len="med"/>
                      <a:tailEnd type="none" w="med" len="med"/>
                    </a:lnR>
                    <a:lnT w="12700" cap="flat" cmpd="sng" algn="ctr">
                      <a:solidFill>
                        <a:srgbClr val="C2C4C0"/>
                      </a:solidFill>
                      <a:prstDash val="solid"/>
                      <a:round/>
                      <a:headEnd type="none" w="med" len="med"/>
                      <a:tailEnd type="none" w="med" len="med"/>
                    </a:lnT>
                    <a:lnB w="12700" cap="flat" cmpd="sng" algn="ctr">
                      <a:solidFill>
                        <a:srgbClr val="142226"/>
                      </a:solidFill>
                      <a:prstDash val="solid"/>
                      <a:round/>
                      <a:headEnd type="none" w="med" len="med"/>
                      <a:tailEnd type="none" w="med" len="med"/>
                    </a:lnB>
                    <a:solidFill>
                      <a:srgbClr val="14262B"/>
                    </a:solidFill>
                  </a:tcPr>
                </a:tc>
                <a:tc>
                  <a:txBody>
                    <a:bodyPr/>
                    <a:lstStyle/>
                    <a:p>
                      <a:pPr indent="0" marL="0">
                        <a:lnSpc>
                          <a:spcPts val="1820"/>
                        </a:lnSpc>
                        <a:buNone/>
                      </a:pPr>
                      <a:r>
                        <a:rPr lang="en-US" sz="1300" b="1" dirty="0">
                          <a:solidFill>
                            <a:srgbClr val="EAF2EF"/>
                          </a:solidFill>
                          <a:latin typeface="Arial" pitchFamily="34" charset="0"/>
                          <a:ea typeface="Arial" pitchFamily="34" charset="-122"/>
                          <a:cs typeface="Arial" pitchFamily="34" charset="-120"/>
                        </a:rPr>
                        <a:t>Qty</a:t>
                      </a:r>
                      <a:endParaRPr lang="en-US" sz="1300" dirty="0">
                        <a:latin typeface="Arial" charset="0"/>
                        <a:ea typeface="Arial" charset="0"/>
                        <a:cs typeface="Arial" charset="0"/>
                      </a:endParaRPr>
                    </a:p>
                  </a:txBody>
                  <a:tcPr marL="57785" marR="57785" marT="57785" marB="57785" anchor="t">
                    <a:lnL w="12700" cap="flat" cmpd="sng" algn="ctr">
                      <a:solidFill>
                        <a:srgbClr val="142226"/>
                      </a:solidFill>
                      <a:prstDash val="solid"/>
                      <a:round/>
                      <a:headEnd type="none" w="med" len="med"/>
                      <a:tailEnd type="none" w="med" len="med"/>
                    </a:lnL>
                    <a:lnR w="12700" cap="flat" cmpd="sng" algn="ctr">
                      <a:solidFill>
                        <a:srgbClr val="142226"/>
                      </a:solidFill>
                      <a:prstDash val="solid"/>
                      <a:round/>
                      <a:headEnd type="none" w="med" len="med"/>
                      <a:tailEnd type="none" w="med" len="med"/>
                    </a:lnR>
                    <a:lnT w="12700" cap="flat" cmpd="sng" algn="ctr">
                      <a:solidFill>
                        <a:srgbClr val="C2C4C0"/>
                      </a:solidFill>
                      <a:prstDash val="solid"/>
                      <a:round/>
                      <a:headEnd type="none" w="med" len="med"/>
                      <a:tailEnd type="none" w="med" len="med"/>
                    </a:lnT>
                    <a:lnB w="12700" cap="flat" cmpd="sng" algn="ctr">
                      <a:solidFill>
                        <a:srgbClr val="142226"/>
                      </a:solidFill>
                      <a:prstDash val="solid"/>
                      <a:round/>
                      <a:headEnd type="none" w="med" len="med"/>
                      <a:tailEnd type="none" w="med" len="med"/>
                    </a:lnB>
                    <a:solidFill>
                      <a:srgbClr val="14262B"/>
                    </a:solidFill>
                  </a:tcPr>
                </a:tc>
                <a:tc>
                  <a:txBody>
                    <a:bodyPr/>
                    <a:lstStyle/>
                    <a:p>
                      <a:pPr indent="0" marL="0">
                        <a:lnSpc>
                          <a:spcPts val="1820"/>
                        </a:lnSpc>
                        <a:buNone/>
                      </a:pPr>
                      <a:r>
                        <a:rPr lang="en-US" sz="1300" b="1" dirty="0">
                          <a:solidFill>
                            <a:srgbClr val="EAF2EF"/>
                          </a:solidFill>
                          <a:latin typeface="Arial" pitchFamily="34" charset="0"/>
                          <a:ea typeface="Arial" pitchFamily="34" charset="-122"/>
                          <a:cs typeface="Arial" pitchFamily="34" charset="-120"/>
                        </a:rPr>
                        <a:t>Source</a:t>
                      </a:r>
                      <a:endParaRPr lang="en-US" sz="1300" dirty="0">
                        <a:latin typeface="Arial" charset="0"/>
                        <a:ea typeface="Arial" charset="0"/>
                        <a:cs typeface="Arial" charset="0"/>
                      </a:endParaRPr>
                    </a:p>
                  </a:txBody>
                  <a:tcPr marL="57785" marR="57785" marT="57785" marB="57785" anchor="t">
                    <a:lnL w="12700" cap="flat" cmpd="sng" algn="ctr">
                      <a:solidFill>
                        <a:srgbClr val="142226"/>
                      </a:solidFill>
                      <a:prstDash val="solid"/>
                      <a:round/>
                      <a:headEnd type="none" w="med" len="med"/>
                      <a:tailEnd type="none" w="med" len="med"/>
                    </a:lnL>
                    <a:lnR w="12700" cap="flat" cmpd="sng" algn="ctr">
                      <a:solidFill>
                        <a:srgbClr val="142226"/>
                      </a:solidFill>
                      <a:prstDash val="solid"/>
                      <a:round/>
                      <a:headEnd type="none" w="med" len="med"/>
                      <a:tailEnd type="none" w="med" len="med"/>
                    </a:lnR>
                    <a:lnT w="12700" cap="flat" cmpd="sng" algn="ctr">
                      <a:solidFill>
                        <a:srgbClr val="C2C4C0"/>
                      </a:solidFill>
                      <a:prstDash val="solid"/>
                      <a:round/>
                      <a:headEnd type="none" w="med" len="med"/>
                      <a:tailEnd type="none" w="med" len="med"/>
                    </a:lnT>
                    <a:lnB w="12700" cap="flat" cmpd="sng" algn="ctr">
                      <a:solidFill>
                        <a:srgbClr val="142226"/>
                      </a:solidFill>
                      <a:prstDash val="solid"/>
                      <a:round/>
                      <a:headEnd type="none" w="med" len="med"/>
                      <a:tailEnd type="none" w="med" len="med"/>
                    </a:lnB>
                    <a:solidFill>
                      <a:srgbClr val="14262B"/>
                    </a:solidFill>
                  </a:tcPr>
                </a:tc>
                <a:tc>
                  <a:txBody>
                    <a:bodyPr/>
                    <a:lstStyle/>
                    <a:p>
                      <a:pPr indent="0" marL="0">
                        <a:lnSpc>
                          <a:spcPts val="1820"/>
                        </a:lnSpc>
                        <a:buNone/>
                      </a:pPr>
                      <a:r>
                        <a:rPr lang="en-US" sz="1300" b="1" dirty="0">
                          <a:solidFill>
                            <a:srgbClr val="EAF2EF"/>
                          </a:solidFill>
                          <a:latin typeface="Arial" pitchFamily="34" charset="0"/>
                          <a:ea typeface="Arial" pitchFamily="34" charset="-122"/>
                          <a:cs typeface="Arial" pitchFamily="34" charset="-120"/>
                        </a:rPr>
                        <a:t>Cost (₹)</a:t>
                      </a:r>
                      <a:endParaRPr lang="en-US" sz="1300" dirty="0">
                        <a:latin typeface="Arial" charset="0"/>
                        <a:ea typeface="Arial" charset="0"/>
                        <a:cs typeface="Arial" charset="0"/>
                      </a:endParaRPr>
                    </a:p>
                  </a:txBody>
                  <a:tcPr marL="57785" marR="57785" marT="57785" marB="57785" anchor="t">
                    <a:lnL w="12700" cap="flat" cmpd="sng" algn="ctr">
                      <a:solidFill>
                        <a:srgbClr val="142226"/>
                      </a:solidFill>
                      <a:prstDash val="solid"/>
                      <a:round/>
                      <a:headEnd type="none" w="med" len="med"/>
                      <a:tailEnd type="none" w="med" len="med"/>
                    </a:lnL>
                    <a:lnR w="12700" cap="flat" cmpd="sng" algn="ctr">
                      <a:solidFill>
                        <a:srgbClr val="142226"/>
                      </a:solidFill>
                      <a:prstDash val="solid"/>
                      <a:round/>
                      <a:headEnd type="none" w="med" len="med"/>
                      <a:tailEnd type="none" w="med" len="med"/>
                    </a:lnR>
                    <a:lnT w="12700" cap="flat" cmpd="sng" algn="ctr">
                      <a:solidFill>
                        <a:srgbClr val="C2C4C0"/>
                      </a:solidFill>
                      <a:prstDash val="solid"/>
                      <a:round/>
                      <a:headEnd type="none" w="med" len="med"/>
                      <a:tailEnd type="none" w="med" len="med"/>
                    </a:lnT>
                    <a:lnB w="12700" cap="flat" cmpd="sng" algn="ctr">
                      <a:solidFill>
                        <a:srgbClr val="142226"/>
                      </a:solidFill>
                      <a:prstDash val="solid"/>
                      <a:round/>
                      <a:headEnd type="none" w="med" len="med"/>
                      <a:tailEnd type="none" w="med" len="med"/>
                    </a:lnB>
                    <a:solidFill>
                      <a:srgbClr val="14262B"/>
                    </a:solidFill>
                  </a:tcPr>
                </a:tc>
              </a:tr>
              <a:tr h="356870">
                <a:tc>
                  <a:txBody>
                    <a:bodyPr/>
                    <a:lstStyle/>
                    <a:p>
                      <a:pPr indent="0" marL="0">
                        <a:lnSpc>
                          <a:spcPts val="1820"/>
                        </a:lnSpc>
                        <a:buNone/>
                      </a:pPr>
                      <a:r>
                        <a:rPr lang="en-US" sz="1300" dirty="0">
                          <a:solidFill>
                            <a:srgbClr val="14262B"/>
                          </a:solidFill>
                          <a:latin typeface="Arial" pitchFamily="34" charset="0"/>
                          <a:ea typeface="Arial" pitchFamily="34" charset="-122"/>
                          <a:cs typeface="Arial" pitchFamily="34" charset="-120"/>
                        </a:rPr>
                        <a:t>Filament for printed parts</a:t>
                      </a:r>
                      <a:endParaRPr lang="en-US" sz="1300" dirty="0">
                        <a:latin typeface="Arial" charset="0"/>
                        <a:ea typeface="Arial" charset="0"/>
                        <a:cs typeface="Arial" charset="0"/>
                      </a:endParaRPr>
                    </a:p>
                  </a:txBody>
                  <a:tcPr marL="57785" marR="57785" marT="57785" marB="57785" anchor="t">
                    <a:lnL w="12700" cap="flat" cmpd="sng" algn="ctr">
                      <a:solidFill>
                        <a:srgbClr val="C2C4C0"/>
                      </a:solidFill>
                      <a:prstDash val="solid"/>
                      <a:round/>
                      <a:headEnd type="none" w="med" len="med"/>
                      <a:tailEnd type="none" w="med" len="med"/>
                    </a:lnL>
                    <a:lnR w="12700" cap="flat" cmpd="sng" algn="ctr">
                      <a:solidFill>
                        <a:srgbClr val="C7C8C6"/>
                      </a:solidFill>
                      <a:prstDash val="solid"/>
                      <a:round/>
                      <a:headEnd type="none" w="med" len="med"/>
                      <a:tailEnd type="none" w="med" len="med"/>
                    </a:lnR>
                    <a:lnT w="12700" cap="flat" cmpd="sng" algn="ctr">
                      <a:solidFill>
                        <a:srgbClr val="142226"/>
                      </a:solidFill>
                      <a:prstDash val="solid"/>
                      <a:round/>
                      <a:headEnd type="none" w="med" len="med"/>
                      <a:tailEnd type="none" w="med" len="med"/>
                    </a:lnT>
                    <a:lnB w="12700" cap="flat" cmpd="sng" algn="ctr">
                      <a:solidFill>
                        <a:srgbClr val="C7C8C6"/>
                      </a:solidFill>
                      <a:prstDash val="solid"/>
                      <a:round/>
                      <a:headEnd type="none" w="med" len="med"/>
                      <a:tailEnd type="none" w="med" len="med"/>
                    </a:lnB>
                    <a:solidFill>
                      <a:srgbClr val="FAFBF8"/>
                    </a:solidFill>
                  </a:tcPr>
                </a:tc>
                <a:tc>
                  <a:txBody>
                    <a:bodyPr/>
                    <a:lstStyle/>
                    <a:p>
                      <a:pPr indent="0" marL="0">
                        <a:lnSpc>
                          <a:spcPts val="1820"/>
                        </a:lnSpc>
                        <a:buNone/>
                      </a:pPr>
                      <a:r>
                        <a:rPr lang="en-US" sz="1300" dirty="0">
                          <a:solidFill>
                            <a:srgbClr val="14262B"/>
                          </a:solidFill>
                          <a:latin typeface="Arial" pitchFamily="34" charset="0"/>
                          <a:ea typeface="Arial" pitchFamily="34" charset="-122"/>
                          <a:cs typeface="Arial" pitchFamily="34" charset="-120"/>
                        </a:rPr>
                        <a:t>1 set</a:t>
                      </a:r>
                      <a:endParaRPr lang="en-US" sz="1300" dirty="0">
                        <a:latin typeface="Arial" charset="0"/>
                        <a:ea typeface="Arial" charset="0"/>
                        <a:cs typeface="Arial" charset="0"/>
                      </a:endParaRPr>
                    </a:p>
                  </a:txBody>
                  <a:tcPr marL="57785" marR="57785" marT="57785" marB="57785" anchor="t">
                    <a:lnL w="12700" cap="flat" cmpd="sng" algn="ctr">
                      <a:solidFill>
                        <a:srgbClr val="C7C8C6"/>
                      </a:solidFill>
                      <a:prstDash val="solid"/>
                      <a:round/>
                      <a:headEnd type="none" w="med" len="med"/>
                      <a:tailEnd type="none" w="med" len="med"/>
                    </a:lnL>
                    <a:lnR w="12700" cap="flat" cmpd="sng" algn="ctr">
                      <a:solidFill>
                        <a:srgbClr val="C7C8C6"/>
                      </a:solidFill>
                      <a:prstDash val="solid"/>
                      <a:round/>
                      <a:headEnd type="none" w="med" len="med"/>
                      <a:tailEnd type="none" w="med" len="med"/>
                    </a:lnR>
                    <a:lnT w="12700" cap="flat" cmpd="sng" algn="ctr">
                      <a:solidFill>
                        <a:srgbClr val="142226"/>
                      </a:solidFill>
                      <a:prstDash val="solid"/>
                      <a:round/>
                      <a:headEnd type="none" w="med" len="med"/>
                      <a:tailEnd type="none" w="med" len="med"/>
                    </a:lnT>
                    <a:lnB w="12700" cap="flat" cmpd="sng" algn="ctr">
                      <a:solidFill>
                        <a:srgbClr val="C7C8C6"/>
                      </a:solidFill>
                      <a:prstDash val="solid"/>
                      <a:round/>
                      <a:headEnd type="none" w="med" len="med"/>
                      <a:tailEnd type="none" w="med" len="med"/>
                    </a:lnB>
                    <a:solidFill>
                      <a:srgbClr val="FAFBF8"/>
                    </a:solidFill>
                  </a:tcPr>
                </a:tc>
                <a:tc>
                  <a:txBody>
                    <a:bodyPr/>
                    <a:lstStyle/>
                    <a:p>
                      <a:pPr indent="0" marL="0">
                        <a:lnSpc>
                          <a:spcPts val="1820"/>
                        </a:lnSpc>
                        <a:buNone/>
                      </a:pPr>
                      <a:r>
                        <a:rPr lang="en-US" sz="1300" dirty="0">
                          <a:solidFill>
                            <a:srgbClr val="14262B"/>
                          </a:solidFill>
                          <a:latin typeface="Arial" pitchFamily="34" charset="0"/>
                          <a:ea typeface="Arial" pitchFamily="34" charset="-122"/>
                          <a:cs typeface="Arial" pitchFamily="34" charset="-120"/>
                        </a:rPr>
                        <a:t>Printed</a:t>
                      </a:r>
                      <a:endParaRPr lang="en-US" sz="1300" dirty="0">
                        <a:latin typeface="Arial" charset="0"/>
                        <a:ea typeface="Arial" charset="0"/>
                        <a:cs typeface="Arial" charset="0"/>
                      </a:endParaRPr>
                    </a:p>
                  </a:txBody>
                  <a:tcPr marL="57785" marR="57785" marT="57785" marB="57785" anchor="t">
                    <a:lnL w="12700" cap="flat" cmpd="sng" algn="ctr">
                      <a:solidFill>
                        <a:srgbClr val="C7C8C6"/>
                      </a:solidFill>
                      <a:prstDash val="solid"/>
                      <a:round/>
                      <a:headEnd type="none" w="med" len="med"/>
                      <a:tailEnd type="none" w="med" len="med"/>
                    </a:lnL>
                    <a:lnR w="12700" cap="flat" cmpd="sng" algn="ctr">
                      <a:solidFill>
                        <a:srgbClr val="C7C8C6"/>
                      </a:solidFill>
                      <a:prstDash val="solid"/>
                      <a:round/>
                      <a:headEnd type="none" w="med" len="med"/>
                      <a:tailEnd type="none" w="med" len="med"/>
                    </a:lnR>
                    <a:lnT w="12700" cap="flat" cmpd="sng" algn="ctr">
                      <a:solidFill>
                        <a:srgbClr val="142226"/>
                      </a:solidFill>
                      <a:prstDash val="solid"/>
                      <a:round/>
                      <a:headEnd type="none" w="med" len="med"/>
                      <a:tailEnd type="none" w="med" len="med"/>
                    </a:lnT>
                    <a:lnB w="12700" cap="flat" cmpd="sng" algn="ctr">
                      <a:solidFill>
                        <a:srgbClr val="C7C8C6"/>
                      </a:solidFill>
                      <a:prstDash val="solid"/>
                      <a:round/>
                      <a:headEnd type="none" w="med" len="med"/>
                      <a:tailEnd type="none" w="med" len="med"/>
                    </a:lnB>
                    <a:solidFill>
                      <a:srgbClr val="FAFBF8"/>
                    </a:solidFill>
                  </a:tcPr>
                </a:tc>
                <a:tc>
                  <a:txBody>
                    <a:bodyPr/>
                    <a:lstStyle/>
                    <a:p>
                      <a:pPr indent="0" marL="0">
                        <a:lnSpc>
                          <a:spcPts val="1820"/>
                        </a:lnSpc>
                        <a:buNone/>
                      </a:pPr>
                      <a:r>
                        <a:rPr lang="en-US" sz="1300" dirty="0">
                          <a:solidFill>
                            <a:srgbClr val="14262B"/>
                          </a:solidFill>
                          <a:latin typeface="Arial" pitchFamily="34" charset="0"/>
                          <a:ea typeface="Arial" pitchFamily="34" charset="-122"/>
                          <a:cs typeface="Arial" pitchFamily="34" charset="-120"/>
                        </a:rPr>
                        <a:t>[__]</a:t>
                      </a:r>
                      <a:endParaRPr lang="en-US" sz="1300" dirty="0">
                        <a:latin typeface="Arial" charset="0"/>
                        <a:ea typeface="Arial" charset="0"/>
                        <a:cs typeface="Arial" charset="0"/>
                      </a:endParaRPr>
                    </a:p>
                  </a:txBody>
                  <a:tcPr marL="57785" marR="57785" marT="57785" marB="57785" anchor="t">
                    <a:lnL w="12700" cap="flat" cmpd="sng" algn="ctr">
                      <a:solidFill>
                        <a:srgbClr val="C7C8C6"/>
                      </a:solidFill>
                      <a:prstDash val="solid"/>
                      <a:round/>
                      <a:headEnd type="none" w="med" len="med"/>
                      <a:tailEnd type="none" w="med" len="med"/>
                    </a:lnL>
                    <a:lnR w="12700" cap="flat" cmpd="sng" algn="ctr">
                      <a:solidFill>
                        <a:srgbClr val="C7C8C6"/>
                      </a:solidFill>
                      <a:prstDash val="solid"/>
                      <a:round/>
                      <a:headEnd type="none" w="med" len="med"/>
                      <a:tailEnd type="none" w="med" len="med"/>
                    </a:lnR>
                    <a:lnT w="12700" cap="flat" cmpd="sng" algn="ctr">
                      <a:solidFill>
                        <a:srgbClr val="142226"/>
                      </a:solidFill>
                      <a:prstDash val="solid"/>
                      <a:round/>
                      <a:headEnd type="none" w="med" len="med"/>
                      <a:tailEnd type="none" w="med" len="med"/>
                    </a:lnT>
                    <a:lnB w="12700" cap="flat" cmpd="sng" algn="ctr">
                      <a:solidFill>
                        <a:srgbClr val="C7C8C6"/>
                      </a:solidFill>
                      <a:prstDash val="solid"/>
                      <a:round/>
                      <a:headEnd type="none" w="med" len="med"/>
                      <a:tailEnd type="none" w="med" len="med"/>
                    </a:lnB>
                    <a:solidFill>
                      <a:srgbClr val="FAFBF8"/>
                    </a:solidFill>
                  </a:tcPr>
                </a:tc>
              </a:tr>
              <a:tr h="356870">
                <a:tc>
                  <a:txBody>
                    <a:bodyPr/>
                    <a:lstStyle/>
                    <a:p>
                      <a:pPr indent="0" marL="0">
                        <a:lnSpc>
                          <a:spcPts val="1820"/>
                        </a:lnSpc>
                        <a:buNone/>
                      </a:pPr>
                      <a:r>
                        <a:rPr lang="en-US" sz="1300" dirty="0">
                          <a:solidFill>
                            <a:srgbClr val="14262B"/>
                          </a:solidFill>
                          <a:latin typeface="Arial" pitchFamily="34" charset="0"/>
                          <a:ea typeface="Arial" pitchFamily="34" charset="-122"/>
                          <a:cs typeface="Arial" pitchFamily="34" charset="-120"/>
                        </a:rPr>
                        <a:t>DC motor</a:t>
                      </a:r>
                      <a:endParaRPr lang="en-US" sz="1300" dirty="0">
                        <a:latin typeface="Arial" charset="0"/>
                        <a:ea typeface="Arial" charset="0"/>
                        <a:cs typeface="Arial" charset="0"/>
                      </a:endParaRPr>
                    </a:p>
                  </a:txBody>
                  <a:tcPr marL="57785" marR="57785" marT="57785" marB="57785" anchor="t">
                    <a:lnL w="12700" cap="flat" cmpd="sng" algn="ctr">
                      <a:solidFill>
                        <a:srgbClr val="C2C4C0"/>
                      </a:solidFill>
                      <a:prstDash val="solid"/>
                      <a:round/>
                      <a:headEnd type="none" w="med" len="med"/>
                      <a:tailEnd type="none" w="med" len="med"/>
                    </a:lnL>
                    <a:lnR w="12700" cap="flat" cmpd="sng" algn="ctr">
                      <a:solidFill>
                        <a:srgbClr val="B9BEBB"/>
                      </a:solidFill>
                      <a:prstDash val="solid"/>
                      <a:round/>
                      <a:headEnd type="none" w="med" len="med"/>
                      <a:tailEnd type="none" w="med" len="med"/>
                    </a:lnR>
                    <a:lnT w="12700" cap="flat" cmpd="sng" algn="ctr">
                      <a:solidFill>
                        <a:srgbClr val="C7C8C6"/>
                      </a:solidFill>
                      <a:prstDash val="solid"/>
                      <a:round/>
                      <a:headEnd type="none" w="med" len="med"/>
                      <a:tailEnd type="none" w="med" len="med"/>
                    </a:lnT>
                    <a:lnB w="12700" cap="flat" cmpd="sng" algn="ctr">
                      <a:solidFill>
                        <a:srgbClr val="B9BEBB"/>
                      </a:solidFill>
                      <a:prstDash val="solid"/>
                      <a:round/>
                      <a:headEnd type="none" w="med" len="med"/>
                      <a:tailEnd type="none" w="med" len="med"/>
                    </a:lnB>
                    <a:solidFill>
                      <a:srgbClr val="E8EEEA"/>
                    </a:solidFill>
                  </a:tcPr>
                </a:tc>
                <a:tc>
                  <a:txBody>
                    <a:bodyPr/>
                    <a:lstStyle/>
                    <a:p>
                      <a:pPr indent="0" marL="0">
                        <a:lnSpc>
                          <a:spcPts val="1820"/>
                        </a:lnSpc>
                        <a:buNone/>
                      </a:pPr>
                      <a:r>
                        <a:rPr lang="en-US" sz="1300" dirty="0">
                          <a:solidFill>
                            <a:srgbClr val="14262B"/>
                          </a:solidFill>
                          <a:latin typeface="Arial" pitchFamily="34" charset="0"/>
                          <a:ea typeface="Arial" pitchFamily="34" charset="-122"/>
                          <a:cs typeface="Arial" pitchFamily="34" charset="-120"/>
                        </a:rPr>
                        <a:t>1</a:t>
                      </a:r>
                      <a:endParaRPr lang="en-US" sz="1300" dirty="0">
                        <a:latin typeface="Arial" charset="0"/>
                        <a:ea typeface="Arial" charset="0"/>
                        <a:cs typeface="Arial" charset="0"/>
                      </a:endParaRPr>
                    </a:p>
                  </a:txBody>
                  <a:tcPr marL="57785" marR="57785" marT="57785" marB="57785" anchor="t">
                    <a:lnL w="12700" cap="flat" cmpd="sng" algn="ctr">
                      <a:solidFill>
                        <a:srgbClr val="B9BEBB"/>
                      </a:solidFill>
                      <a:prstDash val="solid"/>
                      <a:round/>
                      <a:headEnd type="none" w="med" len="med"/>
                      <a:tailEnd type="none" w="med" len="med"/>
                    </a:lnL>
                    <a:lnR w="12700" cap="flat" cmpd="sng" algn="ctr">
                      <a:solidFill>
                        <a:srgbClr val="B9BEBB"/>
                      </a:solidFill>
                      <a:prstDash val="solid"/>
                      <a:round/>
                      <a:headEnd type="none" w="med" len="med"/>
                      <a:tailEnd type="none" w="med" len="med"/>
                    </a:lnR>
                    <a:lnT w="12700" cap="flat" cmpd="sng" algn="ctr">
                      <a:solidFill>
                        <a:srgbClr val="C7C8C6"/>
                      </a:solidFill>
                      <a:prstDash val="solid"/>
                      <a:round/>
                      <a:headEnd type="none" w="med" len="med"/>
                      <a:tailEnd type="none" w="med" len="med"/>
                    </a:lnT>
                    <a:lnB w="12700" cap="flat" cmpd="sng" algn="ctr">
                      <a:solidFill>
                        <a:srgbClr val="B9BEBB"/>
                      </a:solidFill>
                      <a:prstDash val="solid"/>
                      <a:round/>
                      <a:headEnd type="none" w="med" len="med"/>
                      <a:tailEnd type="none" w="med" len="med"/>
                    </a:lnB>
                    <a:solidFill>
                      <a:srgbClr val="E8EEEA"/>
                    </a:solidFill>
                  </a:tcPr>
                </a:tc>
                <a:tc>
                  <a:txBody>
                    <a:bodyPr/>
                    <a:lstStyle/>
                    <a:p>
                      <a:pPr indent="0" marL="0">
                        <a:lnSpc>
                          <a:spcPts val="1820"/>
                        </a:lnSpc>
                        <a:buNone/>
                      </a:pPr>
                      <a:r>
                        <a:rPr lang="en-US" sz="1300" dirty="0">
                          <a:solidFill>
                            <a:srgbClr val="14262B"/>
                          </a:solidFill>
                          <a:latin typeface="Arial" pitchFamily="34" charset="0"/>
                          <a:ea typeface="Arial" pitchFamily="34" charset="-122"/>
                          <a:cs typeface="Arial" pitchFamily="34" charset="-120"/>
                        </a:rPr>
                        <a:t>Purchased</a:t>
                      </a:r>
                      <a:endParaRPr lang="en-US" sz="1300" dirty="0">
                        <a:latin typeface="Arial" charset="0"/>
                        <a:ea typeface="Arial" charset="0"/>
                        <a:cs typeface="Arial" charset="0"/>
                      </a:endParaRPr>
                    </a:p>
                  </a:txBody>
                  <a:tcPr marL="57785" marR="57785" marT="57785" marB="57785" anchor="t">
                    <a:lnL w="12700" cap="flat" cmpd="sng" algn="ctr">
                      <a:solidFill>
                        <a:srgbClr val="B9BEBB"/>
                      </a:solidFill>
                      <a:prstDash val="solid"/>
                      <a:round/>
                      <a:headEnd type="none" w="med" len="med"/>
                      <a:tailEnd type="none" w="med" len="med"/>
                    </a:lnL>
                    <a:lnR w="12700" cap="flat" cmpd="sng" algn="ctr">
                      <a:solidFill>
                        <a:srgbClr val="B9BEBB"/>
                      </a:solidFill>
                      <a:prstDash val="solid"/>
                      <a:round/>
                      <a:headEnd type="none" w="med" len="med"/>
                      <a:tailEnd type="none" w="med" len="med"/>
                    </a:lnR>
                    <a:lnT w="12700" cap="flat" cmpd="sng" algn="ctr">
                      <a:solidFill>
                        <a:srgbClr val="C7C8C6"/>
                      </a:solidFill>
                      <a:prstDash val="solid"/>
                      <a:round/>
                      <a:headEnd type="none" w="med" len="med"/>
                      <a:tailEnd type="none" w="med" len="med"/>
                    </a:lnT>
                    <a:lnB w="12700" cap="flat" cmpd="sng" algn="ctr">
                      <a:solidFill>
                        <a:srgbClr val="B9BEBB"/>
                      </a:solidFill>
                      <a:prstDash val="solid"/>
                      <a:round/>
                      <a:headEnd type="none" w="med" len="med"/>
                      <a:tailEnd type="none" w="med" len="med"/>
                    </a:lnB>
                    <a:solidFill>
                      <a:srgbClr val="E8EEEA"/>
                    </a:solidFill>
                  </a:tcPr>
                </a:tc>
                <a:tc>
                  <a:txBody>
                    <a:bodyPr/>
                    <a:lstStyle/>
                    <a:p>
                      <a:pPr indent="0" marL="0">
                        <a:lnSpc>
                          <a:spcPts val="1820"/>
                        </a:lnSpc>
                        <a:buNone/>
                      </a:pPr>
                      <a:r>
                        <a:rPr lang="en-US" sz="1300" dirty="0">
                          <a:solidFill>
                            <a:srgbClr val="14262B"/>
                          </a:solidFill>
                          <a:latin typeface="Arial" pitchFamily="34" charset="0"/>
                          <a:ea typeface="Arial" pitchFamily="34" charset="-122"/>
                          <a:cs typeface="Arial" pitchFamily="34" charset="-120"/>
                        </a:rPr>
                        <a:t>[__]</a:t>
                      </a:r>
                      <a:endParaRPr lang="en-US" sz="1300" dirty="0">
                        <a:latin typeface="Arial" charset="0"/>
                        <a:ea typeface="Arial" charset="0"/>
                        <a:cs typeface="Arial" charset="0"/>
                      </a:endParaRPr>
                    </a:p>
                  </a:txBody>
                  <a:tcPr marL="57785" marR="57785" marT="57785" marB="57785" anchor="t">
                    <a:lnL w="12700" cap="flat" cmpd="sng" algn="ctr">
                      <a:solidFill>
                        <a:srgbClr val="B9BEBB"/>
                      </a:solidFill>
                      <a:prstDash val="solid"/>
                      <a:round/>
                      <a:headEnd type="none" w="med" len="med"/>
                      <a:tailEnd type="none" w="med" len="med"/>
                    </a:lnL>
                    <a:lnR w="12700" cap="flat" cmpd="sng" algn="ctr">
                      <a:solidFill>
                        <a:srgbClr val="B9BEBB"/>
                      </a:solidFill>
                      <a:prstDash val="solid"/>
                      <a:round/>
                      <a:headEnd type="none" w="med" len="med"/>
                      <a:tailEnd type="none" w="med" len="med"/>
                    </a:lnR>
                    <a:lnT w="12700" cap="flat" cmpd="sng" algn="ctr">
                      <a:solidFill>
                        <a:srgbClr val="C7C8C6"/>
                      </a:solidFill>
                      <a:prstDash val="solid"/>
                      <a:round/>
                      <a:headEnd type="none" w="med" len="med"/>
                      <a:tailEnd type="none" w="med" len="med"/>
                    </a:lnT>
                    <a:lnB w="12700" cap="flat" cmpd="sng" algn="ctr">
                      <a:solidFill>
                        <a:srgbClr val="B9BEBB"/>
                      </a:solidFill>
                      <a:prstDash val="solid"/>
                      <a:round/>
                      <a:headEnd type="none" w="med" len="med"/>
                      <a:tailEnd type="none" w="med" len="med"/>
                    </a:lnB>
                    <a:solidFill>
                      <a:srgbClr val="E8EEEA"/>
                    </a:solidFill>
                  </a:tcPr>
                </a:tc>
              </a:tr>
              <a:tr h="356870">
                <a:tc>
                  <a:txBody>
                    <a:bodyPr/>
                    <a:lstStyle/>
                    <a:p>
                      <a:pPr indent="0" marL="0">
                        <a:lnSpc>
                          <a:spcPts val="1820"/>
                        </a:lnSpc>
                        <a:buNone/>
                      </a:pPr>
                      <a:r>
                        <a:rPr lang="en-US" sz="1300" dirty="0">
                          <a:solidFill>
                            <a:srgbClr val="14262B"/>
                          </a:solidFill>
                          <a:latin typeface="Arial" pitchFamily="34" charset="0"/>
                          <a:ea typeface="Arial" pitchFamily="34" charset="-122"/>
                          <a:cs typeface="Arial" pitchFamily="34" charset="-120"/>
                        </a:rPr>
                        <a:t>Li-ion cell and charger board</a:t>
                      </a:r>
                      <a:endParaRPr lang="en-US" sz="1300" dirty="0">
                        <a:latin typeface="Arial" charset="0"/>
                        <a:ea typeface="Arial" charset="0"/>
                        <a:cs typeface="Arial" charset="0"/>
                      </a:endParaRPr>
                    </a:p>
                  </a:txBody>
                  <a:tcPr marL="57785" marR="57785" marT="57785" marB="57785" anchor="t">
                    <a:lnL w="12700" cap="flat" cmpd="sng" algn="ctr">
                      <a:solidFill>
                        <a:srgbClr val="C2C4C0"/>
                      </a:solidFill>
                      <a:prstDash val="solid"/>
                      <a:round/>
                      <a:headEnd type="none" w="med" len="med"/>
                      <a:tailEnd type="none" w="med" len="med"/>
                    </a:lnL>
                    <a:lnR w="12700" cap="flat" cmpd="sng" algn="ctr">
                      <a:solidFill>
                        <a:srgbClr val="C7C8C6"/>
                      </a:solidFill>
                      <a:prstDash val="solid"/>
                      <a:round/>
                      <a:headEnd type="none" w="med" len="med"/>
                      <a:tailEnd type="none" w="med" len="med"/>
                    </a:lnR>
                    <a:lnT w="12700" cap="flat" cmpd="sng" algn="ctr">
                      <a:solidFill>
                        <a:srgbClr val="B9BEBB"/>
                      </a:solidFill>
                      <a:prstDash val="solid"/>
                      <a:round/>
                      <a:headEnd type="none" w="med" len="med"/>
                      <a:tailEnd type="none" w="med" len="med"/>
                    </a:lnT>
                    <a:lnB w="12700" cap="flat" cmpd="sng" algn="ctr">
                      <a:solidFill>
                        <a:srgbClr val="C7C8C6"/>
                      </a:solidFill>
                      <a:prstDash val="solid"/>
                      <a:round/>
                      <a:headEnd type="none" w="med" len="med"/>
                      <a:tailEnd type="none" w="med" len="med"/>
                    </a:lnB>
                    <a:solidFill>
                      <a:srgbClr val="FAFBF8"/>
                    </a:solidFill>
                  </a:tcPr>
                </a:tc>
                <a:tc>
                  <a:txBody>
                    <a:bodyPr/>
                    <a:lstStyle/>
                    <a:p>
                      <a:pPr indent="0" marL="0">
                        <a:lnSpc>
                          <a:spcPts val="1820"/>
                        </a:lnSpc>
                        <a:buNone/>
                      </a:pPr>
                      <a:r>
                        <a:rPr lang="en-US" sz="1300" dirty="0">
                          <a:solidFill>
                            <a:srgbClr val="14262B"/>
                          </a:solidFill>
                          <a:latin typeface="Arial" pitchFamily="34" charset="0"/>
                          <a:ea typeface="Arial" pitchFamily="34" charset="-122"/>
                          <a:cs typeface="Arial" pitchFamily="34" charset="-120"/>
                        </a:rPr>
                        <a:t>1</a:t>
                      </a:r>
                      <a:endParaRPr lang="en-US" sz="1300" dirty="0">
                        <a:latin typeface="Arial" charset="0"/>
                        <a:ea typeface="Arial" charset="0"/>
                        <a:cs typeface="Arial" charset="0"/>
                      </a:endParaRPr>
                    </a:p>
                  </a:txBody>
                  <a:tcPr marL="57785" marR="57785" marT="57785" marB="57785" anchor="t">
                    <a:lnL w="12700" cap="flat" cmpd="sng" algn="ctr">
                      <a:solidFill>
                        <a:srgbClr val="C7C8C6"/>
                      </a:solidFill>
                      <a:prstDash val="solid"/>
                      <a:round/>
                      <a:headEnd type="none" w="med" len="med"/>
                      <a:tailEnd type="none" w="med" len="med"/>
                    </a:lnL>
                    <a:lnR w="12700" cap="flat" cmpd="sng" algn="ctr">
                      <a:solidFill>
                        <a:srgbClr val="C7C8C6"/>
                      </a:solidFill>
                      <a:prstDash val="solid"/>
                      <a:round/>
                      <a:headEnd type="none" w="med" len="med"/>
                      <a:tailEnd type="none" w="med" len="med"/>
                    </a:lnR>
                    <a:lnT w="12700" cap="flat" cmpd="sng" algn="ctr">
                      <a:solidFill>
                        <a:srgbClr val="B9BEBB"/>
                      </a:solidFill>
                      <a:prstDash val="solid"/>
                      <a:round/>
                      <a:headEnd type="none" w="med" len="med"/>
                      <a:tailEnd type="none" w="med" len="med"/>
                    </a:lnT>
                    <a:lnB w="12700" cap="flat" cmpd="sng" algn="ctr">
                      <a:solidFill>
                        <a:srgbClr val="C7C8C6"/>
                      </a:solidFill>
                      <a:prstDash val="solid"/>
                      <a:round/>
                      <a:headEnd type="none" w="med" len="med"/>
                      <a:tailEnd type="none" w="med" len="med"/>
                    </a:lnB>
                    <a:solidFill>
                      <a:srgbClr val="FAFBF8"/>
                    </a:solidFill>
                  </a:tcPr>
                </a:tc>
                <a:tc>
                  <a:txBody>
                    <a:bodyPr/>
                    <a:lstStyle/>
                    <a:p>
                      <a:pPr indent="0" marL="0">
                        <a:lnSpc>
                          <a:spcPts val="1820"/>
                        </a:lnSpc>
                        <a:buNone/>
                      </a:pPr>
                      <a:r>
                        <a:rPr lang="en-US" sz="1300" dirty="0">
                          <a:solidFill>
                            <a:srgbClr val="14262B"/>
                          </a:solidFill>
                          <a:latin typeface="Arial" pitchFamily="34" charset="0"/>
                          <a:ea typeface="Arial" pitchFamily="34" charset="-122"/>
                          <a:cs typeface="Arial" pitchFamily="34" charset="-120"/>
                        </a:rPr>
                        <a:t>Purchased</a:t>
                      </a:r>
                      <a:endParaRPr lang="en-US" sz="1300" dirty="0">
                        <a:latin typeface="Arial" charset="0"/>
                        <a:ea typeface="Arial" charset="0"/>
                        <a:cs typeface="Arial" charset="0"/>
                      </a:endParaRPr>
                    </a:p>
                  </a:txBody>
                  <a:tcPr marL="57785" marR="57785" marT="57785" marB="57785" anchor="t">
                    <a:lnL w="12700" cap="flat" cmpd="sng" algn="ctr">
                      <a:solidFill>
                        <a:srgbClr val="C7C8C6"/>
                      </a:solidFill>
                      <a:prstDash val="solid"/>
                      <a:round/>
                      <a:headEnd type="none" w="med" len="med"/>
                      <a:tailEnd type="none" w="med" len="med"/>
                    </a:lnL>
                    <a:lnR w="12700" cap="flat" cmpd="sng" algn="ctr">
                      <a:solidFill>
                        <a:srgbClr val="C7C8C6"/>
                      </a:solidFill>
                      <a:prstDash val="solid"/>
                      <a:round/>
                      <a:headEnd type="none" w="med" len="med"/>
                      <a:tailEnd type="none" w="med" len="med"/>
                    </a:lnR>
                    <a:lnT w="12700" cap="flat" cmpd="sng" algn="ctr">
                      <a:solidFill>
                        <a:srgbClr val="B9BEBB"/>
                      </a:solidFill>
                      <a:prstDash val="solid"/>
                      <a:round/>
                      <a:headEnd type="none" w="med" len="med"/>
                      <a:tailEnd type="none" w="med" len="med"/>
                    </a:lnT>
                    <a:lnB w="12700" cap="flat" cmpd="sng" algn="ctr">
                      <a:solidFill>
                        <a:srgbClr val="C7C8C6"/>
                      </a:solidFill>
                      <a:prstDash val="solid"/>
                      <a:round/>
                      <a:headEnd type="none" w="med" len="med"/>
                      <a:tailEnd type="none" w="med" len="med"/>
                    </a:lnB>
                    <a:solidFill>
                      <a:srgbClr val="FAFBF8"/>
                    </a:solidFill>
                  </a:tcPr>
                </a:tc>
                <a:tc>
                  <a:txBody>
                    <a:bodyPr/>
                    <a:lstStyle/>
                    <a:p>
                      <a:pPr indent="0" marL="0">
                        <a:lnSpc>
                          <a:spcPts val="1820"/>
                        </a:lnSpc>
                        <a:buNone/>
                      </a:pPr>
                      <a:r>
                        <a:rPr lang="en-US" sz="1300" dirty="0">
                          <a:solidFill>
                            <a:srgbClr val="14262B"/>
                          </a:solidFill>
                          <a:latin typeface="Arial" pitchFamily="34" charset="0"/>
                          <a:ea typeface="Arial" pitchFamily="34" charset="-122"/>
                          <a:cs typeface="Arial" pitchFamily="34" charset="-120"/>
                        </a:rPr>
                        <a:t>[__]</a:t>
                      </a:r>
                      <a:endParaRPr lang="en-US" sz="1300" dirty="0">
                        <a:latin typeface="Arial" charset="0"/>
                        <a:ea typeface="Arial" charset="0"/>
                        <a:cs typeface="Arial" charset="0"/>
                      </a:endParaRPr>
                    </a:p>
                  </a:txBody>
                  <a:tcPr marL="57785" marR="57785" marT="57785" marB="57785" anchor="t">
                    <a:lnL w="12700" cap="flat" cmpd="sng" algn="ctr">
                      <a:solidFill>
                        <a:srgbClr val="C7C8C6"/>
                      </a:solidFill>
                      <a:prstDash val="solid"/>
                      <a:round/>
                      <a:headEnd type="none" w="med" len="med"/>
                      <a:tailEnd type="none" w="med" len="med"/>
                    </a:lnL>
                    <a:lnR w="12700" cap="flat" cmpd="sng" algn="ctr">
                      <a:solidFill>
                        <a:srgbClr val="C7C8C6"/>
                      </a:solidFill>
                      <a:prstDash val="solid"/>
                      <a:round/>
                      <a:headEnd type="none" w="med" len="med"/>
                      <a:tailEnd type="none" w="med" len="med"/>
                    </a:lnR>
                    <a:lnT w="12700" cap="flat" cmpd="sng" algn="ctr">
                      <a:solidFill>
                        <a:srgbClr val="B9BEBB"/>
                      </a:solidFill>
                      <a:prstDash val="solid"/>
                      <a:round/>
                      <a:headEnd type="none" w="med" len="med"/>
                      <a:tailEnd type="none" w="med" len="med"/>
                    </a:lnT>
                    <a:lnB w="12700" cap="flat" cmpd="sng" algn="ctr">
                      <a:solidFill>
                        <a:srgbClr val="C7C8C6"/>
                      </a:solidFill>
                      <a:prstDash val="solid"/>
                      <a:round/>
                      <a:headEnd type="none" w="med" len="med"/>
                      <a:tailEnd type="none" w="med" len="med"/>
                    </a:lnB>
                    <a:solidFill>
                      <a:srgbClr val="FAFBF8"/>
                    </a:solidFill>
                  </a:tcPr>
                </a:tc>
              </a:tr>
              <a:tr h="356870">
                <a:tc>
                  <a:txBody>
                    <a:bodyPr/>
                    <a:lstStyle/>
                    <a:p>
                      <a:pPr indent="0" marL="0">
                        <a:lnSpc>
                          <a:spcPts val="1820"/>
                        </a:lnSpc>
                        <a:buNone/>
                      </a:pPr>
                      <a:r>
                        <a:rPr lang="en-US" sz="1300" dirty="0">
                          <a:solidFill>
                            <a:srgbClr val="14262B"/>
                          </a:solidFill>
                          <a:latin typeface="Arial" pitchFamily="34" charset="0"/>
                          <a:ea typeface="Arial" pitchFamily="34" charset="-122"/>
                          <a:cs typeface="Arial" pitchFamily="34" charset="-120"/>
                        </a:rPr>
                        <a:t>Slide switch</a:t>
                      </a:r>
                      <a:endParaRPr lang="en-US" sz="1300" dirty="0">
                        <a:latin typeface="Arial" charset="0"/>
                        <a:ea typeface="Arial" charset="0"/>
                        <a:cs typeface="Arial" charset="0"/>
                      </a:endParaRPr>
                    </a:p>
                  </a:txBody>
                  <a:tcPr marL="57785" marR="57785" marT="57785" marB="57785" anchor="t">
                    <a:lnL w="12700" cap="flat" cmpd="sng" algn="ctr">
                      <a:solidFill>
                        <a:srgbClr val="C2C4C0"/>
                      </a:solidFill>
                      <a:prstDash val="solid"/>
                      <a:round/>
                      <a:headEnd type="none" w="med" len="med"/>
                      <a:tailEnd type="none" w="med" len="med"/>
                    </a:lnL>
                    <a:lnR w="12700" cap="flat" cmpd="sng" algn="ctr">
                      <a:solidFill>
                        <a:srgbClr val="B9BEBB"/>
                      </a:solidFill>
                      <a:prstDash val="solid"/>
                      <a:round/>
                      <a:headEnd type="none" w="med" len="med"/>
                      <a:tailEnd type="none" w="med" len="med"/>
                    </a:lnR>
                    <a:lnT w="12700" cap="flat" cmpd="sng" algn="ctr">
                      <a:solidFill>
                        <a:srgbClr val="C7C8C6"/>
                      </a:solidFill>
                      <a:prstDash val="solid"/>
                      <a:round/>
                      <a:headEnd type="none" w="med" len="med"/>
                      <a:tailEnd type="none" w="med" len="med"/>
                    </a:lnT>
                    <a:lnB w="12700" cap="flat" cmpd="sng" algn="ctr">
                      <a:solidFill>
                        <a:srgbClr val="B9BEBB"/>
                      </a:solidFill>
                      <a:prstDash val="solid"/>
                      <a:round/>
                      <a:headEnd type="none" w="med" len="med"/>
                      <a:tailEnd type="none" w="med" len="med"/>
                    </a:lnB>
                    <a:solidFill>
                      <a:srgbClr val="E8EEEA"/>
                    </a:solidFill>
                  </a:tcPr>
                </a:tc>
                <a:tc>
                  <a:txBody>
                    <a:bodyPr/>
                    <a:lstStyle/>
                    <a:p>
                      <a:pPr indent="0" marL="0">
                        <a:lnSpc>
                          <a:spcPts val="1820"/>
                        </a:lnSpc>
                        <a:buNone/>
                      </a:pPr>
                      <a:r>
                        <a:rPr lang="en-US" sz="1300" dirty="0">
                          <a:solidFill>
                            <a:srgbClr val="14262B"/>
                          </a:solidFill>
                          <a:latin typeface="Arial" pitchFamily="34" charset="0"/>
                          <a:ea typeface="Arial" pitchFamily="34" charset="-122"/>
                          <a:cs typeface="Arial" pitchFamily="34" charset="-120"/>
                        </a:rPr>
                        <a:t>1</a:t>
                      </a:r>
                      <a:endParaRPr lang="en-US" sz="1300" dirty="0">
                        <a:latin typeface="Arial" charset="0"/>
                        <a:ea typeface="Arial" charset="0"/>
                        <a:cs typeface="Arial" charset="0"/>
                      </a:endParaRPr>
                    </a:p>
                  </a:txBody>
                  <a:tcPr marL="57785" marR="57785" marT="57785" marB="57785" anchor="t">
                    <a:lnL w="12700" cap="flat" cmpd="sng" algn="ctr">
                      <a:solidFill>
                        <a:srgbClr val="B9BEBB"/>
                      </a:solidFill>
                      <a:prstDash val="solid"/>
                      <a:round/>
                      <a:headEnd type="none" w="med" len="med"/>
                      <a:tailEnd type="none" w="med" len="med"/>
                    </a:lnL>
                    <a:lnR w="12700" cap="flat" cmpd="sng" algn="ctr">
                      <a:solidFill>
                        <a:srgbClr val="B9BEBB"/>
                      </a:solidFill>
                      <a:prstDash val="solid"/>
                      <a:round/>
                      <a:headEnd type="none" w="med" len="med"/>
                      <a:tailEnd type="none" w="med" len="med"/>
                    </a:lnR>
                    <a:lnT w="12700" cap="flat" cmpd="sng" algn="ctr">
                      <a:solidFill>
                        <a:srgbClr val="C7C8C6"/>
                      </a:solidFill>
                      <a:prstDash val="solid"/>
                      <a:round/>
                      <a:headEnd type="none" w="med" len="med"/>
                      <a:tailEnd type="none" w="med" len="med"/>
                    </a:lnT>
                    <a:lnB w="12700" cap="flat" cmpd="sng" algn="ctr">
                      <a:solidFill>
                        <a:srgbClr val="B9BEBB"/>
                      </a:solidFill>
                      <a:prstDash val="solid"/>
                      <a:round/>
                      <a:headEnd type="none" w="med" len="med"/>
                      <a:tailEnd type="none" w="med" len="med"/>
                    </a:lnB>
                    <a:solidFill>
                      <a:srgbClr val="E8EEEA"/>
                    </a:solidFill>
                  </a:tcPr>
                </a:tc>
                <a:tc>
                  <a:txBody>
                    <a:bodyPr/>
                    <a:lstStyle/>
                    <a:p>
                      <a:pPr indent="0" marL="0">
                        <a:lnSpc>
                          <a:spcPts val="1820"/>
                        </a:lnSpc>
                        <a:buNone/>
                      </a:pPr>
                      <a:r>
                        <a:rPr lang="en-US" sz="1300" dirty="0">
                          <a:solidFill>
                            <a:srgbClr val="14262B"/>
                          </a:solidFill>
                          <a:latin typeface="Arial" pitchFamily="34" charset="0"/>
                          <a:ea typeface="Arial" pitchFamily="34" charset="-122"/>
                          <a:cs typeface="Arial" pitchFamily="34" charset="-120"/>
                        </a:rPr>
                        <a:t>Purchased</a:t>
                      </a:r>
                      <a:endParaRPr lang="en-US" sz="1300" dirty="0">
                        <a:latin typeface="Arial" charset="0"/>
                        <a:ea typeface="Arial" charset="0"/>
                        <a:cs typeface="Arial" charset="0"/>
                      </a:endParaRPr>
                    </a:p>
                  </a:txBody>
                  <a:tcPr marL="57785" marR="57785" marT="57785" marB="57785" anchor="t">
                    <a:lnL w="12700" cap="flat" cmpd="sng" algn="ctr">
                      <a:solidFill>
                        <a:srgbClr val="B9BEBB"/>
                      </a:solidFill>
                      <a:prstDash val="solid"/>
                      <a:round/>
                      <a:headEnd type="none" w="med" len="med"/>
                      <a:tailEnd type="none" w="med" len="med"/>
                    </a:lnL>
                    <a:lnR w="12700" cap="flat" cmpd="sng" algn="ctr">
                      <a:solidFill>
                        <a:srgbClr val="B9BEBB"/>
                      </a:solidFill>
                      <a:prstDash val="solid"/>
                      <a:round/>
                      <a:headEnd type="none" w="med" len="med"/>
                      <a:tailEnd type="none" w="med" len="med"/>
                    </a:lnR>
                    <a:lnT w="12700" cap="flat" cmpd="sng" algn="ctr">
                      <a:solidFill>
                        <a:srgbClr val="C7C8C6"/>
                      </a:solidFill>
                      <a:prstDash val="solid"/>
                      <a:round/>
                      <a:headEnd type="none" w="med" len="med"/>
                      <a:tailEnd type="none" w="med" len="med"/>
                    </a:lnT>
                    <a:lnB w="12700" cap="flat" cmpd="sng" algn="ctr">
                      <a:solidFill>
                        <a:srgbClr val="B9BEBB"/>
                      </a:solidFill>
                      <a:prstDash val="solid"/>
                      <a:round/>
                      <a:headEnd type="none" w="med" len="med"/>
                      <a:tailEnd type="none" w="med" len="med"/>
                    </a:lnB>
                    <a:solidFill>
                      <a:srgbClr val="E8EEEA"/>
                    </a:solidFill>
                  </a:tcPr>
                </a:tc>
                <a:tc>
                  <a:txBody>
                    <a:bodyPr/>
                    <a:lstStyle/>
                    <a:p>
                      <a:pPr indent="0" marL="0">
                        <a:lnSpc>
                          <a:spcPts val="1820"/>
                        </a:lnSpc>
                        <a:buNone/>
                      </a:pPr>
                      <a:r>
                        <a:rPr lang="en-US" sz="1300" dirty="0">
                          <a:solidFill>
                            <a:srgbClr val="14262B"/>
                          </a:solidFill>
                          <a:latin typeface="Arial" pitchFamily="34" charset="0"/>
                          <a:ea typeface="Arial" pitchFamily="34" charset="-122"/>
                          <a:cs typeface="Arial" pitchFamily="34" charset="-120"/>
                        </a:rPr>
                        <a:t>[__]</a:t>
                      </a:r>
                      <a:endParaRPr lang="en-US" sz="1300" dirty="0">
                        <a:latin typeface="Arial" charset="0"/>
                        <a:ea typeface="Arial" charset="0"/>
                        <a:cs typeface="Arial" charset="0"/>
                      </a:endParaRPr>
                    </a:p>
                  </a:txBody>
                  <a:tcPr marL="57785" marR="57785" marT="57785" marB="57785" anchor="t">
                    <a:lnL w="12700" cap="flat" cmpd="sng" algn="ctr">
                      <a:solidFill>
                        <a:srgbClr val="B9BEBB"/>
                      </a:solidFill>
                      <a:prstDash val="solid"/>
                      <a:round/>
                      <a:headEnd type="none" w="med" len="med"/>
                      <a:tailEnd type="none" w="med" len="med"/>
                    </a:lnL>
                    <a:lnR w="12700" cap="flat" cmpd="sng" algn="ctr">
                      <a:solidFill>
                        <a:srgbClr val="B9BEBB"/>
                      </a:solidFill>
                      <a:prstDash val="solid"/>
                      <a:round/>
                      <a:headEnd type="none" w="med" len="med"/>
                      <a:tailEnd type="none" w="med" len="med"/>
                    </a:lnR>
                    <a:lnT w="12700" cap="flat" cmpd="sng" algn="ctr">
                      <a:solidFill>
                        <a:srgbClr val="C7C8C6"/>
                      </a:solidFill>
                      <a:prstDash val="solid"/>
                      <a:round/>
                      <a:headEnd type="none" w="med" len="med"/>
                      <a:tailEnd type="none" w="med" len="med"/>
                    </a:lnT>
                    <a:lnB w="12700" cap="flat" cmpd="sng" algn="ctr">
                      <a:solidFill>
                        <a:srgbClr val="B9BEBB"/>
                      </a:solidFill>
                      <a:prstDash val="solid"/>
                      <a:round/>
                      <a:headEnd type="none" w="med" len="med"/>
                      <a:tailEnd type="none" w="med" len="med"/>
                    </a:lnB>
                    <a:solidFill>
                      <a:srgbClr val="E8EEEA"/>
                    </a:solidFill>
                  </a:tcPr>
                </a:tc>
              </a:tr>
              <a:tr h="356870">
                <a:tc>
                  <a:txBody>
                    <a:bodyPr/>
                    <a:lstStyle/>
                    <a:p>
                      <a:pPr indent="0" marL="0">
                        <a:lnSpc>
                          <a:spcPts val="1820"/>
                        </a:lnSpc>
                        <a:buNone/>
                      </a:pPr>
                      <a:r>
                        <a:rPr lang="en-US" sz="1300" dirty="0">
                          <a:solidFill>
                            <a:srgbClr val="14262B"/>
                          </a:solidFill>
                          <a:latin typeface="Arial" pitchFamily="34" charset="0"/>
                          <a:ea typeface="Arial" pitchFamily="34" charset="-122"/>
                          <a:cs typeface="Arial" pitchFamily="34" charset="-120"/>
                        </a:rPr>
                        <a:t>Wires, screws, solder</a:t>
                      </a:r>
                      <a:endParaRPr lang="en-US" sz="1300" dirty="0">
                        <a:latin typeface="Arial" charset="0"/>
                        <a:ea typeface="Arial" charset="0"/>
                        <a:cs typeface="Arial" charset="0"/>
                      </a:endParaRPr>
                    </a:p>
                  </a:txBody>
                  <a:tcPr marL="57785" marR="57785" marT="57785" marB="57785" anchor="t">
                    <a:lnL w="12700" cap="flat" cmpd="sng" algn="ctr">
                      <a:solidFill>
                        <a:srgbClr val="C2C4C0"/>
                      </a:solidFill>
                      <a:prstDash val="solid"/>
                      <a:round/>
                      <a:headEnd type="none" w="med" len="med"/>
                      <a:tailEnd type="none" w="med" len="med"/>
                    </a:lnL>
                    <a:lnR w="12700" cap="flat" cmpd="sng" algn="ctr">
                      <a:solidFill>
                        <a:srgbClr val="C7C8C6"/>
                      </a:solidFill>
                      <a:prstDash val="solid"/>
                      <a:round/>
                      <a:headEnd type="none" w="med" len="med"/>
                      <a:tailEnd type="none" w="med" len="med"/>
                    </a:lnR>
                    <a:lnT w="12700" cap="flat" cmpd="sng" algn="ctr">
                      <a:solidFill>
                        <a:srgbClr val="B9BEBB"/>
                      </a:solidFill>
                      <a:prstDash val="solid"/>
                      <a:round/>
                      <a:headEnd type="none" w="med" len="med"/>
                      <a:tailEnd type="none" w="med" len="med"/>
                    </a:lnT>
                    <a:lnB w="12700" cap="flat" cmpd="sng" algn="ctr">
                      <a:solidFill>
                        <a:srgbClr val="C7C8C6"/>
                      </a:solidFill>
                      <a:prstDash val="solid"/>
                      <a:round/>
                      <a:headEnd type="none" w="med" len="med"/>
                      <a:tailEnd type="none" w="med" len="med"/>
                    </a:lnB>
                    <a:solidFill>
                      <a:srgbClr val="FAFBF8"/>
                    </a:solidFill>
                  </a:tcPr>
                </a:tc>
                <a:tc>
                  <a:txBody>
                    <a:bodyPr/>
                    <a:lstStyle/>
                    <a:p>
                      <a:pPr indent="0" marL="0">
                        <a:lnSpc>
                          <a:spcPts val="1820"/>
                        </a:lnSpc>
                        <a:buNone/>
                      </a:pPr>
                      <a:r>
                        <a:rPr lang="en-US" sz="1300" dirty="0">
                          <a:solidFill>
                            <a:srgbClr val="14262B"/>
                          </a:solidFill>
                          <a:latin typeface="Arial" pitchFamily="34" charset="0"/>
                          <a:ea typeface="Arial" pitchFamily="34" charset="-122"/>
                          <a:cs typeface="Arial" pitchFamily="34" charset="-120"/>
                        </a:rPr>
                        <a:t>1 lot</a:t>
                      </a:r>
                      <a:endParaRPr lang="en-US" sz="1300" dirty="0">
                        <a:latin typeface="Arial" charset="0"/>
                        <a:ea typeface="Arial" charset="0"/>
                        <a:cs typeface="Arial" charset="0"/>
                      </a:endParaRPr>
                    </a:p>
                  </a:txBody>
                  <a:tcPr marL="57785" marR="57785" marT="57785" marB="57785" anchor="t">
                    <a:lnL w="12700" cap="flat" cmpd="sng" algn="ctr">
                      <a:solidFill>
                        <a:srgbClr val="C7C8C6"/>
                      </a:solidFill>
                      <a:prstDash val="solid"/>
                      <a:round/>
                      <a:headEnd type="none" w="med" len="med"/>
                      <a:tailEnd type="none" w="med" len="med"/>
                    </a:lnL>
                    <a:lnR w="12700" cap="flat" cmpd="sng" algn="ctr">
                      <a:solidFill>
                        <a:srgbClr val="C7C8C6"/>
                      </a:solidFill>
                      <a:prstDash val="solid"/>
                      <a:round/>
                      <a:headEnd type="none" w="med" len="med"/>
                      <a:tailEnd type="none" w="med" len="med"/>
                    </a:lnR>
                    <a:lnT w="12700" cap="flat" cmpd="sng" algn="ctr">
                      <a:solidFill>
                        <a:srgbClr val="B9BEBB"/>
                      </a:solidFill>
                      <a:prstDash val="solid"/>
                      <a:round/>
                      <a:headEnd type="none" w="med" len="med"/>
                      <a:tailEnd type="none" w="med" len="med"/>
                    </a:lnT>
                    <a:lnB w="12700" cap="flat" cmpd="sng" algn="ctr">
                      <a:solidFill>
                        <a:srgbClr val="C7C8C6"/>
                      </a:solidFill>
                      <a:prstDash val="solid"/>
                      <a:round/>
                      <a:headEnd type="none" w="med" len="med"/>
                      <a:tailEnd type="none" w="med" len="med"/>
                    </a:lnB>
                    <a:solidFill>
                      <a:srgbClr val="FAFBF8"/>
                    </a:solidFill>
                  </a:tcPr>
                </a:tc>
                <a:tc>
                  <a:txBody>
                    <a:bodyPr/>
                    <a:lstStyle/>
                    <a:p>
                      <a:pPr indent="0" marL="0">
                        <a:lnSpc>
                          <a:spcPts val="1820"/>
                        </a:lnSpc>
                        <a:buNone/>
                      </a:pPr>
                      <a:r>
                        <a:rPr lang="en-US" sz="1300" dirty="0">
                          <a:solidFill>
                            <a:srgbClr val="14262B"/>
                          </a:solidFill>
                          <a:latin typeface="Arial" pitchFamily="34" charset="0"/>
                          <a:ea typeface="Arial" pitchFamily="34" charset="-122"/>
                          <a:cs typeface="Arial" pitchFamily="34" charset="-120"/>
                        </a:rPr>
                        <a:t>Purchased</a:t>
                      </a:r>
                      <a:endParaRPr lang="en-US" sz="1300" dirty="0">
                        <a:latin typeface="Arial" charset="0"/>
                        <a:ea typeface="Arial" charset="0"/>
                        <a:cs typeface="Arial" charset="0"/>
                      </a:endParaRPr>
                    </a:p>
                  </a:txBody>
                  <a:tcPr marL="57785" marR="57785" marT="57785" marB="57785" anchor="t">
                    <a:lnL w="12700" cap="flat" cmpd="sng" algn="ctr">
                      <a:solidFill>
                        <a:srgbClr val="C7C8C6"/>
                      </a:solidFill>
                      <a:prstDash val="solid"/>
                      <a:round/>
                      <a:headEnd type="none" w="med" len="med"/>
                      <a:tailEnd type="none" w="med" len="med"/>
                    </a:lnL>
                    <a:lnR w="12700" cap="flat" cmpd="sng" algn="ctr">
                      <a:solidFill>
                        <a:srgbClr val="C7C8C6"/>
                      </a:solidFill>
                      <a:prstDash val="solid"/>
                      <a:round/>
                      <a:headEnd type="none" w="med" len="med"/>
                      <a:tailEnd type="none" w="med" len="med"/>
                    </a:lnR>
                    <a:lnT w="12700" cap="flat" cmpd="sng" algn="ctr">
                      <a:solidFill>
                        <a:srgbClr val="B9BEBB"/>
                      </a:solidFill>
                      <a:prstDash val="solid"/>
                      <a:round/>
                      <a:headEnd type="none" w="med" len="med"/>
                      <a:tailEnd type="none" w="med" len="med"/>
                    </a:lnT>
                    <a:lnB w="12700" cap="flat" cmpd="sng" algn="ctr">
                      <a:solidFill>
                        <a:srgbClr val="C7C8C6"/>
                      </a:solidFill>
                      <a:prstDash val="solid"/>
                      <a:round/>
                      <a:headEnd type="none" w="med" len="med"/>
                      <a:tailEnd type="none" w="med" len="med"/>
                    </a:lnB>
                    <a:solidFill>
                      <a:srgbClr val="FAFBF8"/>
                    </a:solidFill>
                  </a:tcPr>
                </a:tc>
                <a:tc>
                  <a:txBody>
                    <a:bodyPr/>
                    <a:lstStyle/>
                    <a:p>
                      <a:pPr indent="0" marL="0">
                        <a:lnSpc>
                          <a:spcPts val="1820"/>
                        </a:lnSpc>
                        <a:buNone/>
                      </a:pPr>
                      <a:r>
                        <a:rPr lang="en-US" sz="1300" dirty="0">
                          <a:solidFill>
                            <a:srgbClr val="14262B"/>
                          </a:solidFill>
                          <a:latin typeface="Arial" pitchFamily="34" charset="0"/>
                          <a:ea typeface="Arial" pitchFamily="34" charset="-122"/>
                          <a:cs typeface="Arial" pitchFamily="34" charset="-120"/>
                        </a:rPr>
                        <a:t>[__]</a:t>
                      </a:r>
                      <a:endParaRPr lang="en-US" sz="1300" dirty="0">
                        <a:latin typeface="Arial" charset="0"/>
                        <a:ea typeface="Arial" charset="0"/>
                        <a:cs typeface="Arial" charset="0"/>
                      </a:endParaRPr>
                    </a:p>
                  </a:txBody>
                  <a:tcPr marL="57785" marR="57785" marT="57785" marB="57785" anchor="t">
                    <a:lnL w="12700" cap="flat" cmpd="sng" algn="ctr">
                      <a:solidFill>
                        <a:srgbClr val="C7C8C6"/>
                      </a:solidFill>
                      <a:prstDash val="solid"/>
                      <a:round/>
                      <a:headEnd type="none" w="med" len="med"/>
                      <a:tailEnd type="none" w="med" len="med"/>
                    </a:lnL>
                    <a:lnR w="12700" cap="flat" cmpd="sng" algn="ctr">
                      <a:solidFill>
                        <a:srgbClr val="C7C8C6"/>
                      </a:solidFill>
                      <a:prstDash val="solid"/>
                      <a:round/>
                      <a:headEnd type="none" w="med" len="med"/>
                      <a:tailEnd type="none" w="med" len="med"/>
                    </a:lnR>
                    <a:lnT w="12700" cap="flat" cmpd="sng" algn="ctr">
                      <a:solidFill>
                        <a:srgbClr val="B9BEBB"/>
                      </a:solidFill>
                      <a:prstDash val="solid"/>
                      <a:round/>
                      <a:headEnd type="none" w="med" len="med"/>
                      <a:tailEnd type="none" w="med" len="med"/>
                    </a:lnT>
                    <a:lnB w="12700" cap="flat" cmpd="sng" algn="ctr">
                      <a:solidFill>
                        <a:srgbClr val="C7C8C6"/>
                      </a:solidFill>
                      <a:prstDash val="solid"/>
                      <a:round/>
                      <a:headEnd type="none" w="med" len="med"/>
                      <a:tailEnd type="none" w="med" len="med"/>
                    </a:lnB>
                    <a:solidFill>
                      <a:srgbClr val="FAFBF8"/>
                    </a:solidFill>
                  </a:tcPr>
                </a:tc>
              </a:tr>
              <a:tr h="356870">
                <a:tc>
                  <a:txBody>
                    <a:bodyPr/>
                    <a:lstStyle/>
                    <a:p>
                      <a:pPr indent="0" marL="0">
                        <a:lnSpc>
                          <a:spcPts val="1820"/>
                        </a:lnSpc>
                        <a:buNone/>
                      </a:pPr>
                      <a:r>
                        <a:rPr lang="en-US" sz="1300" dirty="0">
                          <a:solidFill>
                            <a:srgbClr val="14262B"/>
                          </a:solidFill>
                          <a:latin typeface="Arial" pitchFamily="34" charset="0"/>
                          <a:ea typeface="Arial" pitchFamily="34" charset="-122"/>
                          <a:cs typeface="Arial" pitchFamily="34" charset="-120"/>
                        </a:rPr>
                        <a:t>Total</a:t>
                      </a:r>
                      <a:endParaRPr lang="en-US" sz="1300" dirty="0">
                        <a:latin typeface="Arial" charset="0"/>
                        <a:ea typeface="Arial" charset="0"/>
                        <a:cs typeface="Arial" charset="0"/>
                      </a:endParaRPr>
                    </a:p>
                  </a:txBody>
                  <a:tcPr marL="57785" marR="57785" marT="57785" marB="57785" anchor="t">
                    <a:lnL w="12700" cap="flat" cmpd="sng" algn="ctr">
                      <a:solidFill>
                        <a:srgbClr val="C2C4C0"/>
                      </a:solidFill>
                      <a:prstDash val="solid"/>
                      <a:round/>
                      <a:headEnd type="none" w="med" len="med"/>
                      <a:tailEnd type="none" w="med" len="med"/>
                    </a:lnL>
                    <a:lnR w="12700" cap="flat" cmpd="sng" algn="ctr">
                      <a:solidFill>
                        <a:srgbClr val="B9BEBB"/>
                      </a:solidFill>
                      <a:prstDash val="solid"/>
                      <a:round/>
                      <a:headEnd type="none" w="med" len="med"/>
                      <a:tailEnd type="none" w="med" len="med"/>
                    </a:lnR>
                    <a:lnT w="12700" cap="flat" cmpd="sng" algn="ctr">
                      <a:solidFill>
                        <a:srgbClr val="C7C8C6"/>
                      </a:solidFill>
                      <a:prstDash val="solid"/>
                      <a:round/>
                      <a:headEnd type="none" w="med" len="med"/>
                      <a:tailEnd type="none" w="med" len="med"/>
                    </a:lnT>
                    <a:lnB w="12700" cap="flat" cmpd="sng" algn="ctr">
                      <a:solidFill>
                        <a:srgbClr val="B9BEBB"/>
                      </a:solidFill>
                      <a:prstDash val="solid"/>
                      <a:round/>
                      <a:headEnd type="none" w="med" len="med"/>
                      <a:tailEnd type="none" w="med" len="med"/>
                    </a:lnB>
                    <a:solidFill>
                      <a:srgbClr val="E8EEEA"/>
                    </a:solidFill>
                  </a:tcPr>
                </a:tc>
                <a:tc>
                  <a:txBody>
                    <a:bodyPr/>
                    <a:lstStyle/>
                    <a:p>
                      <a:pPr indent="0" marL="0">
                        <a:lnSpc>
                          <a:spcPts val="1820"/>
                        </a:lnSpc>
                        <a:buNone/>
                      </a:pPr>
                      <a:endParaRPr lang="en-US" sz="1300" dirty="0">
                        <a:latin typeface="Arial" charset="0"/>
                        <a:ea typeface="Arial" charset="0"/>
                        <a:cs typeface="Arial" charset="0"/>
                      </a:endParaRPr>
                    </a:p>
                  </a:txBody>
                  <a:tcPr marL="57785" marR="57785" marT="57785" marB="57785" anchor="t">
                    <a:lnL w="12700" cap="flat" cmpd="sng" algn="ctr">
                      <a:solidFill>
                        <a:srgbClr val="B9BEBB"/>
                      </a:solidFill>
                      <a:prstDash val="solid"/>
                      <a:round/>
                      <a:headEnd type="none" w="med" len="med"/>
                      <a:tailEnd type="none" w="med" len="med"/>
                    </a:lnL>
                    <a:lnR w="12700" cap="flat" cmpd="sng" algn="ctr">
                      <a:solidFill>
                        <a:srgbClr val="B9BEBB"/>
                      </a:solidFill>
                      <a:prstDash val="solid"/>
                      <a:round/>
                      <a:headEnd type="none" w="med" len="med"/>
                      <a:tailEnd type="none" w="med" len="med"/>
                    </a:lnR>
                    <a:lnT w="12700" cap="flat" cmpd="sng" algn="ctr">
                      <a:solidFill>
                        <a:srgbClr val="C7C8C6"/>
                      </a:solidFill>
                      <a:prstDash val="solid"/>
                      <a:round/>
                      <a:headEnd type="none" w="med" len="med"/>
                      <a:tailEnd type="none" w="med" len="med"/>
                    </a:lnT>
                    <a:lnB w="12700" cap="flat" cmpd="sng" algn="ctr">
                      <a:solidFill>
                        <a:srgbClr val="B9BEBB"/>
                      </a:solidFill>
                      <a:prstDash val="solid"/>
                      <a:round/>
                      <a:headEnd type="none" w="med" len="med"/>
                      <a:tailEnd type="none" w="med" len="med"/>
                    </a:lnB>
                    <a:solidFill>
                      <a:srgbClr val="E8EEEA"/>
                    </a:solidFill>
                  </a:tcPr>
                </a:tc>
                <a:tc>
                  <a:txBody>
                    <a:bodyPr/>
                    <a:lstStyle/>
                    <a:p>
                      <a:pPr indent="0" marL="0">
                        <a:lnSpc>
                          <a:spcPts val="1820"/>
                        </a:lnSpc>
                        <a:buNone/>
                      </a:pPr>
                      <a:endParaRPr lang="en-US" sz="1300" dirty="0">
                        <a:latin typeface="Arial" charset="0"/>
                        <a:ea typeface="Arial" charset="0"/>
                        <a:cs typeface="Arial" charset="0"/>
                      </a:endParaRPr>
                    </a:p>
                  </a:txBody>
                  <a:tcPr marL="57785" marR="57785" marT="57785" marB="57785" anchor="t">
                    <a:lnL w="12700" cap="flat" cmpd="sng" algn="ctr">
                      <a:solidFill>
                        <a:srgbClr val="B9BEBB"/>
                      </a:solidFill>
                      <a:prstDash val="solid"/>
                      <a:round/>
                      <a:headEnd type="none" w="med" len="med"/>
                      <a:tailEnd type="none" w="med" len="med"/>
                    </a:lnL>
                    <a:lnR w="12700" cap="flat" cmpd="sng" algn="ctr">
                      <a:solidFill>
                        <a:srgbClr val="B9BEBB"/>
                      </a:solidFill>
                      <a:prstDash val="solid"/>
                      <a:round/>
                      <a:headEnd type="none" w="med" len="med"/>
                      <a:tailEnd type="none" w="med" len="med"/>
                    </a:lnR>
                    <a:lnT w="12700" cap="flat" cmpd="sng" algn="ctr">
                      <a:solidFill>
                        <a:srgbClr val="C7C8C6"/>
                      </a:solidFill>
                      <a:prstDash val="solid"/>
                      <a:round/>
                      <a:headEnd type="none" w="med" len="med"/>
                      <a:tailEnd type="none" w="med" len="med"/>
                    </a:lnT>
                    <a:lnB w="12700" cap="flat" cmpd="sng" algn="ctr">
                      <a:solidFill>
                        <a:srgbClr val="B9BEBB"/>
                      </a:solidFill>
                      <a:prstDash val="solid"/>
                      <a:round/>
                      <a:headEnd type="none" w="med" len="med"/>
                      <a:tailEnd type="none" w="med" len="med"/>
                    </a:lnB>
                    <a:solidFill>
                      <a:srgbClr val="E8EEEA"/>
                    </a:solidFill>
                  </a:tcPr>
                </a:tc>
                <a:tc>
                  <a:txBody>
                    <a:bodyPr/>
                    <a:lstStyle/>
                    <a:p>
                      <a:pPr indent="0" marL="0">
                        <a:lnSpc>
                          <a:spcPts val="1820"/>
                        </a:lnSpc>
                        <a:buNone/>
                      </a:pPr>
                      <a:r>
                        <a:rPr lang="en-US" sz="1300" dirty="0">
                          <a:solidFill>
                            <a:srgbClr val="14262B"/>
                          </a:solidFill>
                          <a:latin typeface="Arial" pitchFamily="34" charset="0"/>
                          <a:ea typeface="Arial" pitchFamily="34" charset="-122"/>
                          <a:cs typeface="Arial" pitchFamily="34" charset="-120"/>
                        </a:rPr>
                        <a:t>[__]</a:t>
                      </a:r>
                      <a:endParaRPr lang="en-US" sz="1300" dirty="0">
                        <a:latin typeface="Arial" charset="0"/>
                        <a:ea typeface="Arial" charset="0"/>
                        <a:cs typeface="Arial" charset="0"/>
                      </a:endParaRPr>
                    </a:p>
                  </a:txBody>
                  <a:tcPr marL="57785" marR="57785" marT="57785" marB="57785" anchor="t">
                    <a:lnL w="12700" cap="flat" cmpd="sng" algn="ctr">
                      <a:solidFill>
                        <a:srgbClr val="B9BEBB"/>
                      </a:solidFill>
                      <a:prstDash val="solid"/>
                      <a:round/>
                      <a:headEnd type="none" w="med" len="med"/>
                      <a:tailEnd type="none" w="med" len="med"/>
                    </a:lnL>
                    <a:lnR w="12700" cap="flat" cmpd="sng" algn="ctr">
                      <a:solidFill>
                        <a:srgbClr val="B9BEBB"/>
                      </a:solidFill>
                      <a:prstDash val="solid"/>
                      <a:round/>
                      <a:headEnd type="none" w="med" len="med"/>
                      <a:tailEnd type="none" w="med" len="med"/>
                    </a:lnR>
                    <a:lnT w="12700" cap="flat" cmpd="sng" algn="ctr">
                      <a:solidFill>
                        <a:srgbClr val="C7C8C6"/>
                      </a:solidFill>
                      <a:prstDash val="solid"/>
                      <a:round/>
                      <a:headEnd type="none" w="med" len="med"/>
                      <a:tailEnd type="none" w="med" len="med"/>
                    </a:lnT>
                    <a:lnB w="12700" cap="flat" cmpd="sng" algn="ctr">
                      <a:solidFill>
                        <a:srgbClr val="B9BEBB"/>
                      </a:solidFill>
                      <a:prstDash val="solid"/>
                      <a:round/>
                      <a:headEnd type="none" w="med" len="med"/>
                      <a:tailEnd type="none" w="med" len="med"/>
                    </a:lnB>
                    <a:solidFill>
                      <a:srgbClr val="E8EEEA"/>
                    </a:solidFill>
                  </a:tcPr>
                </a:tc>
              </a:tr>
            </a:tbl>
          </a:graphicData>
        </a:graphic>
      </p:graphicFrame>
      <p:sp>
        <p:nvSpPr>
          <p:cNvPr id="5" name="Shape 2"/>
          <p:cNvSpPr/>
          <p:nvPr/>
        </p:nvSpPr>
        <p:spPr>
          <a:xfrm>
            <a:off x="7419975" y="1806575"/>
            <a:ext cx="3956050" cy="2289810"/>
          </a:xfrm>
          <a:prstGeom prst="roundRect">
            <a:avLst>
              <a:gd name="adj" fmla="val 4298"/>
            </a:avLst>
          </a:prstGeom>
          <a:solidFill>
            <a:srgbClr val="FAFBF8"/>
          </a:solidFill>
          <a:ln w="6350">
            <a:solidFill>
              <a:srgbClr val="D8DFDA"/>
            </a:solidFill>
            <a:prstDash val="solid"/>
          </a:ln>
        </p:spPr>
      </p:sp>
      <p:sp>
        <p:nvSpPr>
          <p:cNvPr id="6" name="Text 3"/>
          <p:cNvSpPr/>
          <p:nvPr/>
        </p:nvSpPr>
        <p:spPr>
          <a:xfrm>
            <a:off x="7675880" y="2062479"/>
            <a:ext cx="3547567"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62B"/>
                </a:solidFill>
                <a:latin typeface="Arial" pitchFamily="34" charset="0"/>
                <a:ea typeface="Arial" pitchFamily="34" charset="-122"/>
                <a:cs typeface="Arial" pitchFamily="34" charset="-120"/>
              </a:rPr>
              <a:t>Assembly sequence</a:t>
            </a:r>
            <a:endParaRPr lang="en-US" sz="1800" dirty="0"/>
          </a:p>
        </p:txBody>
      </p:sp>
      <p:sp>
        <p:nvSpPr>
          <p:cNvPr id="7" name="Text 4"/>
          <p:cNvSpPr/>
          <p:nvPr/>
        </p:nvSpPr>
        <p:spPr>
          <a:xfrm>
            <a:off x="7675880" y="2463800"/>
            <a:ext cx="3547567"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7A75"/>
                </a:solidFill>
                <a:latin typeface="Arial" pitchFamily="34" charset="0"/>
                <a:ea typeface="Arial" pitchFamily="34" charset="-122"/>
                <a:cs typeface="Arial" pitchFamily="34" charset="-120"/>
              </a:rPr>
              <a:t>1</a:t>
            </a:r>
            <a:r>
              <a:rPr lang="en-US" sz="1400" dirty="0">
                <a:solidFill>
                  <a:srgbClr val="14262B"/>
                </a:solidFill>
                <a:latin typeface="Arial" pitchFamily="34" charset="0"/>
                <a:ea typeface="Arial" pitchFamily="34" charset="-122"/>
                <a:cs typeface="Arial" pitchFamily="34" charset="-120"/>
              </a:rPr>
              <a:t> Fit the motor in its housing</a:t>
            </a:r>
            <a:endParaRPr lang="en-US" sz="1400" dirty="0"/>
          </a:p>
        </p:txBody>
      </p:sp>
      <p:sp>
        <p:nvSpPr>
          <p:cNvPr id="8" name="Text 5"/>
          <p:cNvSpPr/>
          <p:nvPr/>
        </p:nvSpPr>
        <p:spPr>
          <a:xfrm>
            <a:off x="7675880" y="2839721"/>
            <a:ext cx="3547567"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7A75"/>
                </a:solidFill>
                <a:latin typeface="Arial" pitchFamily="34" charset="0"/>
                <a:ea typeface="Arial" pitchFamily="34" charset="-122"/>
                <a:cs typeface="Arial" pitchFamily="34" charset="-120"/>
              </a:rPr>
              <a:t>2</a:t>
            </a:r>
            <a:r>
              <a:rPr lang="en-US" sz="1400" dirty="0">
                <a:solidFill>
                  <a:srgbClr val="14262B"/>
                </a:solidFill>
                <a:latin typeface="Arial" pitchFamily="34" charset="0"/>
                <a:ea typeface="Arial" pitchFamily="34" charset="-122"/>
                <a:cs typeface="Arial" pitchFamily="34" charset="-120"/>
              </a:rPr>
              <a:t> Press the blade set onto the shaft</a:t>
            </a:r>
            <a:endParaRPr lang="en-US" sz="1400" dirty="0"/>
          </a:p>
        </p:txBody>
      </p:sp>
      <p:sp>
        <p:nvSpPr>
          <p:cNvPr id="9" name="Text 6"/>
          <p:cNvSpPr/>
          <p:nvPr/>
        </p:nvSpPr>
        <p:spPr>
          <a:xfrm>
            <a:off x="7675880" y="3215642"/>
            <a:ext cx="3547567"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7A75"/>
                </a:solidFill>
                <a:latin typeface="Arial" pitchFamily="34" charset="0"/>
                <a:ea typeface="Arial" pitchFamily="34" charset="-122"/>
                <a:cs typeface="Arial" pitchFamily="34" charset="-120"/>
              </a:rPr>
              <a:t>3</a:t>
            </a:r>
            <a:r>
              <a:rPr lang="en-US" sz="1400" dirty="0">
                <a:solidFill>
                  <a:srgbClr val="14262B"/>
                </a:solidFill>
                <a:latin typeface="Arial" pitchFamily="34" charset="0"/>
                <a:ea typeface="Arial" pitchFamily="34" charset="-122"/>
                <a:cs typeface="Arial" pitchFamily="34" charset="-120"/>
              </a:rPr>
              <a:t> Wire the switch and cell</a:t>
            </a:r>
            <a:endParaRPr lang="en-US" sz="1400" dirty="0"/>
          </a:p>
        </p:txBody>
      </p:sp>
      <p:sp>
        <p:nvSpPr>
          <p:cNvPr id="10" name="Text 7"/>
          <p:cNvSpPr/>
          <p:nvPr/>
        </p:nvSpPr>
        <p:spPr>
          <a:xfrm>
            <a:off x="7675880" y="3591564"/>
            <a:ext cx="3547567"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B7A75"/>
                </a:solidFill>
                <a:latin typeface="Arial" pitchFamily="34" charset="0"/>
                <a:ea typeface="Arial" pitchFamily="34" charset="-122"/>
                <a:cs typeface="Arial" pitchFamily="34" charset="-120"/>
              </a:rPr>
              <a:t>4</a:t>
            </a:r>
            <a:r>
              <a:rPr lang="en-US" sz="1400" dirty="0">
                <a:solidFill>
                  <a:srgbClr val="14262B"/>
                </a:solidFill>
                <a:latin typeface="Arial" pitchFamily="34" charset="0"/>
                <a:ea typeface="Arial" pitchFamily="34" charset="-122"/>
                <a:cs typeface="Arial" pitchFamily="34" charset="-120"/>
              </a:rPr>
              <a:t> Close the handle and test</a:t>
            </a:r>
            <a:endParaRPr lang="en-US" sz="1400" dirty="0"/>
          </a:p>
        </p:txBody>
      </p:sp>
      <p:sp>
        <p:nvSpPr>
          <p:cNvPr id="11" name="Text 8"/>
          <p:cNvSpPr/>
          <p:nvPr/>
        </p:nvSpPr>
        <p:spPr>
          <a:xfrm>
            <a:off x="812800" y="6238242"/>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B5F63"/>
                </a:solidFill>
                <a:latin typeface="Arial" pitchFamily="34" charset="0"/>
                <a:ea typeface="Arial" pitchFamily="34" charset="-122"/>
                <a:cs typeface="Arial" pitchFamily="34" charset="-120"/>
              </a:rPr>
              <a:t>Handheld 3D Printed Fan · Manufacturing Technology</a:t>
            </a:r>
            <a:endParaRPr lang="en-US" sz="1200" dirty="0"/>
          </a:p>
        </p:txBody>
      </p:sp>
      <p:sp>
        <p:nvSpPr>
          <p:cNvPr id="12" name="Text 9"/>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B5F63"/>
                </a:solidFill>
                <a:latin typeface="Arial" pitchFamily="34" charset="0"/>
                <a:ea typeface="Arial" pitchFamily="34" charset="-122"/>
                <a:cs typeface="Arial"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B7A75"/>
                </a:solidFill>
                <a:latin typeface="Arial" pitchFamily="34" charset="0"/>
                <a:ea typeface="Arial" pitchFamily="34" charset="-122"/>
                <a:cs typeface="Arial" pitchFamily="34" charset="-120"/>
              </a:rPr>
              <a:t>05 · ACCIDENT / HAZARD ANALYSIS</a:t>
            </a:r>
            <a:endParaRPr lang="en-US" sz="1200" dirty="0"/>
          </a:p>
        </p:txBody>
      </p:sp>
      <p:sp>
        <p:nvSpPr>
          <p:cNvPr id="3" name="Text 1"/>
          <p:cNvSpPr/>
          <p:nvPr>
            <p:ph type="title"/>
          </p:nvPr>
        </p:nvSpPr>
        <p:spPr>
          <a:xfrm>
            <a:off x="812800" y="11023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62B"/>
                </a:solidFill>
                <a:latin typeface="Arial" pitchFamily="34" charset="0"/>
                <a:ea typeface="Arial" pitchFamily="34" charset="-122"/>
                <a:cs typeface="Arial" pitchFamily="34" charset="-120"/>
              </a:rPr>
              <a:t>Hazards in making and using the fan</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813560"/>
          <a:ext cx="10556240" cy="2498090"/>
        </p:xfrm>
        <a:graphic>
          <a:graphicData uri="http://schemas.openxmlformats.org/drawingml/2006/table">
            <a:tbl>
              <a:tblPr/>
              <a:tblGrid>
                <a:gridCol w="2533498"/>
                <a:gridCol w="3377997"/>
                <a:gridCol w="2744622"/>
                <a:gridCol w="1900123"/>
              </a:tblGrid>
              <a:tr h="356870">
                <a:tc>
                  <a:txBody>
                    <a:bodyPr/>
                    <a:lstStyle/>
                    <a:p>
                      <a:pPr indent="0" marL="0">
                        <a:lnSpc>
                          <a:spcPts val="1820"/>
                        </a:lnSpc>
                        <a:buNone/>
                      </a:pPr>
                      <a:r>
                        <a:rPr lang="en-US" sz="1300" b="1" dirty="0">
                          <a:solidFill>
                            <a:srgbClr val="EAF2EF"/>
                          </a:solidFill>
                          <a:latin typeface="Arial" pitchFamily="34" charset="0"/>
                          <a:ea typeface="Arial" pitchFamily="34" charset="-122"/>
                          <a:cs typeface="Arial" pitchFamily="34" charset="-120"/>
                        </a:rPr>
                        <a:t>Hazard</a:t>
                      </a:r>
                      <a:endParaRPr lang="en-US" sz="1300" dirty="0">
                        <a:latin typeface="Arial" charset="0"/>
                        <a:ea typeface="Arial" charset="0"/>
                        <a:cs typeface="Arial" charset="0"/>
                      </a:endParaRPr>
                    </a:p>
                  </a:txBody>
                  <a:tcPr marL="57785" marR="57785" marT="57785" marB="57785" anchor="t">
                    <a:lnL w="12700" cap="flat" cmpd="sng" algn="ctr">
                      <a:solidFill>
                        <a:srgbClr val="C2C4C0"/>
                      </a:solidFill>
                      <a:prstDash val="solid"/>
                      <a:round/>
                      <a:headEnd type="none" w="med" len="med"/>
                      <a:tailEnd type="none" w="med" len="med"/>
                    </a:lnL>
                    <a:lnR w="12700" cap="flat" cmpd="sng" algn="ctr">
                      <a:solidFill>
                        <a:srgbClr val="142226"/>
                      </a:solidFill>
                      <a:prstDash val="solid"/>
                      <a:round/>
                      <a:headEnd type="none" w="med" len="med"/>
                      <a:tailEnd type="none" w="med" len="med"/>
                    </a:lnR>
                    <a:lnT w="12700" cap="flat" cmpd="sng" algn="ctr">
                      <a:solidFill>
                        <a:srgbClr val="C2C4C0"/>
                      </a:solidFill>
                      <a:prstDash val="solid"/>
                      <a:round/>
                      <a:headEnd type="none" w="med" len="med"/>
                      <a:tailEnd type="none" w="med" len="med"/>
                    </a:lnT>
                    <a:lnB w="12700" cap="flat" cmpd="sng" algn="ctr">
                      <a:solidFill>
                        <a:srgbClr val="142226"/>
                      </a:solidFill>
                      <a:prstDash val="solid"/>
                      <a:round/>
                      <a:headEnd type="none" w="med" len="med"/>
                      <a:tailEnd type="none" w="med" len="med"/>
                    </a:lnB>
                    <a:solidFill>
                      <a:srgbClr val="14262B"/>
                    </a:solidFill>
                  </a:tcPr>
                </a:tc>
                <a:tc>
                  <a:txBody>
                    <a:bodyPr/>
                    <a:lstStyle/>
                    <a:p>
                      <a:pPr indent="0" marL="0">
                        <a:lnSpc>
                          <a:spcPts val="1820"/>
                        </a:lnSpc>
                        <a:buNone/>
                      </a:pPr>
                      <a:r>
                        <a:rPr lang="en-US" sz="1300" b="1" dirty="0">
                          <a:solidFill>
                            <a:srgbClr val="EAF2EF"/>
                          </a:solidFill>
                          <a:latin typeface="Arial" pitchFamily="34" charset="0"/>
                          <a:ea typeface="Arial" pitchFamily="34" charset="-122"/>
                          <a:cs typeface="Arial" pitchFamily="34" charset="-120"/>
                        </a:rPr>
                        <a:t>Cause</a:t>
                      </a:r>
                      <a:endParaRPr lang="en-US" sz="1300" dirty="0">
                        <a:latin typeface="Arial" charset="0"/>
                        <a:ea typeface="Arial" charset="0"/>
                        <a:cs typeface="Arial" charset="0"/>
                      </a:endParaRPr>
                    </a:p>
                  </a:txBody>
                  <a:tcPr marL="57785" marR="57785" marT="57785" marB="57785" anchor="t">
                    <a:lnL w="12700" cap="flat" cmpd="sng" algn="ctr">
                      <a:solidFill>
                        <a:srgbClr val="142226"/>
                      </a:solidFill>
                      <a:prstDash val="solid"/>
                      <a:round/>
                      <a:headEnd type="none" w="med" len="med"/>
                      <a:tailEnd type="none" w="med" len="med"/>
                    </a:lnL>
                    <a:lnR w="12700" cap="flat" cmpd="sng" algn="ctr">
                      <a:solidFill>
                        <a:srgbClr val="142226"/>
                      </a:solidFill>
                      <a:prstDash val="solid"/>
                      <a:round/>
                      <a:headEnd type="none" w="med" len="med"/>
                      <a:tailEnd type="none" w="med" len="med"/>
                    </a:lnR>
                    <a:lnT w="12700" cap="flat" cmpd="sng" algn="ctr">
                      <a:solidFill>
                        <a:srgbClr val="C2C4C0"/>
                      </a:solidFill>
                      <a:prstDash val="solid"/>
                      <a:round/>
                      <a:headEnd type="none" w="med" len="med"/>
                      <a:tailEnd type="none" w="med" len="med"/>
                    </a:lnT>
                    <a:lnB w="12700" cap="flat" cmpd="sng" algn="ctr">
                      <a:solidFill>
                        <a:srgbClr val="142226"/>
                      </a:solidFill>
                      <a:prstDash val="solid"/>
                      <a:round/>
                      <a:headEnd type="none" w="med" len="med"/>
                      <a:tailEnd type="none" w="med" len="med"/>
                    </a:lnB>
                    <a:solidFill>
                      <a:srgbClr val="14262B"/>
                    </a:solidFill>
                  </a:tcPr>
                </a:tc>
                <a:tc>
                  <a:txBody>
                    <a:bodyPr/>
                    <a:lstStyle/>
                    <a:p>
                      <a:pPr indent="0" marL="0">
                        <a:lnSpc>
                          <a:spcPts val="1820"/>
                        </a:lnSpc>
                        <a:buNone/>
                      </a:pPr>
                      <a:r>
                        <a:rPr lang="en-US" sz="1300" b="1" dirty="0">
                          <a:solidFill>
                            <a:srgbClr val="EAF2EF"/>
                          </a:solidFill>
                          <a:latin typeface="Arial" pitchFamily="34" charset="0"/>
                          <a:ea typeface="Arial" pitchFamily="34" charset="-122"/>
                          <a:cs typeface="Arial" pitchFamily="34" charset="-120"/>
                        </a:rPr>
                        <a:t>Possible harm</a:t>
                      </a:r>
                      <a:endParaRPr lang="en-US" sz="1300" dirty="0">
                        <a:latin typeface="Arial" charset="0"/>
                        <a:ea typeface="Arial" charset="0"/>
                        <a:cs typeface="Arial" charset="0"/>
                      </a:endParaRPr>
                    </a:p>
                  </a:txBody>
                  <a:tcPr marL="57785" marR="57785" marT="57785" marB="57785" anchor="t">
                    <a:lnL w="12700" cap="flat" cmpd="sng" algn="ctr">
                      <a:solidFill>
                        <a:srgbClr val="142226"/>
                      </a:solidFill>
                      <a:prstDash val="solid"/>
                      <a:round/>
                      <a:headEnd type="none" w="med" len="med"/>
                      <a:tailEnd type="none" w="med" len="med"/>
                    </a:lnL>
                    <a:lnR w="12700" cap="flat" cmpd="sng" algn="ctr">
                      <a:solidFill>
                        <a:srgbClr val="142226"/>
                      </a:solidFill>
                      <a:prstDash val="solid"/>
                      <a:round/>
                      <a:headEnd type="none" w="med" len="med"/>
                      <a:tailEnd type="none" w="med" len="med"/>
                    </a:lnR>
                    <a:lnT w="12700" cap="flat" cmpd="sng" algn="ctr">
                      <a:solidFill>
                        <a:srgbClr val="C2C4C0"/>
                      </a:solidFill>
                      <a:prstDash val="solid"/>
                      <a:round/>
                      <a:headEnd type="none" w="med" len="med"/>
                      <a:tailEnd type="none" w="med" len="med"/>
                    </a:lnT>
                    <a:lnB w="12700" cap="flat" cmpd="sng" algn="ctr">
                      <a:solidFill>
                        <a:srgbClr val="142226"/>
                      </a:solidFill>
                      <a:prstDash val="solid"/>
                      <a:round/>
                      <a:headEnd type="none" w="med" len="med"/>
                      <a:tailEnd type="none" w="med" len="med"/>
                    </a:lnB>
                    <a:solidFill>
                      <a:srgbClr val="14262B"/>
                    </a:solidFill>
                  </a:tcPr>
                </a:tc>
                <a:tc>
                  <a:txBody>
                    <a:bodyPr/>
                    <a:lstStyle/>
                    <a:p>
                      <a:pPr indent="0" marL="0">
                        <a:lnSpc>
                          <a:spcPts val="1820"/>
                        </a:lnSpc>
                        <a:buNone/>
                      </a:pPr>
                      <a:r>
                        <a:rPr lang="en-US" sz="1300" b="1" dirty="0">
                          <a:solidFill>
                            <a:srgbClr val="EAF2EF"/>
                          </a:solidFill>
                          <a:latin typeface="Arial" pitchFamily="34" charset="0"/>
                          <a:ea typeface="Arial" pitchFamily="34" charset="-122"/>
                          <a:cs typeface="Arial" pitchFamily="34" charset="-120"/>
                        </a:rPr>
                        <a:t>Risk</a:t>
                      </a:r>
                      <a:endParaRPr lang="en-US" sz="1300" dirty="0">
                        <a:latin typeface="Arial" charset="0"/>
                        <a:ea typeface="Arial" charset="0"/>
                        <a:cs typeface="Arial" charset="0"/>
                      </a:endParaRPr>
                    </a:p>
                  </a:txBody>
                  <a:tcPr marL="57785" marR="57785" marT="57785" marB="57785" anchor="t">
                    <a:lnL w="12700" cap="flat" cmpd="sng" algn="ctr">
                      <a:solidFill>
                        <a:srgbClr val="142226"/>
                      </a:solidFill>
                      <a:prstDash val="solid"/>
                      <a:round/>
                      <a:headEnd type="none" w="med" len="med"/>
                      <a:tailEnd type="none" w="med" len="med"/>
                    </a:lnL>
                    <a:lnR w="12700" cap="flat" cmpd="sng" algn="ctr">
                      <a:solidFill>
                        <a:srgbClr val="142226"/>
                      </a:solidFill>
                      <a:prstDash val="solid"/>
                      <a:round/>
                      <a:headEnd type="none" w="med" len="med"/>
                      <a:tailEnd type="none" w="med" len="med"/>
                    </a:lnR>
                    <a:lnT w="12700" cap="flat" cmpd="sng" algn="ctr">
                      <a:solidFill>
                        <a:srgbClr val="C2C4C0"/>
                      </a:solidFill>
                      <a:prstDash val="solid"/>
                      <a:round/>
                      <a:headEnd type="none" w="med" len="med"/>
                      <a:tailEnd type="none" w="med" len="med"/>
                    </a:lnT>
                    <a:lnB w="12700" cap="flat" cmpd="sng" algn="ctr">
                      <a:solidFill>
                        <a:srgbClr val="142226"/>
                      </a:solidFill>
                      <a:prstDash val="solid"/>
                      <a:round/>
                      <a:headEnd type="none" w="med" len="med"/>
                      <a:tailEnd type="none" w="med" len="med"/>
                    </a:lnB>
                    <a:solidFill>
                      <a:srgbClr val="14262B"/>
                    </a:solidFill>
                  </a:tcPr>
                </a:tc>
              </a:tr>
              <a:tr h="356870">
                <a:tc>
                  <a:txBody>
                    <a:bodyPr/>
                    <a:lstStyle/>
                    <a:p>
                      <a:pPr indent="0" marL="0">
                        <a:lnSpc>
                          <a:spcPts val="1820"/>
                        </a:lnSpc>
                        <a:buNone/>
                      </a:pPr>
                      <a:r>
                        <a:rPr lang="en-US" sz="1300" dirty="0">
                          <a:solidFill>
                            <a:srgbClr val="14262B"/>
                          </a:solidFill>
                          <a:latin typeface="Arial" pitchFamily="34" charset="0"/>
                          <a:ea typeface="Arial" pitchFamily="34" charset="-122"/>
                          <a:cs typeface="Arial" pitchFamily="34" charset="-120"/>
                        </a:rPr>
                        <a:t>Spinning blades</a:t>
                      </a:r>
                      <a:endParaRPr lang="en-US" sz="1300" dirty="0">
                        <a:latin typeface="Arial" charset="0"/>
                        <a:ea typeface="Arial" charset="0"/>
                        <a:cs typeface="Arial" charset="0"/>
                      </a:endParaRPr>
                    </a:p>
                  </a:txBody>
                  <a:tcPr marL="57785" marR="57785" marT="57785" marB="57785" anchor="t">
                    <a:lnL w="12700" cap="flat" cmpd="sng" algn="ctr">
                      <a:solidFill>
                        <a:srgbClr val="C2C4C0"/>
                      </a:solidFill>
                      <a:prstDash val="solid"/>
                      <a:round/>
                      <a:headEnd type="none" w="med" len="med"/>
                      <a:tailEnd type="none" w="med" len="med"/>
                    </a:lnL>
                    <a:lnR w="12700" cap="flat" cmpd="sng" algn="ctr">
                      <a:solidFill>
                        <a:srgbClr val="C7C8C6"/>
                      </a:solidFill>
                      <a:prstDash val="solid"/>
                      <a:round/>
                      <a:headEnd type="none" w="med" len="med"/>
                      <a:tailEnd type="none" w="med" len="med"/>
                    </a:lnR>
                    <a:lnT w="12700" cap="flat" cmpd="sng" algn="ctr">
                      <a:solidFill>
                        <a:srgbClr val="142226"/>
                      </a:solidFill>
                      <a:prstDash val="solid"/>
                      <a:round/>
                      <a:headEnd type="none" w="med" len="med"/>
                      <a:tailEnd type="none" w="med" len="med"/>
                    </a:lnT>
                    <a:lnB w="12700" cap="flat" cmpd="sng" algn="ctr">
                      <a:solidFill>
                        <a:srgbClr val="C7C8C6"/>
                      </a:solidFill>
                      <a:prstDash val="solid"/>
                      <a:round/>
                      <a:headEnd type="none" w="med" len="med"/>
                      <a:tailEnd type="none" w="med" len="med"/>
                    </a:lnB>
                    <a:solidFill>
                      <a:srgbClr val="FAFBF8"/>
                    </a:solidFill>
                  </a:tcPr>
                </a:tc>
                <a:tc>
                  <a:txBody>
                    <a:bodyPr/>
                    <a:lstStyle/>
                    <a:p>
                      <a:pPr indent="0" marL="0">
                        <a:lnSpc>
                          <a:spcPts val="1820"/>
                        </a:lnSpc>
                        <a:buNone/>
                      </a:pPr>
                      <a:r>
                        <a:rPr lang="en-US" sz="1300" dirty="0">
                          <a:solidFill>
                            <a:srgbClr val="14262B"/>
                          </a:solidFill>
                          <a:latin typeface="Arial" pitchFamily="34" charset="0"/>
                          <a:ea typeface="Arial" pitchFamily="34" charset="-122"/>
                          <a:cs typeface="Arial" pitchFamily="34" charset="-120"/>
                        </a:rPr>
                        <a:t>Finger enters the fan</a:t>
                      </a:r>
                      <a:endParaRPr lang="en-US" sz="1300" dirty="0">
                        <a:latin typeface="Arial" charset="0"/>
                        <a:ea typeface="Arial" charset="0"/>
                        <a:cs typeface="Arial" charset="0"/>
                      </a:endParaRPr>
                    </a:p>
                  </a:txBody>
                  <a:tcPr marL="57785" marR="57785" marT="57785" marB="57785" anchor="t">
                    <a:lnL w="12700" cap="flat" cmpd="sng" algn="ctr">
                      <a:solidFill>
                        <a:srgbClr val="C7C8C6"/>
                      </a:solidFill>
                      <a:prstDash val="solid"/>
                      <a:round/>
                      <a:headEnd type="none" w="med" len="med"/>
                      <a:tailEnd type="none" w="med" len="med"/>
                    </a:lnL>
                    <a:lnR w="12700" cap="flat" cmpd="sng" algn="ctr">
                      <a:solidFill>
                        <a:srgbClr val="C7C8C6"/>
                      </a:solidFill>
                      <a:prstDash val="solid"/>
                      <a:round/>
                      <a:headEnd type="none" w="med" len="med"/>
                      <a:tailEnd type="none" w="med" len="med"/>
                    </a:lnR>
                    <a:lnT w="12700" cap="flat" cmpd="sng" algn="ctr">
                      <a:solidFill>
                        <a:srgbClr val="142226"/>
                      </a:solidFill>
                      <a:prstDash val="solid"/>
                      <a:round/>
                      <a:headEnd type="none" w="med" len="med"/>
                      <a:tailEnd type="none" w="med" len="med"/>
                    </a:lnT>
                    <a:lnB w="12700" cap="flat" cmpd="sng" algn="ctr">
                      <a:solidFill>
                        <a:srgbClr val="C7C8C6"/>
                      </a:solidFill>
                      <a:prstDash val="solid"/>
                      <a:round/>
                      <a:headEnd type="none" w="med" len="med"/>
                      <a:tailEnd type="none" w="med" len="med"/>
                    </a:lnB>
                    <a:solidFill>
                      <a:srgbClr val="FAFBF8"/>
                    </a:solidFill>
                  </a:tcPr>
                </a:tc>
                <a:tc>
                  <a:txBody>
                    <a:bodyPr/>
                    <a:lstStyle/>
                    <a:p>
                      <a:pPr indent="0" marL="0">
                        <a:lnSpc>
                          <a:spcPts val="1820"/>
                        </a:lnSpc>
                        <a:buNone/>
                      </a:pPr>
                      <a:r>
                        <a:rPr lang="en-US" sz="1300" dirty="0">
                          <a:solidFill>
                            <a:srgbClr val="14262B"/>
                          </a:solidFill>
                          <a:latin typeface="Arial" pitchFamily="34" charset="0"/>
                          <a:ea typeface="Arial" pitchFamily="34" charset="-122"/>
                          <a:cs typeface="Arial" pitchFamily="34" charset="-120"/>
                        </a:rPr>
                        <a:t>Cuts, bruises</a:t>
                      </a:r>
                      <a:endParaRPr lang="en-US" sz="1300" dirty="0">
                        <a:latin typeface="Arial" charset="0"/>
                        <a:ea typeface="Arial" charset="0"/>
                        <a:cs typeface="Arial" charset="0"/>
                      </a:endParaRPr>
                    </a:p>
                  </a:txBody>
                  <a:tcPr marL="57785" marR="57785" marT="57785" marB="57785" anchor="t">
                    <a:lnL w="12700" cap="flat" cmpd="sng" algn="ctr">
                      <a:solidFill>
                        <a:srgbClr val="C7C8C6"/>
                      </a:solidFill>
                      <a:prstDash val="solid"/>
                      <a:round/>
                      <a:headEnd type="none" w="med" len="med"/>
                      <a:tailEnd type="none" w="med" len="med"/>
                    </a:lnL>
                    <a:lnR w="12700" cap="flat" cmpd="sng" algn="ctr">
                      <a:solidFill>
                        <a:srgbClr val="C7C8C6"/>
                      </a:solidFill>
                      <a:prstDash val="solid"/>
                      <a:round/>
                      <a:headEnd type="none" w="med" len="med"/>
                      <a:tailEnd type="none" w="med" len="med"/>
                    </a:lnR>
                    <a:lnT w="12700" cap="flat" cmpd="sng" algn="ctr">
                      <a:solidFill>
                        <a:srgbClr val="142226"/>
                      </a:solidFill>
                      <a:prstDash val="solid"/>
                      <a:round/>
                      <a:headEnd type="none" w="med" len="med"/>
                      <a:tailEnd type="none" w="med" len="med"/>
                    </a:lnT>
                    <a:lnB w="12700" cap="flat" cmpd="sng" algn="ctr">
                      <a:solidFill>
                        <a:srgbClr val="C7C8C6"/>
                      </a:solidFill>
                      <a:prstDash val="solid"/>
                      <a:round/>
                      <a:headEnd type="none" w="med" len="med"/>
                      <a:tailEnd type="none" w="med" len="med"/>
                    </a:lnB>
                    <a:solidFill>
                      <a:srgbClr val="FAFBF8"/>
                    </a:solidFill>
                  </a:tcPr>
                </a:tc>
                <a:tc>
                  <a:txBody>
                    <a:bodyPr/>
                    <a:lstStyle/>
                    <a:p>
                      <a:pPr indent="0" marL="0">
                        <a:lnSpc>
                          <a:spcPts val="1820"/>
                        </a:lnSpc>
                        <a:buNone/>
                      </a:pPr>
                      <a:r>
                        <a:rPr lang="en-US" sz="1300" dirty="0">
                          <a:solidFill>
                            <a:srgbClr val="8A5A00"/>
                          </a:solidFill>
                          <a:latin typeface="Arial" pitchFamily="34" charset="0"/>
                          <a:ea typeface="Arial" pitchFamily="34" charset="-122"/>
                          <a:cs typeface="Arial" pitchFamily="34" charset="-120"/>
                        </a:rPr>
                        <a:t>Medium</a:t>
                      </a:r>
                      <a:endParaRPr lang="en-US" sz="1300" dirty="0">
                        <a:latin typeface="Arial" charset="0"/>
                        <a:ea typeface="Arial" charset="0"/>
                        <a:cs typeface="Arial" charset="0"/>
                      </a:endParaRPr>
                    </a:p>
                  </a:txBody>
                  <a:tcPr marL="57785" marR="57785" marT="57785" marB="57785" anchor="t">
                    <a:lnL w="12700" cap="flat" cmpd="sng" algn="ctr">
                      <a:solidFill>
                        <a:srgbClr val="C7C8C6"/>
                      </a:solidFill>
                      <a:prstDash val="solid"/>
                      <a:round/>
                      <a:headEnd type="none" w="med" len="med"/>
                      <a:tailEnd type="none" w="med" len="med"/>
                    </a:lnL>
                    <a:lnR w="12700" cap="flat" cmpd="sng" algn="ctr">
                      <a:solidFill>
                        <a:srgbClr val="C7C8C6"/>
                      </a:solidFill>
                      <a:prstDash val="solid"/>
                      <a:round/>
                      <a:headEnd type="none" w="med" len="med"/>
                      <a:tailEnd type="none" w="med" len="med"/>
                    </a:lnR>
                    <a:lnT w="12700" cap="flat" cmpd="sng" algn="ctr">
                      <a:solidFill>
                        <a:srgbClr val="142226"/>
                      </a:solidFill>
                      <a:prstDash val="solid"/>
                      <a:round/>
                      <a:headEnd type="none" w="med" len="med"/>
                      <a:tailEnd type="none" w="med" len="med"/>
                    </a:lnT>
                    <a:lnB w="12700" cap="flat" cmpd="sng" algn="ctr">
                      <a:solidFill>
                        <a:srgbClr val="C7C8C6"/>
                      </a:solidFill>
                      <a:prstDash val="solid"/>
                      <a:round/>
                      <a:headEnd type="none" w="med" len="med"/>
                      <a:tailEnd type="none" w="med" len="med"/>
                    </a:lnB>
                    <a:solidFill>
                      <a:srgbClr val="FAFBF8"/>
                    </a:solidFill>
                  </a:tcPr>
                </a:tc>
              </a:tr>
              <a:tr h="356870">
                <a:tc>
                  <a:txBody>
                    <a:bodyPr/>
                    <a:lstStyle/>
                    <a:p>
                      <a:pPr indent="0" marL="0">
                        <a:lnSpc>
                          <a:spcPts val="1820"/>
                        </a:lnSpc>
                        <a:buNone/>
                      </a:pPr>
                      <a:r>
                        <a:rPr lang="en-US" sz="1300" dirty="0">
                          <a:solidFill>
                            <a:srgbClr val="14262B"/>
                          </a:solidFill>
                          <a:latin typeface="Arial" pitchFamily="34" charset="0"/>
                          <a:ea typeface="Arial" pitchFamily="34" charset="-122"/>
                          <a:cs typeface="Arial" pitchFamily="34" charset="-120"/>
                        </a:rPr>
                        <a:t>Li-ion cell</a:t>
                      </a:r>
                      <a:endParaRPr lang="en-US" sz="1300" dirty="0">
                        <a:latin typeface="Arial" charset="0"/>
                        <a:ea typeface="Arial" charset="0"/>
                        <a:cs typeface="Arial" charset="0"/>
                      </a:endParaRPr>
                    </a:p>
                  </a:txBody>
                  <a:tcPr marL="57785" marR="57785" marT="57785" marB="57785" anchor="t">
                    <a:lnL w="12700" cap="flat" cmpd="sng" algn="ctr">
                      <a:solidFill>
                        <a:srgbClr val="C2C4C0"/>
                      </a:solidFill>
                      <a:prstDash val="solid"/>
                      <a:round/>
                      <a:headEnd type="none" w="med" len="med"/>
                      <a:tailEnd type="none" w="med" len="med"/>
                    </a:lnL>
                    <a:lnR w="12700" cap="flat" cmpd="sng" algn="ctr">
                      <a:solidFill>
                        <a:srgbClr val="B9BEBB"/>
                      </a:solidFill>
                      <a:prstDash val="solid"/>
                      <a:round/>
                      <a:headEnd type="none" w="med" len="med"/>
                      <a:tailEnd type="none" w="med" len="med"/>
                    </a:lnR>
                    <a:lnT w="12700" cap="flat" cmpd="sng" algn="ctr">
                      <a:solidFill>
                        <a:srgbClr val="C7C8C6"/>
                      </a:solidFill>
                      <a:prstDash val="solid"/>
                      <a:round/>
                      <a:headEnd type="none" w="med" len="med"/>
                      <a:tailEnd type="none" w="med" len="med"/>
                    </a:lnT>
                    <a:lnB w="12700" cap="flat" cmpd="sng" algn="ctr">
                      <a:solidFill>
                        <a:srgbClr val="B9BEBB"/>
                      </a:solidFill>
                      <a:prstDash val="solid"/>
                      <a:round/>
                      <a:headEnd type="none" w="med" len="med"/>
                      <a:tailEnd type="none" w="med" len="med"/>
                    </a:lnB>
                    <a:solidFill>
                      <a:srgbClr val="E8EEEA"/>
                    </a:solidFill>
                  </a:tcPr>
                </a:tc>
                <a:tc>
                  <a:txBody>
                    <a:bodyPr/>
                    <a:lstStyle/>
                    <a:p>
                      <a:pPr indent="0" marL="0">
                        <a:lnSpc>
                          <a:spcPts val="1820"/>
                        </a:lnSpc>
                        <a:buNone/>
                      </a:pPr>
                      <a:r>
                        <a:rPr lang="en-US" sz="1300" dirty="0">
                          <a:solidFill>
                            <a:srgbClr val="14262B"/>
                          </a:solidFill>
                          <a:latin typeface="Arial" pitchFamily="34" charset="0"/>
                          <a:ea typeface="Arial" pitchFamily="34" charset="-122"/>
                          <a:cs typeface="Arial" pitchFamily="34" charset="-120"/>
                        </a:rPr>
                        <a:t>Short circuit, overcharge</a:t>
                      </a:r>
                      <a:endParaRPr lang="en-US" sz="1300" dirty="0">
                        <a:latin typeface="Arial" charset="0"/>
                        <a:ea typeface="Arial" charset="0"/>
                        <a:cs typeface="Arial" charset="0"/>
                      </a:endParaRPr>
                    </a:p>
                  </a:txBody>
                  <a:tcPr marL="57785" marR="57785" marT="57785" marB="57785" anchor="t">
                    <a:lnL w="12700" cap="flat" cmpd="sng" algn="ctr">
                      <a:solidFill>
                        <a:srgbClr val="B9BEBB"/>
                      </a:solidFill>
                      <a:prstDash val="solid"/>
                      <a:round/>
                      <a:headEnd type="none" w="med" len="med"/>
                      <a:tailEnd type="none" w="med" len="med"/>
                    </a:lnL>
                    <a:lnR w="12700" cap="flat" cmpd="sng" algn="ctr">
                      <a:solidFill>
                        <a:srgbClr val="B9BEBB"/>
                      </a:solidFill>
                      <a:prstDash val="solid"/>
                      <a:round/>
                      <a:headEnd type="none" w="med" len="med"/>
                      <a:tailEnd type="none" w="med" len="med"/>
                    </a:lnR>
                    <a:lnT w="12700" cap="flat" cmpd="sng" algn="ctr">
                      <a:solidFill>
                        <a:srgbClr val="C7C8C6"/>
                      </a:solidFill>
                      <a:prstDash val="solid"/>
                      <a:round/>
                      <a:headEnd type="none" w="med" len="med"/>
                      <a:tailEnd type="none" w="med" len="med"/>
                    </a:lnT>
                    <a:lnB w="12700" cap="flat" cmpd="sng" algn="ctr">
                      <a:solidFill>
                        <a:srgbClr val="B9BEBB"/>
                      </a:solidFill>
                      <a:prstDash val="solid"/>
                      <a:round/>
                      <a:headEnd type="none" w="med" len="med"/>
                      <a:tailEnd type="none" w="med" len="med"/>
                    </a:lnB>
                    <a:solidFill>
                      <a:srgbClr val="E8EEEA"/>
                    </a:solidFill>
                  </a:tcPr>
                </a:tc>
                <a:tc>
                  <a:txBody>
                    <a:bodyPr/>
                    <a:lstStyle/>
                    <a:p>
                      <a:pPr indent="0" marL="0">
                        <a:lnSpc>
                          <a:spcPts val="1820"/>
                        </a:lnSpc>
                        <a:buNone/>
                      </a:pPr>
                      <a:r>
                        <a:rPr lang="en-US" sz="1300" dirty="0">
                          <a:solidFill>
                            <a:srgbClr val="14262B"/>
                          </a:solidFill>
                          <a:latin typeface="Arial" pitchFamily="34" charset="0"/>
                          <a:ea typeface="Arial" pitchFamily="34" charset="-122"/>
                          <a:cs typeface="Arial" pitchFamily="34" charset="-120"/>
                        </a:rPr>
                        <a:t>Burns, fire</a:t>
                      </a:r>
                      <a:endParaRPr lang="en-US" sz="1300" dirty="0">
                        <a:latin typeface="Arial" charset="0"/>
                        <a:ea typeface="Arial" charset="0"/>
                        <a:cs typeface="Arial" charset="0"/>
                      </a:endParaRPr>
                    </a:p>
                  </a:txBody>
                  <a:tcPr marL="57785" marR="57785" marT="57785" marB="57785" anchor="t">
                    <a:lnL w="12700" cap="flat" cmpd="sng" algn="ctr">
                      <a:solidFill>
                        <a:srgbClr val="B9BEBB"/>
                      </a:solidFill>
                      <a:prstDash val="solid"/>
                      <a:round/>
                      <a:headEnd type="none" w="med" len="med"/>
                      <a:tailEnd type="none" w="med" len="med"/>
                    </a:lnL>
                    <a:lnR w="12700" cap="flat" cmpd="sng" algn="ctr">
                      <a:solidFill>
                        <a:srgbClr val="B9BEBB"/>
                      </a:solidFill>
                      <a:prstDash val="solid"/>
                      <a:round/>
                      <a:headEnd type="none" w="med" len="med"/>
                      <a:tailEnd type="none" w="med" len="med"/>
                    </a:lnR>
                    <a:lnT w="12700" cap="flat" cmpd="sng" algn="ctr">
                      <a:solidFill>
                        <a:srgbClr val="C7C8C6"/>
                      </a:solidFill>
                      <a:prstDash val="solid"/>
                      <a:round/>
                      <a:headEnd type="none" w="med" len="med"/>
                      <a:tailEnd type="none" w="med" len="med"/>
                    </a:lnT>
                    <a:lnB w="12700" cap="flat" cmpd="sng" algn="ctr">
                      <a:solidFill>
                        <a:srgbClr val="B9BEBB"/>
                      </a:solidFill>
                      <a:prstDash val="solid"/>
                      <a:round/>
                      <a:headEnd type="none" w="med" len="med"/>
                      <a:tailEnd type="none" w="med" len="med"/>
                    </a:lnB>
                    <a:solidFill>
                      <a:srgbClr val="E8EEEA"/>
                    </a:solidFill>
                  </a:tcPr>
                </a:tc>
                <a:tc>
                  <a:txBody>
                    <a:bodyPr/>
                    <a:lstStyle/>
                    <a:p>
                      <a:pPr indent="0" marL="0">
                        <a:lnSpc>
                          <a:spcPts val="1820"/>
                        </a:lnSpc>
                        <a:buNone/>
                      </a:pPr>
                      <a:r>
                        <a:rPr lang="en-US" sz="1300" dirty="0">
                          <a:solidFill>
                            <a:srgbClr val="B3361A"/>
                          </a:solidFill>
                          <a:latin typeface="Arial" pitchFamily="34" charset="0"/>
                          <a:ea typeface="Arial" pitchFamily="34" charset="-122"/>
                          <a:cs typeface="Arial" pitchFamily="34" charset="-120"/>
                        </a:rPr>
                        <a:t>High</a:t>
                      </a:r>
                      <a:endParaRPr lang="en-US" sz="1300" dirty="0">
                        <a:latin typeface="Arial" charset="0"/>
                        <a:ea typeface="Arial" charset="0"/>
                        <a:cs typeface="Arial" charset="0"/>
                      </a:endParaRPr>
                    </a:p>
                  </a:txBody>
                  <a:tcPr marL="57785" marR="57785" marT="57785" marB="57785" anchor="t">
                    <a:lnL w="12700" cap="flat" cmpd="sng" algn="ctr">
                      <a:solidFill>
                        <a:srgbClr val="B9BEBB"/>
                      </a:solidFill>
                      <a:prstDash val="solid"/>
                      <a:round/>
                      <a:headEnd type="none" w="med" len="med"/>
                      <a:tailEnd type="none" w="med" len="med"/>
                    </a:lnL>
                    <a:lnR w="12700" cap="flat" cmpd="sng" algn="ctr">
                      <a:solidFill>
                        <a:srgbClr val="B9BEBB"/>
                      </a:solidFill>
                      <a:prstDash val="solid"/>
                      <a:round/>
                      <a:headEnd type="none" w="med" len="med"/>
                      <a:tailEnd type="none" w="med" len="med"/>
                    </a:lnR>
                    <a:lnT w="12700" cap="flat" cmpd="sng" algn="ctr">
                      <a:solidFill>
                        <a:srgbClr val="C7C8C6"/>
                      </a:solidFill>
                      <a:prstDash val="solid"/>
                      <a:round/>
                      <a:headEnd type="none" w="med" len="med"/>
                      <a:tailEnd type="none" w="med" len="med"/>
                    </a:lnT>
                    <a:lnB w="12700" cap="flat" cmpd="sng" algn="ctr">
                      <a:solidFill>
                        <a:srgbClr val="B9BEBB"/>
                      </a:solidFill>
                      <a:prstDash val="solid"/>
                      <a:round/>
                      <a:headEnd type="none" w="med" len="med"/>
                      <a:tailEnd type="none" w="med" len="med"/>
                    </a:lnB>
                    <a:solidFill>
                      <a:srgbClr val="E8EEEA"/>
                    </a:solidFill>
                  </a:tcPr>
                </a:tc>
              </a:tr>
              <a:tr h="356870">
                <a:tc>
                  <a:txBody>
                    <a:bodyPr/>
                    <a:lstStyle/>
                    <a:p>
                      <a:pPr indent="0" marL="0">
                        <a:lnSpc>
                          <a:spcPts val="1820"/>
                        </a:lnSpc>
                        <a:buNone/>
                      </a:pPr>
                      <a:r>
                        <a:rPr lang="en-US" sz="1300" dirty="0">
                          <a:solidFill>
                            <a:srgbClr val="14262B"/>
                          </a:solidFill>
                          <a:latin typeface="Arial" pitchFamily="34" charset="0"/>
                          <a:ea typeface="Arial" pitchFamily="34" charset="-122"/>
                          <a:cs typeface="Arial" pitchFamily="34" charset="-120"/>
                        </a:rPr>
                        <a:t>Hot nozzle and bed</a:t>
                      </a:r>
                      <a:endParaRPr lang="en-US" sz="1300" dirty="0">
                        <a:latin typeface="Arial" charset="0"/>
                        <a:ea typeface="Arial" charset="0"/>
                        <a:cs typeface="Arial" charset="0"/>
                      </a:endParaRPr>
                    </a:p>
                  </a:txBody>
                  <a:tcPr marL="57785" marR="57785" marT="57785" marB="57785" anchor="t">
                    <a:lnL w="12700" cap="flat" cmpd="sng" algn="ctr">
                      <a:solidFill>
                        <a:srgbClr val="C2C4C0"/>
                      </a:solidFill>
                      <a:prstDash val="solid"/>
                      <a:round/>
                      <a:headEnd type="none" w="med" len="med"/>
                      <a:tailEnd type="none" w="med" len="med"/>
                    </a:lnL>
                    <a:lnR w="12700" cap="flat" cmpd="sng" algn="ctr">
                      <a:solidFill>
                        <a:srgbClr val="C7C8C6"/>
                      </a:solidFill>
                      <a:prstDash val="solid"/>
                      <a:round/>
                      <a:headEnd type="none" w="med" len="med"/>
                      <a:tailEnd type="none" w="med" len="med"/>
                    </a:lnR>
                    <a:lnT w="12700" cap="flat" cmpd="sng" algn="ctr">
                      <a:solidFill>
                        <a:srgbClr val="B9BEBB"/>
                      </a:solidFill>
                      <a:prstDash val="solid"/>
                      <a:round/>
                      <a:headEnd type="none" w="med" len="med"/>
                      <a:tailEnd type="none" w="med" len="med"/>
                    </a:lnT>
                    <a:lnB w="12700" cap="flat" cmpd="sng" algn="ctr">
                      <a:solidFill>
                        <a:srgbClr val="C7C8C6"/>
                      </a:solidFill>
                      <a:prstDash val="solid"/>
                      <a:round/>
                      <a:headEnd type="none" w="med" len="med"/>
                      <a:tailEnd type="none" w="med" len="med"/>
                    </a:lnB>
                    <a:solidFill>
                      <a:srgbClr val="FAFBF8"/>
                    </a:solidFill>
                  </a:tcPr>
                </a:tc>
                <a:tc>
                  <a:txBody>
                    <a:bodyPr/>
                    <a:lstStyle/>
                    <a:p>
                      <a:pPr indent="0" marL="0">
                        <a:lnSpc>
                          <a:spcPts val="1820"/>
                        </a:lnSpc>
                        <a:buNone/>
                      </a:pPr>
                      <a:r>
                        <a:rPr lang="en-US" sz="1300" dirty="0">
                          <a:solidFill>
                            <a:srgbClr val="14262B"/>
                          </a:solidFill>
                          <a:latin typeface="Arial" pitchFamily="34" charset="0"/>
                          <a:ea typeface="Arial" pitchFamily="34" charset="-122"/>
                          <a:cs typeface="Arial" pitchFamily="34" charset="-120"/>
                        </a:rPr>
                        <a:t>Touched while printing</a:t>
                      </a:r>
                      <a:endParaRPr lang="en-US" sz="1300" dirty="0">
                        <a:latin typeface="Arial" charset="0"/>
                        <a:ea typeface="Arial" charset="0"/>
                        <a:cs typeface="Arial" charset="0"/>
                      </a:endParaRPr>
                    </a:p>
                  </a:txBody>
                  <a:tcPr marL="57785" marR="57785" marT="57785" marB="57785" anchor="t">
                    <a:lnL w="12700" cap="flat" cmpd="sng" algn="ctr">
                      <a:solidFill>
                        <a:srgbClr val="C7C8C6"/>
                      </a:solidFill>
                      <a:prstDash val="solid"/>
                      <a:round/>
                      <a:headEnd type="none" w="med" len="med"/>
                      <a:tailEnd type="none" w="med" len="med"/>
                    </a:lnL>
                    <a:lnR w="12700" cap="flat" cmpd="sng" algn="ctr">
                      <a:solidFill>
                        <a:srgbClr val="C7C8C6"/>
                      </a:solidFill>
                      <a:prstDash val="solid"/>
                      <a:round/>
                      <a:headEnd type="none" w="med" len="med"/>
                      <a:tailEnd type="none" w="med" len="med"/>
                    </a:lnR>
                    <a:lnT w="12700" cap="flat" cmpd="sng" algn="ctr">
                      <a:solidFill>
                        <a:srgbClr val="B9BEBB"/>
                      </a:solidFill>
                      <a:prstDash val="solid"/>
                      <a:round/>
                      <a:headEnd type="none" w="med" len="med"/>
                      <a:tailEnd type="none" w="med" len="med"/>
                    </a:lnT>
                    <a:lnB w="12700" cap="flat" cmpd="sng" algn="ctr">
                      <a:solidFill>
                        <a:srgbClr val="C7C8C6"/>
                      </a:solidFill>
                      <a:prstDash val="solid"/>
                      <a:round/>
                      <a:headEnd type="none" w="med" len="med"/>
                      <a:tailEnd type="none" w="med" len="med"/>
                    </a:lnB>
                    <a:solidFill>
                      <a:srgbClr val="FAFBF8"/>
                    </a:solidFill>
                  </a:tcPr>
                </a:tc>
                <a:tc>
                  <a:txBody>
                    <a:bodyPr/>
                    <a:lstStyle/>
                    <a:p>
                      <a:pPr indent="0" marL="0">
                        <a:lnSpc>
                          <a:spcPts val="1820"/>
                        </a:lnSpc>
                        <a:buNone/>
                      </a:pPr>
                      <a:r>
                        <a:rPr lang="en-US" sz="1300" dirty="0">
                          <a:solidFill>
                            <a:srgbClr val="14262B"/>
                          </a:solidFill>
                          <a:latin typeface="Arial" pitchFamily="34" charset="0"/>
                          <a:ea typeface="Arial" pitchFamily="34" charset="-122"/>
                          <a:cs typeface="Arial" pitchFamily="34" charset="-120"/>
                        </a:rPr>
                        <a:t>Burns</a:t>
                      </a:r>
                      <a:endParaRPr lang="en-US" sz="1300" dirty="0">
                        <a:latin typeface="Arial" charset="0"/>
                        <a:ea typeface="Arial" charset="0"/>
                        <a:cs typeface="Arial" charset="0"/>
                      </a:endParaRPr>
                    </a:p>
                  </a:txBody>
                  <a:tcPr marL="57785" marR="57785" marT="57785" marB="57785" anchor="t">
                    <a:lnL w="12700" cap="flat" cmpd="sng" algn="ctr">
                      <a:solidFill>
                        <a:srgbClr val="C7C8C6"/>
                      </a:solidFill>
                      <a:prstDash val="solid"/>
                      <a:round/>
                      <a:headEnd type="none" w="med" len="med"/>
                      <a:tailEnd type="none" w="med" len="med"/>
                    </a:lnL>
                    <a:lnR w="12700" cap="flat" cmpd="sng" algn="ctr">
                      <a:solidFill>
                        <a:srgbClr val="C7C8C6"/>
                      </a:solidFill>
                      <a:prstDash val="solid"/>
                      <a:round/>
                      <a:headEnd type="none" w="med" len="med"/>
                      <a:tailEnd type="none" w="med" len="med"/>
                    </a:lnR>
                    <a:lnT w="12700" cap="flat" cmpd="sng" algn="ctr">
                      <a:solidFill>
                        <a:srgbClr val="B9BEBB"/>
                      </a:solidFill>
                      <a:prstDash val="solid"/>
                      <a:round/>
                      <a:headEnd type="none" w="med" len="med"/>
                      <a:tailEnd type="none" w="med" len="med"/>
                    </a:lnT>
                    <a:lnB w="12700" cap="flat" cmpd="sng" algn="ctr">
                      <a:solidFill>
                        <a:srgbClr val="C7C8C6"/>
                      </a:solidFill>
                      <a:prstDash val="solid"/>
                      <a:round/>
                      <a:headEnd type="none" w="med" len="med"/>
                      <a:tailEnd type="none" w="med" len="med"/>
                    </a:lnB>
                    <a:solidFill>
                      <a:srgbClr val="FAFBF8"/>
                    </a:solidFill>
                  </a:tcPr>
                </a:tc>
                <a:tc>
                  <a:txBody>
                    <a:bodyPr/>
                    <a:lstStyle/>
                    <a:p>
                      <a:pPr indent="0" marL="0">
                        <a:lnSpc>
                          <a:spcPts val="1820"/>
                        </a:lnSpc>
                        <a:buNone/>
                      </a:pPr>
                      <a:r>
                        <a:rPr lang="en-US" sz="1300" dirty="0">
                          <a:solidFill>
                            <a:srgbClr val="8A5A00"/>
                          </a:solidFill>
                          <a:latin typeface="Arial" pitchFamily="34" charset="0"/>
                          <a:ea typeface="Arial" pitchFamily="34" charset="-122"/>
                          <a:cs typeface="Arial" pitchFamily="34" charset="-120"/>
                        </a:rPr>
                        <a:t>Medium</a:t>
                      </a:r>
                      <a:endParaRPr lang="en-US" sz="1300" dirty="0">
                        <a:latin typeface="Arial" charset="0"/>
                        <a:ea typeface="Arial" charset="0"/>
                        <a:cs typeface="Arial" charset="0"/>
                      </a:endParaRPr>
                    </a:p>
                  </a:txBody>
                  <a:tcPr marL="57785" marR="57785" marT="57785" marB="57785" anchor="t">
                    <a:lnL w="12700" cap="flat" cmpd="sng" algn="ctr">
                      <a:solidFill>
                        <a:srgbClr val="C7C8C6"/>
                      </a:solidFill>
                      <a:prstDash val="solid"/>
                      <a:round/>
                      <a:headEnd type="none" w="med" len="med"/>
                      <a:tailEnd type="none" w="med" len="med"/>
                    </a:lnL>
                    <a:lnR w="12700" cap="flat" cmpd="sng" algn="ctr">
                      <a:solidFill>
                        <a:srgbClr val="C7C8C6"/>
                      </a:solidFill>
                      <a:prstDash val="solid"/>
                      <a:round/>
                      <a:headEnd type="none" w="med" len="med"/>
                      <a:tailEnd type="none" w="med" len="med"/>
                    </a:lnR>
                    <a:lnT w="12700" cap="flat" cmpd="sng" algn="ctr">
                      <a:solidFill>
                        <a:srgbClr val="B9BEBB"/>
                      </a:solidFill>
                      <a:prstDash val="solid"/>
                      <a:round/>
                      <a:headEnd type="none" w="med" len="med"/>
                      <a:tailEnd type="none" w="med" len="med"/>
                    </a:lnT>
                    <a:lnB w="12700" cap="flat" cmpd="sng" algn="ctr">
                      <a:solidFill>
                        <a:srgbClr val="C7C8C6"/>
                      </a:solidFill>
                      <a:prstDash val="solid"/>
                      <a:round/>
                      <a:headEnd type="none" w="med" len="med"/>
                      <a:tailEnd type="none" w="med" len="med"/>
                    </a:lnB>
                    <a:solidFill>
                      <a:srgbClr val="FAFBF8"/>
                    </a:solidFill>
                  </a:tcPr>
                </a:tc>
              </a:tr>
              <a:tr h="356870">
                <a:tc>
                  <a:txBody>
                    <a:bodyPr/>
                    <a:lstStyle/>
                    <a:p>
                      <a:pPr indent="0" marL="0">
                        <a:lnSpc>
                          <a:spcPts val="1820"/>
                        </a:lnSpc>
                        <a:buNone/>
                      </a:pPr>
                      <a:r>
                        <a:rPr lang="en-US" sz="1300" dirty="0">
                          <a:solidFill>
                            <a:srgbClr val="14262B"/>
                          </a:solidFill>
                          <a:latin typeface="Arial" pitchFamily="34" charset="0"/>
                          <a:ea typeface="Arial" pitchFamily="34" charset="-122"/>
                          <a:cs typeface="Arial" pitchFamily="34" charset="-120"/>
                        </a:rPr>
                        <a:t>Print fumes</a:t>
                      </a:r>
                      <a:endParaRPr lang="en-US" sz="1300" dirty="0">
                        <a:latin typeface="Arial" charset="0"/>
                        <a:ea typeface="Arial" charset="0"/>
                        <a:cs typeface="Arial" charset="0"/>
                      </a:endParaRPr>
                    </a:p>
                  </a:txBody>
                  <a:tcPr marL="57785" marR="57785" marT="57785" marB="57785" anchor="t">
                    <a:lnL w="12700" cap="flat" cmpd="sng" algn="ctr">
                      <a:solidFill>
                        <a:srgbClr val="C2C4C0"/>
                      </a:solidFill>
                      <a:prstDash val="solid"/>
                      <a:round/>
                      <a:headEnd type="none" w="med" len="med"/>
                      <a:tailEnd type="none" w="med" len="med"/>
                    </a:lnL>
                    <a:lnR w="12700" cap="flat" cmpd="sng" algn="ctr">
                      <a:solidFill>
                        <a:srgbClr val="B9BEBB"/>
                      </a:solidFill>
                      <a:prstDash val="solid"/>
                      <a:round/>
                      <a:headEnd type="none" w="med" len="med"/>
                      <a:tailEnd type="none" w="med" len="med"/>
                    </a:lnR>
                    <a:lnT w="12700" cap="flat" cmpd="sng" algn="ctr">
                      <a:solidFill>
                        <a:srgbClr val="C7C8C6"/>
                      </a:solidFill>
                      <a:prstDash val="solid"/>
                      <a:round/>
                      <a:headEnd type="none" w="med" len="med"/>
                      <a:tailEnd type="none" w="med" len="med"/>
                    </a:lnT>
                    <a:lnB w="12700" cap="flat" cmpd="sng" algn="ctr">
                      <a:solidFill>
                        <a:srgbClr val="B9BEBB"/>
                      </a:solidFill>
                      <a:prstDash val="solid"/>
                      <a:round/>
                      <a:headEnd type="none" w="med" len="med"/>
                      <a:tailEnd type="none" w="med" len="med"/>
                    </a:lnB>
                    <a:solidFill>
                      <a:srgbClr val="E8EEEA"/>
                    </a:solidFill>
                  </a:tcPr>
                </a:tc>
                <a:tc>
                  <a:txBody>
                    <a:bodyPr/>
                    <a:lstStyle/>
                    <a:p>
                      <a:pPr indent="0" marL="0">
                        <a:lnSpc>
                          <a:spcPts val="1820"/>
                        </a:lnSpc>
                        <a:buNone/>
                      </a:pPr>
                      <a:r>
                        <a:rPr lang="en-US" sz="1300" dirty="0">
                          <a:solidFill>
                            <a:srgbClr val="14262B"/>
                          </a:solidFill>
                          <a:latin typeface="Arial" pitchFamily="34" charset="0"/>
                          <a:ea typeface="Arial" pitchFamily="34" charset="-122"/>
                          <a:cs typeface="Arial" pitchFamily="34" charset="-120"/>
                        </a:rPr>
                        <a:t>Heated filament, poor airflow</a:t>
                      </a:r>
                      <a:endParaRPr lang="en-US" sz="1300" dirty="0">
                        <a:latin typeface="Arial" charset="0"/>
                        <a:ea typeface="Arial" charset="0"/>
                        <a:cs typeface="Arial" charset="0"/>
                      </a:endParaRPr>
                    </a:p>
                  </a:txBody>
                  <a:tcPr marL="57785" marR="57785" marT="57785" marB="57785" anchor="t">
                    <a:lnL w="12700" cap="flat" cmpd="sng" algn="ctr">
                      <a:solidFill>
                        <a:srgbClr val="B9BEBB"/>
                      </a:solidFill>
                      <a:prstDash val="solid"/>
                      <a:round/>
                      <a:headEnd type="none" w="med" len="med"/>
                      <a:tailEnd type="none" w="med" len="med"/>
                    </a:lnL>
                    <a:lnR w="12700" cap="flat" cmpd="sng" algn="ctr">
                      <a:solidFill>
                        <a:srgbClr val="B9BEBB"/>
                      </a:solidFill>
                      <a:prstDash val="solid"/>
                      <a:round/>
                      <a:headEnd type="none" w="med" len="med"/>
                      <a:tailEnd type="none" w="med" len="med"/>
                    </a:lnR>
                    <a:lnT w="12700" cap="flat" cmpd="sng" algn="ctr">
                      <a:solidFill>
                        <a:srgbClr val="C7C8C6"/>
                      </a:solidFill>
                      <a:prstDash val="solid"/>
                      <a:round/>
                      <a:headEnd type="none" w="med" len="med"/>
                      <a:tailEnd type="none" w="med" len="med"/>
                    </a:lnT>
                    <a:lnB w="12700" cap="flat" cmpd="sng" algn="ctr">
                      <a:solidFill>
                        <a:srgbClr val="B9BEBB"/>
                      </a:solidFill>
                      <a:prstDash val="solid"/>
                      <a:round/>
                      <a:headEnd type="none" w="med" len="med"/>
                      <a:tailEnd type="none" w="med" len="med"/>
                    </a:lnB>
                    <a:solidFill>
                      <a:srgbClr val="E8EEEA"/>
                    </a:solidFill>
                  </a:tcPr>
                </a:tc>
                <a:tc>
                  <a:txBody>
                    <a:bodyPr/>
                    <a:lstStyle/>
                    <a:p>
                      <a:pPr indent="0" marL="0">
                        <a:lnSpc>
                          <a:spcPts val="1820"/>
                        </a:lnSpc>
                        <a:buNone/>
                      </a:pPr>
                      <a:r>
                        <a:rPr lang="en-US" sz="1300" dirty="0">
                          <a:solidFill>
                            <a:srgbClr val="14262B"/>
                          </a:solidFill>
                          <a:latin typeface="Arial" pitchFamily="34" charset="0"/>
                          <a:ea typeface="Arial" pitchFamily="34" charset="-122"/>
                          <a:cs typeface="Arial" pitchFamily="34" charset="-120"/>
                        </a:rPr>
                        <a:t>Irritation</a:t>
                      </a:r>
                      <a:endParaRPr lang="en-US" sz="1300" dirty="0">
                        <a:latin typeface="Arial" charset="0"/>
                        <a:ea typeface="Arial" charset="0"/>
                        <a:cs typeface="Arial" charset="0"/>
                      </a:endParaRPr>
                    </a:p>
                  </a:txBody>
                  <a:tcPr marL="57785" marR="57785" marT="57785" marB="57785" anchor="t">
                    <a:lnL w="12700" cap="flat" cmpd="sng" algn="ctr">
                      <a:solidFill>
                        <a:srgbClr val="B9BEBB"/>
                      </a:solidFill>
                      <a:prstDash val="solid"/>
                      <a:round/>
                      <a:headEnd type="none" w="med" len="med"/>
                      <a:tailEnd type="none" w="med" len="med"/>
                    </a:lnL>
                    <a:lnR w="12700" cap="flat" cmpd="sng" algn="ctr">
                      <a:solidFill>
                        <a:srgbClr val="B9BEBB"/>
                      </a:solidFill>
                      <a:prstDash val="solid"/>
                      <a:round/>
                      <a:headEnd type="none" w="med" len="med"/>
                      <a:tailEnd type="none" w="med" len="med"/>
                    </a:lnR>
                    <a:lnT w="12700" cap="flat" cmpd="sng" algn="ctr">
                      <a:solidFill>
                        <a:srgbClr val="C7C8C6"/>
                      </a:solidFill>
                      <a:prstDash val="solid"/>
                      <a:round/>
                      <a:headEnd type="none" w="med" len="med"/>
                      <a:tailEnd type="none" w="med" len="med"/>
                    </a:lnT>
                    <a:lnB w="12700" cap="flat" cmpd="sng" algn="ctr">
                      <a:solidFill>
                        <a:srgbClr val="B9BEBB"/>
                      </a:solidFill>
                      <a:prstDash val="solid"/>
                      <a:round/>
                      <a:headEnd type="none" w="med" len="med"/>
                      <a:tailEnd type="none" w="med" len="med"/>
                    </a:lnB>
                    <a:solidFill>
                      <a:srgbClr val="E8EEEA"/>
                    </a:solidFill>
                  </a:tcPr>
                </a:tc>
                <a:tc>
                  <a:txBody>
                    <a:bodyPr/>
                    <a:lstStyle/>
                    <a:p>
                      <a:pPr indent="0" marL="0">
                        <a:lnSpc>
                          <a:spcPts val="1820"/>
                        </a:lnSpc>
                        <a:buNone/>
                      </a:pPr>
                      <a:r>
                        <a:rPr lang="en-US" sz="1300" dirty="0">
                          <a:solidFill>
                            <a:srgbClr val="0B7A75"/>
                          </a:solidFill>
                          <a:latin typeface="Arial" pitchFamily="34" charset="0"/>
                          <a:ea typeface="Arial" pitchFamily="34" charset="-122"/>
                          <a:cs typeface="Arial" pitchFamily="34" charset="-120"/>
                        </a:rPr>
                        <a:t>Low</a:t>
                      </a:r>
                      <a:endParaRPr lang="en-US" sz="1300" dirty="0">
                        <a:latin typeface="Arial" charset="0"/>
                        <a:ea typeface="Arial" charset="0"/>
                        <a:cs typeface="Arial" charset="0"/>
                      </a:endParaRPr>
                    </a:p>
                  </a:txBody>
                  <a:tcPr marL="57785" marR="57785" marT="57785" marB="57785" anchor="t">
                    <a:lnL w="12700" cap="flat" cmpd="sng" algn="ctr">
                      <a:solidFill>
                        <a:srgbClr val="B9BEBB"/>
                      </a:solidFill>
                      <a:prstDash val="solid"/>
                      <a:round/>
                      <a:headEnd type="none" w="med" len="med"/>
                      <a:tailEnd type="none" w="med" len="med"/>
                    </a:lnL>
                    <a:lnR w="12700" cap="flat" cmpd="sng" algn="ctr">
                      <a:solidFill>
                        <a:srgbClr val="B9BEBB"/>
                      </a:solidFill>
                      <a:prstDash val="solid"/>
                      <a:round/>
                      <a:headEnd type="none" w="med" len="med"/>
                      <a:tailEnd type="none" w="med" len="med"/>
                    </a:lnR>
                    <a:lnT w="12700" cap="flat" cmpd="sng" algn="ctr">
                      <a:solidFill>
                        <a:srgbClr val="C7C8C6"/>
                      </a:solidFill>
                      <a:prstDash val="solid"/>
                      <a:round/>
                      <a:headEnd type="none" w="med" len="med"/>
                      <a:tailEnd type="none" w="med" len="med"/>
                    </a:lnT>
                    <a:lnB w="12700" cap="flat" cmpd="sng" algn="ctr">
                      <a:solidFill>
                        <a:srgbClr val="B9BEBB"/>
                      </a:solidFill>
                      <a:prstDash val="solid"/>
                      <a:round/>
                      <a:headEnd type="none" w="med" len="med"/>
                      <a:tailEnd type="none" w="med" len="med"/>
                    </a:lnB>
                    <a:solidFill>
                      <a:srgbClr val="E8EEEA"/>
                    </a:solidFill>
                  </a:tcPr>
                </a:tc>
              </a:tr>
              <a:tr h="356870">
                <a:tc>
                  <a:txBody>
                    <a:bodyPr/>
                    <a:lstStyle/>
                    <a:p>
                      <a:pPr indent="0" marL="0">
                        <a:lnSpc>
                          <a:spcPts val="1820"/>
                        </a:lnSpc>
                        <a:buNone/>
                      </a:pPr>
                      <a:r>
                        <a:rPr lang="en-US" sz="1300" dirty="0">
                          <a:solidFill>
                            <a:srgbClr val="14262B"/>
                          </a:solidFill>
                          <a:latin typeface="Arial" pitchFamily="34" charset="0"/>
                          <a:ea typeface="Arial" pitchFamily="34" charset="-122"/>
                          <a:cs typeface="Arial" pitchFamily="34" charset="-120"/>
                        </a:rPr>
                        <a:t>Blade fracture</a:t>
                      </a:r>
                      <a:endParaRPr lang="en-US" sz="1300" dirty="0">
                        <a:latin typeface="Arial" charset="0"/>
                        <a:ea typeface="Arial" charset="0"/>
                        <a:cs typeface="Arial" charset="0"/>
                      </a:endParaRPr>
                    </a:p>
                  </a:txBody>
                  <a:tcPr marL="57785" marR="57785" marT="57785" marB="57785" anchor="t">
                    <a:lnL w="12700" cap="flat" cmpd="sng" algn="ctr">
                      <a:solidFill>
                        <a:srgbClr val="C2C4C0"/>
                      </a:solidFill>
                      <a:prstDash val="solid"/>
                      <a:round/>
                      <a:headEnd type="none" w="med" len="med"/>
                      <a:tailEnd type="none" w="med" len="med"/>
                    </a:lnL>
                    <a:lnR w="12700" cap="flat" cmpd="sng" algn="ctr">
                      <a:solidFill>
                        <a:srgbClr val="C7C8C6"/>
                      </a:solidFill>
                      <a:prstDash val="solid"/>
                      <a:round/>
                      <a:headEnd type="none" w="med" len="med"/>
                      <a:tailEnd type="none" w="med" len="med"/>
                    </a:lnR>
                    <a:lnT w="12700" cap="flat" cmpd="sng" algn="ctr">
                      <a:solidFill>
                        <a:srgbClr val="B9BEBB"/>
                      </a:solidFill>
                      <a:prstDash val="solid"/>
                      <a:round/>
                      <a:headEnd type="none" w="med" len="med"/>
                      <a:tailEnd type="none" w="med" len="med"/>
                    </a:lnT>
                    <a:lnB w="12700" cap="flat" cmpd="sng" algn="ctr">
                      <a:solidFill>
                        <a:srgbClr val="C7C8C6"/>
                      </a:solidFill>
                      <a:prstDash val="solid"/>
                      <a:round/>
                      <a:headEnd type="none" w="med" len="med"/>
                      <a:tailEnd type="none" w="med" len="med"/>
                    </a:lnB>
                    <a:solidFill>
                      <a:srgbClr val="FAFBF8"/>
                    </a:solidFill>
                  </a:tcPr>
                </a:tc>
                <a:tc>
                  <a:txBody>
                    <a:bodyPr/>
                    <a:lstStyle/>
                    <a:p>
                      <a:pPr indent="0" marL="0">
                        <a:lnSpc>
                          <a:spcPts val="1820"/>
                        </a:lnSpc>
                        <a:buNone/>
                      </a:pPr>
                      <a:r>
                        <a:rPr lang="en-US" sz="1300" dirty="0">
                          <a:solidFill>
                            <a:srgbClr val="14262B"/>
                          </a:solidFill>
                          <a:latin typeface="Arial" pitchFamily="34" charset="0"/>
                          <a:ea typeface="Arial" pitchFamily="34" charset="-122"/>
                          <a:cs typeface="Arial" pitchFamily="34" charset="-120"/>
                        </a:rPr>
                        <a:t>Weak layers at high speed</a:t>
                      </a:r>
                      <a:endParaRPr lang="en-US" sz="1300" dirty="0">
                        <a:latin typeface="Arial" charset="0"/>
                        <a:ea typeface="Arial" charset="0"/>
                        <a:cs typeface="Arial" charset="0"/>
                      </a:endParaRPr>
                    </a:p>
                  </a:txBody>
                  <a:tcPr marL="57785" marR="57785" marT="57785" marB="57785" anchor="t">
                    <a:lnL w="12700" cap="flat" cmpd="sng" algn="ctr">
                      <a:solidFill>
                        <a:srgbClr val="C7C8C6"/>
                      </a:solidFill>
                      <a:prstDash val="solid"/>
                      <a:round/>
                      <a:headEnd type="none" w="med" len="med"/>
                      <a:tailEnd type="none" w="med" len="med"/>
                    </a:lnL>
                    <a:lnR w="12700" cap="flat" cmpd="sng" algn="ctr">
                      <a:solidFill>
                        <a:srgbClr val="C7C8C6"/>
                      </a:solidFill>
                      <a:prstDash val="solid"/>
                      <a:round/>
                      <a:headEnd type="none" w="med" len="med"/>
                      <a:tailEnd type="none" w="med" len="med"/>
                    </a:lnR>
                    <a:lnT w="12700" cap="flat" cmpd="sng" algn="ctr">
                      <a:solidFill>
                        <a:srgbClr val="B9BEBB"/>
                      </a:solidFill>
                      <a:prstDash val="solid"/>
                      <a:round/>
                      <a:headEnd type="none" w="med" len="med"/>
                      <a:tailEnd type="none" w="med" len="med"/>
                    </a:lnT>
                    <a:lnB w="12700" cap="flat" cmpd="sng" algn="ctr">
                      <a:solidFill>
                        <a:srgbClr val="C7C8C6"/>
                      </a:solidFill>
                      <a:prstDash val="solid"/>
                      <a:round/>
                      <a:headEnd type="none" w="med" len="med"/>
                      <a:tailEnd type="none" w="med" len="med"/>
                    </a:lnB>
                    <a:solidFill>
                      <a:srgbClr val="FAFBF8"/>
                    </a:solidFill>
                  </a:tcPr>
                </a:tc>
                <a:tc>
                  <a:txBody>
                    <a:bodyPr/>
                    <a:lstStyle/>
                    <a:p>
                      <a:pPr indent="0" marL="0">
                        <a:lnSpc>
                          <a:spcPts val="1820"/>
                        </a:lnSpc>
                        <a:buNone/>
                      </a:pPr>
                      <a:r>
                        <a:rPr lang="en-US" sz="1300" dirty="0">
                          <a:solidFill>
                            <a:srgbClr val="14262B"/>
                          </a:solidFill>
                          <a:latin typeface="Arial" pitchFamily="34" charset="0"/>
                          <a:ea typeface="Arial" pitchFamily="34" charset="-122"/>
                          <a:cs typeface="Arial" pitchFamily="34" charset="-120"/>
                        </a:rPr>
                        <a:t>Flying fragments</a:t>
                      </a:r>
                      <a:endParaRPr lang="en-US" sz="1300" dirty="0">
                        <a:latin typeface="Arial" charset="0"/>
                        <a:ea typeface="Arial" charset="0"/>
                        <a:cs typeface="Arial" charset="0"/>
                      </a:endParaRPr>
                    </a:p>
                  </a:txBody>
                  <a:tcPr marL="57785" marR="57785" marT="57785" marB="57785" anchor="t">
                    <a:lnL w="12700" cap="flat" cmpd="sng" algn="ctr">
                      <a:solidFill>
                        <a:srgbClr val="C7C8C6"/>
                      </a:solidFill>
                      <a:prstDash val="solid"/>
                      <a:round/>
                      <a:headEnd type="none" w="med" len="med"/>
                      <a:tailEnd type="none" w="med" len="med"/>
                    </a:lnL>
                    <a:lnR w="12700" cap="flat" cmpd="sng" algn="ctr">
                      <a:solidFill>
                        <a:srgbClr val="C7C8C6"/>
                      </a:solidFill>
                      <a:prstDash val="solid"/>
                      <a:round/>
                      <a:headEnd type="none" w="med" len="med"/>
                      <a:tailEnd type="none" w="med" len="med"/>
                    </a:lnR>
                    <a:lnT w="12700" cap="flat" cmpd="sng" algn="ctr">
                      <a:solidFill>
                        <a:srgbClr val="B9BEBB"/>
                      </a:solidFill>
                      <a:prstDash val="solid"/>
                      <a:round/>
                      <a:headEnd type="none" w="med" len="med"/>
                      <a:tailEnd type="none" w="med" len="med"/>
                    </a:lnT>
                    <a:lnB w="12700" cap="flat" cmpd="sng" algn="ctr">
                      <a:solidFill>
                        <a:srgbClr val="C7C8C6"/>
                      </a:solidFill>
                      <a:prstDash val="solid"/>
                      <a:round/>
                      <a:headEnd type="none" w="med" len="med"/>
                      <a:tailEnd type="none" w="med" len="med"/>
                    </a:lnB>
                    <a:solidFill>
                      <a:srgbClr val="FAFBF8"/>
                    </a:solidFill>
                  </a:tcPr>
                </a:tc>
                <a:tc>
                  <a:txBody>
                    <a:bodyPr/>
                    <a:lstStyle/>
                    <a:p>
                      <a:pPr indent="0" marL="0">
                        <a:lnSpc>
                          <a:spcPts val="1820"/>
                        </a:lnSpc>
                        <a:buNone/>
                      </a:pPr>
                      <a:r>
                        <a:rPr lang="en-US" sz="1300" dirty="0">
                          <a:solidFill>
                            <a:srgbClr val="8A5A00"/>
                          </a:solidFill>
                          <a:latin typeface="Arial" pitchFamily="34" charset="0"/>
                          <a:ea typeface="Arial" pitchFamily="34" charset="-122"/>
                          <a:cs typeface="Arial" pitchFamily="34" charset="-120"/>
                        </a:rPr>
                        <a:t>Medium</a:t>
                      </a:r>
                      <a:endParaRPr lang="en-US" sz="1300" dirty="0">
                        <a:latin typeface="Arial" charset="0"/>
                        <a:ea typeface="Arial" charset="0"/>
                        <a:cs typeface="Arial" charset="0"/>
                      </a:endParaRPr>
                    </a:p>
                  </a:txBody>
                  <a:tcPr marL="57785" marR="57785" marT="57785" marB="57785" anchor="t">
                    <a:lnL w="12700" cap="flat" cmpd="sng" algn="ctr">
                      <a:solidFill>
                        <a:srgbClr val="C7C8C6"/>
                      </a:solidFill>
                      <a:prstDash val="solid"/>
                      <a:round/>
                      <a:headEnd type="none" w="med" len="med"/>
                      <a:tailEnd type="none" w="med" len="med"/>
                    </a:lnL>
                    <a:lnR w="12700" cap="flat" cmpd="sng" algn="ctr">
                      <a:solidFill>
                        <a:srgbClr val="C7C8C6"/>
                      </a:solidFill>
                      <a:prstDash val="solid"/>
                      <a:round/>
                      <a:headEnd type="none" w="med" len="med"/>
                      <a:tailEnd type="none" w="med" len="med"/>
                    </a:lnR>
                    <a:lnT w="12700" cap="flat" cmpd="sng" algn="ctr">
                      <a:solidFill>
                        <a:srgbClr val="B9BEBB"/>
                      </a:solidFill>
                      <a:prstDash val="solid"/>
                      <a:round/>
                      <a:headEnd type="none" w="med" len="med"/>
                      <a:tailEnd type="none" w="med" len="med"/>
                    </a:lnT>
                    <a:lnB w="12700" cap="flat" cmpd="sng" algn="ctr">
                      <a:solidFill>
                        <a:srgbClr val="C7C8C6"/>
                      </a:solidFill>
                      <a:prstDash val="solid"/>
                      <a:round/>
                      <a:headEnd type="none" w="med" len="med"/>
                      <a:tailEnd type="none" w="med" len="med"/>
                    </a:lnB>
                    <a:solidFill>
                      <a:srgbClr val="FAFBF8"/>
                    </a:solidFill>
                  </a:tcPr>
                </a:tc>
              </a:tr>
              <a:tr h="356870">
                <a:tc>
                  <a:txBody>
                    <a:bodyPr/>
                    <a:lstStyle/>
                    <a:p>
                      <a:pPr indent="0" marL="0">
                        <a:lnSpc>
                          <a:spcPts val="1820"/>
                        </a:lnSpc>
                        <a:buNone/>
                      </a:pPr>
                      <a:r>
                        <a:rPr lang="en-US" sz="1300" dirty="0">
                          <a:solidFill>
                            <a:srgbClr val="14262B"/>
                          </a:solidFill>
                          <a:latin typeface="Arial" pitchFamily="34" charset="0"/>
                          <a:ea typeface="Arial" pitchFamily="34" charset="-122"/>
                          <a:cs typeface="Arial" pitchFamily="34" charset="-120"/>
                        </a:rPr>
                        <a:t>Sharp edges</a:t>
                      </a:r>
                      <a:endParaRPr lang="en-US" sz="1300" dirty="0">
                        <a:latin typeface="Arial" charset="0"/>
                        <a:ea typeface="Arial" charset="0"/>
                        <a:cs typeface="Arial" charset="0"/>
                      </a:endParaRPr>
                    </a:p>
                  </a:txBody>
                  <a:tcPr marL="57785" marR="57785" marT="57785" marB="57785" anchor="t">
                    <a:lnL w="12700" cap="flat" cmpd="sng" algn="ctr">
                      <a:solidFill>
                        <a:srgbClr val="C2C4C0"/>
                      </a:solidFill>
                      <a:prstDash val="solid"/>
                      <a:round/>
                      <a:headEnd type="none" w="med" len="med"/>
                      <a:tailEnd type="none" w="med" len="med"/>
                    </a:lnL>
                    <a:lnR w="12700" cap="flat" cmpd="sng" algn="ctr">
                      <a:solidFill>
                        <a:srgbClr val="B9BEBB"/>
                      </a:solidFill>
                      <a:prstDash val="solid"/>
                      <a:round/>
                      <a:headEnd type="none" w="med" len="med"/>
                      <a:tailEnd type="none" w="med" len="med"/>
                    </a:lnR>
                    <a:lnT w="12700" cap="flat" cmpd="sng" algn="ctr">
                      <a:solidFill>
                        <a:srgbClr val="C7C8C6"/>
                      </a:solidFill>
                      <a:prstDash val="solid"/>
                      <a:round/>
                      <a:headEnd type="none" w="med" len="med"/>
                      <a:tailEnd type="none" w="med" len="med"/>
                    </a:lnT>
                    <a:lnB w="12700" cap="flat" cmpd="sng" algn="ctr">
                      <a:solidFill>
                        <a:srgbClr val="B9BEBB"/>
                      </a:solidFill>
                      <a:prstDash val="solid"/>
                      <a:round/>
                      <a:headEnd type="none" w="med" len="med"/>
                      <a:tailEnd type="none" w="med" len="med"/>
                    </a:lnB>
                    <a:solidFill>
                      <a:srgbClr val="E8EEEA"/>
                    </a:solidFill>
                  </a:tcPr>
                </a:tc>
                <a:tc>
                  <a:txBody>
                    <a:bodyPr/>
                    <a:lstStyle/>
                    <a:p>
                      <a:pPr indent="0" marL="0">
                        <a:lnSpc>
                          <a:spcPts val="1820"/>
                        </a:lnSpc>
                        <a:buNone/>
                      </a:pPr>
                      <a:r>
                        <a:rPr lang="en-US" sz="1300" dirty="0">
                          <a:solidFill>
                            <a:srgbClr val="14262B"/>
                          </a:solidFill>
                          <a:latin typeface="Arial" pitchFamily="34" charset="0"/>
                          <a:ea typeface="Arial" pitchFamily="34" charset="-122"/>
                          <a:cs typeface="Arial" pitchFamily="34" charset="-120"/>
                        </a:rPr>
                        <a:t>Leftover supports</a:t>
                      </a:r>
                      <a:endParaRPr lang="en-US" sz="1300" dirty="0">
                        <a:latin typeface="Arial" charset="0"/>
                        <a:ea typeface="Arial" charset="0"/>
                        <a:cs typeface="Arial" charset="0"/>
                      </a:endParaRPr>
                    </a:p>
                  </a:txBody>
                  <a:tcPr marL="57785" marR="57785" marT="57785" marB="57785" anchor="t">
                    <a:lnL w="12700" cap="flat" cmpd="sng" algn="ctr">
                      <a:solidFill>
                        <a:srgbClr val="B9BEBB"/>
                      </a:solidFill>
                      <a:prstDash val="solid"/>
                      <a:round/>
                      <a:headEnd type="none" w="med" len="med"/>
                      <a:tailEnd type="none" w="med" len="med"/>
                    </a:lnL>
                    <a:lnR w="12700" cap="flat" cmpd="sng" algn="ctr">
                      <a:solidFill>
                        <a:srgbClr val="B9BEBB"/>
                      </a:solidFill>
                      <a:prstDash val="solid"/>
                      <a:round/>
                      <a:headEnd type="none" w="med" len="med"/>
                      <a:tailEnd type="none" w="med" len="med"/>
                    </a:lnR>
                    <a:lnT w="12700" cap="flat" cmpd="sng" algn="ctr">
                      <a:solidFill>
                        <a:srgbClr val="C7C8C6"/>
                      </a:solidFill>
                      <a:prstDash val="solid"/>
                      <a:round/>
                      <a:headEnd type="none" w="med" len="med"/>
                      <a:tailEnd type="none" w="med" len="med"/>
                    </a:lnT>
                    <a:lnB w="12700" cap="flat" cmpd="sng" algn="ctr">
                      <a:solidFill>
                        <a:srgbClr val="B9BEBB"/>
                      </a:solidFill>
                      <a:prstDash val="solid"/>
                      <a:round/>
                      <a:headEnd type="none" w="med" len="med"/>
                      <a:tailEnd type="none" w="med" len="med"/>
                    </a:lnB>
                    <a:solidFill>
                      <a:srgbClr val="E8EEEA"/>
                    </a:solidFill>
                  </a:tcPr>
                </a:tc>
                <a:tc>
                  <a:txBody>
                    <a:bodyPr/>
                    <a:lstStyle/>
                    <a:p>
                      <a:pPr indent="0" marL="0">
                        <a:lnSpc>
                          <a:spcPts val="1820"/>
                        </a:lnSpc>
                        <a:buNone/>
                      </a:pPr>
                      <a:r>
                        <a:rPr lang="en-US" sz="1300" dirty="0">
                          <a:solidFill>
                            <a:srgbClr val="14262B"/>
                          </a:solidFill>
                          <a:latin typeface="Arial" pitchFamily="34" charset="0"/>
                          <a:ea typeface="Arial" pitchFamily="34" charset="-122"/>
                          <a:cs typeface="Arial" pitchFamily="34" charset="-120"/>
                        </a:rPr>
                        <a:t>Small cuts</a:t>
                      </a:r>
                      <a:endParaRPr lang="en-US" sz="1300" dirty="0">
                        <a:latin typeface="Arial" charset="0"/>
                        <a:ea typeface="Arial" charset="0"/>
                        <a:cs typeface="Arial" charset="0"/>
                      </a:endParaRPr>
                    </a:p>
                  </a:txBody>
                  <a:tcPr marL="57785" marR="57785" marT="57785" marB="57785" anchor="t">
                    <a:lnL w="12700" cap="flat" cmpd="sng" algn="ctr">
                      <a:solidFill>
                        <a:srgbClr val="B9BEBB"/>
                      </a:solidFill>
                      <a:prstDash val="solid"/>
                      <a:round/>
                      <a:headEnd type="none" w="med" len="med"/>
                      <a:tailEnd type="none" w="med" len="med"/>
                    </a:lnL>
                    <a:lnR w="12700" cap="flat" cmpd="sng" algn="ctr">
                      <a:solidFill>
                        <a:srgbClr val="B9BEBB"/>
                      </a:solidFill>
                      <a:prstDash val="solid"/>
                      <a:round/>
                      <a:headEnd type="none" w="med" len="med"/>
                      <a:tailEnd type="none" w="med" len="med"/>
                    </a:lnR>
                    <a:lnT w="12700" cap="flat" cmpd="sng" algn="ctr">
                      <a:solidFill>
                        <a:srgbClr val="C7C8C6"/>
                      </a:solidFill>
                      <a:prstDash val="solid"/>
                      <a:round/>
                      <a:headEnd type="none" w="med" len="med"/>
                      <a:tailEnd type="none" w="med" len="med"/>
                    </a:lnT>
                    <a:lnB w="12700" cap="flat" cmpd="sng" algn="ctr">
                      <a:solidFill>
                        <a:srgbClr val="B9BEBB"/>
                      </a:solidFill>
                      <a:prstDash val="solid"/>
                      <a:round/>
                      <a:headEnd type="none" w="med" len="med"/>
                      <a:tailEnd type="none" w="med" len="med"/>
                    </a:lnB>
                    <a:solidFill>
                      <a:srgbClr val="E8EEEA"/>
                    </a:solidFill>
                  </a:tcPr>
                </a:tc>
                <a:tc>
                  <a:txBody>
                    <a:bodyPr/>
                    <a:lstStyle/>
                    <a:p>
                      <a:pPr indent="0" marL="0">
                        <a:lnSpc>
                          <a:spcPts val="1820"/>
                        </a:lnSpc>
                        <a:buNone/>
                      </a:pPr>
                      <a:r>
                        <a:rPr lang="en-US" sz="1300" dirty="0">
                          <a:solidFill>
                            <a:srgbClr val="0B7A75"/>
                          </a:solidFill>
                          <a:latin typeface="Arial" pitchFamily="34" charset="0"/>
                          <a:ea typeface="Arial" pitchFamily="34" charset="-122"/>
                          <a:cs typeface="Arial" pitchFamily="34" charset="-120"/>
                        </a:rPr>
                        <a:t>Low</a:t>
                      </a:r>
                      <a:endParaRPr lang="en-US" sz="1300" dirty="0">
                        <a:latin typeface="Arial" charset="0"/>
                        <a:ea typeface="Arial" charset="0"/>
                        <a:cs typeface="Arial" charset="0"/>
                      </a:endParaRPr>
                    </a:p>
                  </a:txBody>
                  <a:tcPr marL="57785" marR="57785" marT="57785" marB="57785" anchor="t">
                    <a:lnL w="12700" cap="flat" cmpd="sng" algn="ctr">
                      <a:solidFill>
                        <a:srgbClr val="B9BEBB"/>
                      </a:solidFill>
                      <a:prstDash val="solid"/>
                      <a:round/>
                      <a:headEnd type="none" w="med" len="med"/>
                      <a:tailEnd type="none" w="med" len="med"/>
                    </a:lnL>
                    <a:lnR w="12700" cap="flat" cmpd="sng" algn="ctr">
                      <a:solidFill>
                        <a:srgbClr val="B9BEBB"/>
                      </a:solidFill>
                      <a:prstDash val="solid"/>
                      <a:round/>
                      <a:headEnd type="none" w="med" len="med"/>
                      <a:tailEnd type="none" w="med" len="med"/>
                    </a:lnR>
                    <a:lnT w="12700" cap="flat" cmpd="sng" algn="ctr">
                      <a:solidFill>
                        <a:srgbClr val="C7C8C6"/>
                      </a:solidFill>
                      <a:prstDash val="solid"/>
                      <a:round/>
                      <a:headEnd type="none" w="med" len="med"/>
                      <a:tailEnd type="none" w="med" len="med"/>
                    </a:lnT>
                    <a:lnB w="12700" cap="flat" cmpd="sng" algn="ctr">
                      <a:solidFill>
                        <a:srgbClr val="B9BEBB"/>
                      </a:solidFill>
                      <a:prstDash val="solid"/>
                      <a:round/>
                      <a:headEnd type="none" w="med" len="med"/>
                      <a:tailEnd type="none" w="med" len="med"/>
                    </a:lnB>
                    <a:solidFill>
                      <a:srgbClr val="E8EEEA"/>
                    </a:solidFill>
                  </a:tcPr>
                </a:tc>
              </a:tr>
            </a:tbl>
          </a:graphicData>
        </a:graphic>
      </p:graphicFrame>
      <p:sp>
        <p:nvSpPr>
          <p:cNvPr id="5" name="Text 2"/>
          <p:cNvSpPr/>
          <p:nvPr/>
        </p:nvSpPr>
        <p:spPr>
          <a:xfrm>
            <a:off x="812800" y="456565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B5F63"/>
                </a:solidFill>
                <a:latin typeface="Arial" pitchFamily="34" charset="0"/>
                <a:ea typeface="Arial" pitchFamily="34" charset="-122"/>
                <a:cs typeface="Arial" pitchFamily="34" charset="-120"/>
              </a:rPr>
              <a:t>Risk ratings are qualitative: severity of harm combined with how likely it is.</a:t>
            </a:r>
            <a:endParaRPr lang="en-US" sz="1400" dirty="0"/>
          </a:p>
        </p:txBody>
      </p:sp>
      <p:sp>
        <p:nvSpPr>
          <p:cNvPr id="6" name="Text 3"/>
          <p:cNvSpPr/>
          <p:nvPr/>
        </p:nvSpPr>
        <p:spPr>
          <a:xfrm>
            <a:off x="812800" y="6238242"/>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B5F63"/>
                </a:solidFill>
                <a:latin typeface="Arial" pitchFamily="34" charset="0"/>
                <a:ea typeface="Arial" pitchFamily="34" charset="-122"/>
                <a:cs typeface="Arial" pitchFamily="34" charset="-120"/>
              </a:rPr>
              <a:t>Handheld 3D Printed Fan · Manufacturing Technology</a:t>
            </a:r>
            <a:endParaRPr lang="en-US" sz="1200" dirty="0"/>
          </a:p>
        </p:txBody>
      </p:sp>
      <p:sp>
        <p:nvSpPr>
          <p:cNvPr id="7" name="Text 4"/>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B5F63"/>
                </a:solidFill>
                <a:latin typeface="Arial" pitchFamily="34" charset="0"/>
                <a:ea typeface="Arial" pitchFamily="34" charset="-122"/>
                <a:cs typeface="Arial"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B7A75"/>
                </a:solidFill>
                <a:latin typeface="Arial" pitchFamily="34" charset="0"/>
                <a:ea typeface="Arial" pitchFamily="34" charset="-122"/>
                <a:cs typeface="Arial" pitchFamily="34" charset="-120"/>
              </a:rPr>
              <a:t>06 · SAFETY DEVICES / STANDARDS</a:t>
            </a:r>
            <a:endParaRPr lang="en-US" sz="1200" dirty="0"/>
          </a:p>
        </p:txBody>
      </p:sp>
      <p:sp>
        <p:nvSpPr>
          <p:cNvPr id="3" name="Text 1"/>
          <p:cNvSpPr/>
          <p:nvPr>
            <p:ph type="title"/>
          </p:nvPr>
        </p:nvSpPr>
        <p:spPr>
          <a:xfrm>
            <a:off x="812800" y="11023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62B"/>
                </a:solidFill>
                <a:latin typeface="Arial" pitchFamily="34" charset="0"/>
                <a:ea typeface="Arial" pitchFamily="34" charset="-122"/>
                <a:cs typeface="Arial" pitchFamily="34" charset="-120"/>
              </a:rPr>
              <a:t>Safety devices and standards</a:t>
            </a:r>
            <a:endParaRPr lang="en-US" sz="3200" dirty="0"/>
          </a:p>
        </p:txBody>
      </p:sp>
      <p:sp>
        <p:nvSpPr>
          <p:cNvPr id="4" name="Shape 2"/>
          <p:cNvSpPr/>
          <p:nvPr/>
        </p:nvSpPr>
        <p:spPr>
          <a:xfrm>
            <a:off x="815975" y="1806575"/>
            <a:ext cx="5175250" cy="2647950"/>
          </a:xfrm>
          <a:prstGeom prst="roundRect">
            <a:avLst>
              <a:gd name="adj" fmla="val 3717"/>
            </a:avLst>
          </a:prstGeom>
          <a:solidFill>
            <a:srgbClr val="FAFBF8"/>
          </a:solidFill>
          <a:ln w="6350">
            <a:solidFill>
              <a:srgbClr val="D8DFDA"/>
            </a:solidFill>
            <a:prstDash val="solid"/>
          </a:ln>
        </p:spPr>
      </p:sp>
      <p:sp>
        <p:nvSpPr>
          <p:cNvPr id="5" name="Text 3"/>
          <p:cNvSpPr/>
          <p:nvPr/>
        </p:nvSpPr>
        <p:spPr>
          <a:xfrm>
            <a:off x="1071880" y="2062479"/>
            <a:ext cx="480334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B7A75"/>
                </a:solidFill>
                <a:latin typeface="Arial" pitchFamily="34" charset="0"/>
                <a:ea typeface="Arial" pitchFamily="34" charset="-122"/>
                <a:cs typeface="Arial" pitchFamily="34" charset="-120"/>
              </a:rPr>
              <a:t>Built-in safety devices</a:t>
            </a:r>
            <a:endParaRPr lang="en-US" sz="1800" dirty="0"/>
          </a:p>
        </p:txBody>
      </p:sp>
      <p:sp>
        <p:nvSpPr>
          <p:cNvPr id="6" name="Text 4"/>
          <p:cNvSpPr/>
          <p:nvPr/>
        </p:nvSpPr>
        <p:spPr>
          <a:xfrm>
            <a:off x="1071880" y="2463800"/>
            <a:ext cx="4803343"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62B"/>
                </a:solidFill>
                <a:latin typeface="Arial" pitchFamily="34" charset="0"/>
                <a:ea typeface="Arial" pitchFamily="34" charset="-122"/>
                <a:cs typeface="Arial" pitchFamily="34" charset="-120"/>
              </a:rPr>
              <a:t>Guard grill:</a:t>
            </a:r>
            <a:r>
              <a:rPr lang="en-US" sz="1400" dirty="0">
                <a:solidFill>
                  <a:srgbClr val="14262B"/>
                </a:solidFill>
                <a:latin typeface="Arial" pitchFamily="34" charset="0"/>
                <a:ea typeface="Arial" pitchFamily="34" charset="-122"/>
                <a:cs typeface="Arial" pitchFamily="34" charset="-120"/>
              </a:rPr>
              <a:t> gaps too small for a finger</a:t>
            </a:r>
            <a:endParaRPr lang="en-US" sz="1400" dirty="0"/>
          </a:p>
        </p:txBody>
      </p:sp>
      <p:sp>
        <p:nvSpPr>
          <p:cNvPr id="7" name="Text 5"/>
          <p:cNvSpPr/>
          <p:nvPr/>
        </p:nvSpPr>
        <p:spPr>
          <a:xfrm>
            <a:off x="1071880" y="2839721"/>
            <a:ext cx="4803343"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62B"/>
                </a:solidFill>
                <a:latin typeface="Arial" pitchFamily="34" charset="0"/>
                <a:ea typeface="Arial" pitchFamily="34" charset="-122"/>
                <a:cs typeface="Arial" pitchFamily="34" charset="-120"/>
              </a:rPr>
              <a:t>Protection board:</a:t>
            </a:r>
            <a:r>
              <a:rPr lang="en-US" sz="1400" dirty="0">
                <a:solidFill>
                  <a:srgbClr val="14262B"/>
                </a:solidFill>
                <a:latin typeface="Arial" pitchFamily="34" charset="0"/>
                <a:ea typeface="Arial" pitchFamily="34" charset="-122"/>
                <a:cs typeface="Arial" pitchFamily="34" charset="-120"/>
              </a:rPr>
              <a:t> cuts off overcharge and short circuit</a:t>
            </a:r>
            <a:endParaRPr lang="en-US" sz="1400" dirty="0"/>
          </a:p>
        </p:txBody>
      </p:sp>
      <p:sp>
        <p:nvSpPr>
          <p:cNvPr id="8" name="Text 6"/>
          <p:cNvSpPr/>
          <p:nvPr/>
        </p:nvSpPr>
        <p:spPr>
          <a:xfrm>
            <a:off x="1071880" y="3215642"/>
            <a:ext cx="4803343"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62B"/>
                </a:solidFill>
                <a:latin typeface="Arial" pitchFamily="34" charset="0"/>
                <a:ea typeface="Arial" pitchFamily="34" charset="-122"/>
                <a:cs typeface="Arial" pitchFamily="34" charset="-120"/>
              </a:rPr>
              <a:t>Slide switch:</a:t>
            </a:r>
            <a:r>
              <a:rPr lang="en-US" sz="1400" dirty="0">
                <a:solidFill>
                  <a:srgbClr val="14262B"/>
                </a:solidFill>
                <a:latin typeface="Arial" pitchFamily="34" charset="0"/>
                <a:ea typeface="Arial" pitchFamily="34" charset="-122"/>
                <a:cs typeface="Arial" pitchFamily="34" charset="-120"/>
              </a:rPr>
              <a:t> clear on and off control</a:t>
            </a:r>
            <a:endParaRPr lang="en-US" sz="1400" dirty="0"/>
          </a:p>
        </p:txBody>
      </p:sp>
      <p:sp>
        <p:nvSpPr>
          <p:cNvPr id="9" name="Text 7"/>
          <p:cNvSpPr/>
          <p:nvPr/>
        </p:nvSpPr>
        <p:spPr>
          <a:xfrm>
            <a:off x="1071880" y="3591564"/>
            <a:ext cx="4803343"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62B"/>
                </a:solidFill>
                <a:latin typeface="Arial" pitchFamily="34" charset="0"/>
                <a:ea typeface="Arial" pitchFamily="34" charset="-122"/>
                <a:cs typeface="Arial" pitchFamily="34" charset="-120"/>
              </a:rPr>
              <a:t>Rounded edges:</a:t>
            </a:r>
            <a:r>
              <a:rPr lang="en-US" sz="1400" dirty="0">
                <a:solidFill>
                  <a:srgbClr val="14262B"/>
                </a:solidFill>
                <a:latin typeface="Arial" pitchFamily="34" charset="0"/>
                <a:ea typeface="Arial" pitchFamily="34" charset="-122"/>
                <a:cs typeface="Arial" pitchFamily="34" charset="-120"/>
              </a:rPr>
              <a:t> no sharp corners on handle or guard</a:t>
            </a:r>
            <a:endParaRPr lang="en-US" sz="1400" dirty="0"/>
          </a:p>
        </p:txBody>
      </p:sp>
      <p:sp>
        <p:nvSpPr>
          <p:cNvPr id="10" name="Shape 8"/>
          <p:cNvSpPr/>
          <p:nvPr/>
        </p:nvSpPr>
        <p:spPr>
          <a:xfrm>
            <a:off x="6200775" y="1806575"/>
            <a:ext cx="5175250" cy="2647950"/>
          </a:xfrm>
          <a:prstGeom prst="roundRect">
            <a:avLst>
              <a:gd name="adj" fmla="val 3717"/>
            </a:avLst>
          </a:prstGeom>
          <a:solidFill>
            <a:srgbClr val="FAFBF8"/>
          </a:solidFill>
          <a:ln w="6350">
            <a:solidFill>
              <a:srgbClr val="D8DFDA"/>
            </a:solidFill>
            <a:prstDash val="solid"/>
          </a:ln>
        </p:spPr>
      </p:sp>
      <p:sp>
        <p:nvSpPr>
          <p:cNvPr id="11" name="Text 9"/>
          <p:cNvSpPr/>
          <p:nvPr/>
        </p:nvSpPr>
        <p:spPr>
          <a:xfrm>
            <a:off x="6456680" y="2062479"/>
            <a:ext cx="480334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B7A75"/>
                </a:solidFill>
                <a:latin typeface="Arial" pitchFamily="34" charset="0"/>
                <a:ea typeface="Arial" pitchFamily="34" charset="-122"/>
                <a:cs typeface="Arial" pitchFamily="34" charset="-120"/>
              </a:rPr>
              <a:t>Standards referred to</a:t>
            </a:r>
            <a:endParaRPr lang="en-US" sz="1800" dirty="0"/>
          </a:p>
        </p:txBody>
      </p:sp>
      <p:sp>
        <p:nvSpPr>
          <p:cNvPr id="12" name="Text 10"/>
          <p:cNvSpPr/>
          <p:nvPr/>
        </p:nvSpPr>
        <p:spPr>
          <a:xfrm>
            <a:off x="6456680" y="2463800"/>
            <a:ext cx="4803343"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62B"/>
                </a:solidFill>
                <a:latin typeface="Arial" pitchFamily="34" charset="0"/>
                <a:ea typeface="Arial" pitchFamily="34" charset="-122"/>
                <a:cs typeface="Arial" pitchFamily="34" charset="-120"/>
              </a:rPr>
              <a:t>IEC 60335-2-80:</a:t>
            </a:r>
            <a:r>
              <a:rPr lang="en-US" sz="1400" dirty="0">
                <a:solidFill>
                  <a:srgbClr val="14262B"/>
                </a:solidFill>
                <a:latin typeface="Arial" pitchFamily="34" charset="0"/>
                <a:ea typeface="Arial" pitchFamily="34" charset="-122"/>
                <a:cs typeface="Arial" pitchFamily="34" charset="-120"/>
              </a:rPr>
              <a:t> safety of household fans</a:t>
            </a:r>
            <a:endParaRPr lang="en-US" sz="1400" dirty="0"/>
          </a:p>
        </p:txBody>
      </p:sp>
      <p:sp>
        <p:nvSpPr>
          <p:cNvPr id="13" name="Text 11"/>
          <p:cNvSpPr/>
          <p:nvPr/>
        </p:nvSpPr>
        <p:spPr>
          <a:xfrm>
            <a:off x="6456680" y="2839721"/>
            <a:ext cx="4803343"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62B"/>
                </a:solidFill>
                <a:latin typeface="Arial" pitchFamily="34" charset="0"/>
                <a:ea typeface="Arial" pitchFamily="34" charset="-122"/>
                <a:cs typeface="Arial" pitchFamily="34" charset="-120"/>
              </a:rPr>
              <a:t>IEC 62133-2:</a:t>
            </a:r>
            <a:r>
              <a:rPr lang="en-US" sz="1400" dirty="0">
                <a:solidFill>
                  <a:srgbClr val="14262B"/>
                </a:solidFill>
                <a:latin typeface="Arial" pitchFamily="34" charset="0"/>
                <a:ea typeface="Arial" pitchFamily="34" charset="-122"/>
                <a:cs typeface="Arial" pitchFamily="34" charset="-120"/>
              </a:rPr>
              <a:t> safety of portable lithium cells</a:t>
            </a:r>
            <a:endParaRPr lang="en-US" sz="1400" dirty="0"/>
          </a:p>
        </p:txBody>
      </p:sp>
      <p:sp>
        <p:nvSpPr>
          <p:cNvPr id="14" name="Text 12"/>
          <p:cNvSpPr/>
          <p:nvPr/>
        </p:nvSpPr>
        <p:spPr>
          <a:xfrm>
            <a:off x="6456680" y="3215642"/>
            <a:ext cx="4803343"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62B"/>
                </a:solidFill>
                <a:latin typeface="Arial" pitchFamily="34" charset="0"/>
                <a:ea typeface="Arial" pitchFamily="34" charset="-122"/>
                <a:cs typeface="Arial" pitchFamily="34" charset="-120"/>
              </a:rPr>
              <a:t>ISO/ASTM 52900:</a:t>
            </a:r>
            <a:r>
              <a:rPr lang="en-US" sz="1400" dirty="0">
                <a:solidFill>
                  <a:srgbClr val="14262B"/>
                </a:solidFill>
                <a:latin typeface="Arial" pitchFamily="34" charset="0"/>
                <a:ea typeface="Arial" pitchFamily="34" charset="-122"/>
                <a:cs typeface="Arial" pitchFamily="34" charset="-120"/>
              </a:rPr>
              <a:t> additive manufacturing terms</a:t>
            </a:r>
            <a:endParaRPr lang="en-US" sz="1400" dirty="0"/>
          </a:p>
        </p:txBody>
      </p:sp>
      <p:sp>
        <p:nvSpPr>
          <p:cNvPr id="15" name="Text 13"/>
          <p:cNvSpPr/>
          <p:nvPr/>
        </p:nvSpPr>
        <p:spPr>
          <a:xfrm>
            <a:off x="6456680" y="3591564"/>
            <a:ext cx="4803343"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62B"/>
                </a:solidFill>
                <a:latin typeface="Arial" pitchFamily="34" charset="0"/>
                <a:ea typeface="Arial" pitchFamily="34" charset="-122"/>
                <a:cs typeface="Arial" pitchFamily="34" charset="-120"/>
              </a:rPr>
              <a:t>IS 302 (Part 1):</a:t>
            </a:r>
            <a:r>
              <a:rPr lang="en-US" sz="1400" dirty="0">
                <a:solidFill>
                  <a:srgbClr val="14262B"/>
                </a:solidFill>
                <a:latin typeface="Arial" pitchFamily="34" charset="0"/>
                <a:ea typeface="Arial" pitchFamily="34" charset="-122"/>
                <a:cs typeface="Arial" pitchFamily="34" charset="-120"/>
              </a:rPr>
              <a:t> household appliance safety, India</a:t>
            </a:r>
            <a:endParaRPr lang="en-US" sz="1400" dirty="0"/>
          </a:p>
        </p:txBody>
      </p:sp>
      <p:sp>
        <p:nvSpPr>
          <p:cNvPr id="16" name="Text 14"/>
          <p:cNvSpPr/>
          <p:nvPr/>
        </p:nvSpPr>
        <p:spPr>
          <a:xfrm>
            <a:off x="6456680" y="3967479"/>
            <a:ext cx="4803343"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B5F63"/>
                </a:solidFill>
                <a:latin typeface="Arial" pitchFamily="34" charset="0"/>
                <a:ea typeface="Arial" pitchFamily="34" charset="-122"/>
                <a:cs typeface="Arial" pitchFamily="34" charset="-120"/>
              </a:rPr>
              <a:t>Used as design guidance. The prototype is not certified.</a:t>
            </a:r>
            <a:endParaRPr lang="en-US" sz="1300" dirty="0"/>
          </a:p>
        </p:txBody>
      </p:sp>
      <p:sp>
        <p:nvSpPr>
          <p:cNvPr id="17" name="Text 15"/>
          <p:cNvSpPr/>
          <p:nvPr/>
        </p:nvSpPr>
        <p:spPr>
          <a:xfrm>
            <a:off x="812800" y="6238242"/>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B5F63"/>
                </a:solidFill>
                <a:latin typeface="Arial" pitchFamily="34" charset="0"/>
                <a:ea typeface="Arial" pitchFamily="34" charset="-122"/>
                <a:cs typeface="Arial" pitchFamily="34" charset="-120"/>
              </a:rPr>
              <a:t>Handheld 3D Printed Fan · Manufacturing Technology</a:t>
            </a:r>
            <a:endParaRPr lang="en-US" sz="1200" dirty="0"/>
          </a:p>
        </p:txBody>
      </p:sp>
      <p:sp>
        <p:nvSpPr>
          <p:cNvPr id="18" name="Text 16"/>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B5F63"/>
                </a:solidFill>
                <a:latin typeface="Arial" pitchFamily="34" charset="0"/>
                <a:ea typeface="Arial" pitchFamily="34" charset="-122"/>
                <a:cs typeface="Arial"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3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B7A75"/>
                </a:solidFill>
                <a:latin typeface="Arial" pitchFamily="34" charset="0"/>
                <a:ea typeface="Arial" pitchFamily="34" charset="-122"/>
                <a:cs typeface="Arial" pitchFamily="34" charset="-120"/>
              </a:rPr>
              <a:t>07 · HUMAN FACTORS</a:t>
            </a:r>
            <a:endParaRPr lang="en-US" sz="1200" dirty="0"/>
          </a:p>
        </p:txBody>
      </p:sp>
      <p:sp>
        <p:nvSpPr>
          <p:cNvPr id="3" name="Text 1"/>
          <p:cNvSpPr/>
          <p:nvPr>
            <p:ph type="title"/>
          </p:nvPr>
        </p:nvSpPr>
        <p:spPr>
          <a:xfrm>
            <a:off x="812800" y="11023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62B"/>
                </a:solidFill>
                <a:latin typeface="Arial" pitchFamily="34" charset="0"/>
                <a:ea typeface="Arial" pitchFamily="34" charset="-122"/>
                <a:cs typeface="Arial" pitchFamily="34" charset="-120"/>
              </a:rPr>
              <a:t>Ergonomics and user comfort</a:t>
            </a:r>
            <a:endParaRPr lang="en-US" sz="3200" dirty="0"/>
          </a:p>
        </p:txBody>
      </p:sp>
      <p:sp>
        <p:nvSpPr>
          <p:cNvPr id="4" name="Shape 2"/>
          <p:cNvSpPr/>
          <p:nvPr/>
        </p:nvSpPr>
        <p:spPr>
          <a:xfrm>
            <a:off x="815975" y="1806575"/>
            <a:ext cx="5175250" cy="1296670"/>
          </a:xfrm>
          <a:prstGeom prst="roundRect">
            <a:avLst>
              <a:gd name="adj" fmla="val 7591"/>
            </a:avLst>
          </a:prstGeom>
          <a:solidFill>
            <a:srgbClr val="FAFBF8"/>
          </a:solidFill>
          <a:ln w="6350">
            <a:solidFill>
              <a:srgbClr val="D8DFDA"/>
            </a:solidFill>
            <a:prstDash val="solid"/>
          </a:ln>
        </p:spPr>
      </p:sp>
      <p:pic>
        <p:nvPicPr>
          <p:cNvPr id="5" name="Image 0" descr="ThumbsUp">    </p:cNvPr>
          <p:cNvPicPr>
            <a:picLocks noChangeAspect="1"/>
          </p:cNvPicPr>
          <p:nvPr/>
        </p:nvPicPr>
        <p:blipFill>
          <a:blip r:embed="rId1"/>
          <a:srcRect l="0" r="0" t="0" b="0"/>
          <a:stretch/>
        </p:blipFill>
        <p:spPr>
          <a:xfrm>
            <a:off x="1046480" y="2037079"/>
            <a:ext cx="355600" cy="355600"/>
          </a:xfrm>
          <a:prstGeom prst="rect">
            <a:avLst/>
          </a:prstGeom>
        </p:spPr>
      </p:pic>
      <p:sp>
        <p:nvSpPr>
          <p:cNvPr id="6" name="Text 3"/>
          <p:cNvSpPr/>
          <p:nvPr/>
        </p:nvSpPr>
        <p:spPr>
          <a:xfrm>
            <a:off x="1579880" y="2037079"/>
            <a:ext cx="4306265"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62B"/>
                </a:solidFill>
                <a:latin typeface="Arial" pitchFamily="34" charset="0"/>
                <a:ea typeface="Arial" pitchFamily="34" charset="-122"/>
                <a:cs typeface="Arial" pitchFamily="34" charset="-120"/>
              </a:rPr>
              <a:t>Grip</a:t>
            </a:r>
            <a:endParaRPr lang="en-US" sz="1800" dirty="0"/>
          </a:p>
        </p:txBody>
      </p:sp>
      <p:sp>
        <p:nvSpPr>
          <p:cNvPr id="7" name="Text 4"/>
          <p:cNvSpPr/>
          <p:nvPr/>
        </p:nvSpPr>
        <p:spPr>
          <a:xfrm>
            <a:off x="1579880" y="2374900"/>
            <a:ext cx="4306265"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B5F63"/>
                </a:solidFill>
                <a:latin typeface="Arial" pitchFamily="34" charset="0"/>
                <a:ea typeface="Arial" pitchFamily="34" charset="-122"/>
                <a:cs typeface="Arial" pitchFamily="34" charset="-120"/>
              </a:rPr>
              <a:t>Handle diameter of [__] mm suits a one-hand grip.</a:t>
            </a:r>
            <a:endParaRPr lang="en-US" sz="1400" dirty="0"/>
          </a:p>
        </p:txBody>
      </p:sp>
      <p:sp>
        <p:nvSpPr>
          <p:cNvPr id="8" name="Shape 5"/>
          <p:cNvSpPr/>
          <p:nvPr/>
        </p:nvSpPr>
        <p:spPr>
          <a:xfrm>
            <a:off x="6200775" y="1806575"/>
            <a:ext cx="5175250" cy="1296670"/>
          </a:xfrm>
          <a:prstGeom prst="roundRect">
            <a:avLst>
              <a:gd name="adj" fmla="val 7591"/>
            </a:avLst>
          </a:prstGeom>
          <a:solidFill>
            <a:srgbClr val="FAFBF8"/>
          </a:solidFill>
          <a:ln w="6350">
            <a:solidFill>
              <a:srgbClr val="D8DFDA"/>
            </a:solidFill>
            <a:prstDash val="solid"/>
          </a:ln>
        </p:spPr>
      </p:sp>
      <p:pic>
        <p:nvPicPr>
          <p:cNvPr id="9" name="Image 1" descr="Activity">    </p:cNvPr>
          <p:cNvPicPr>
            <a:picLocks noChangeAspect="1"/>
          </p:cNvPicPr>
          <p:nvPr/>
        </p:nvPicPr>
        <p:blipFill>
          <a:blip r:embed="rId2"/>
          <a:srcRect l="0" r="0" t="0" b="0"/>
          <a:stretch/>
        </p:blipFill>
        <p:spPr>
          <a:xfrm>
            <a:off x="6431280" y="2037079"/>
            <a:ext cx="355600" cy="355600"/>
          </a:xfrm>
          <a:prstGeom prst="rect">
            <a:avLst/>
          </a:prstGeom>
        </p:spPr>
      </p:pic>
      <p:sp>
        <p:nvSpPr>
          <p:cNvPr id="10" name="Text 6"/>
          <p:cNvSpPr/>
          <p:nvPr/>
        </p:nvSpPr>
        <p:spPr>
          <a:xfrm>
            <a:off x="6964680" y="2037079"/>
            <a:ext cx="4306265"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62B"/>
                </a:solidFill>
                <a:latin typeface="Arial" pitchFamily="34" charset="0"/>
                <a:ea typeface="Arial" pitchFamily="34" charset="-122"/>
                <a:cs typeface="Arial" pitchFamily="34" charset="-120"/>
              </a:rPr>
              <a:t>Weight</a:t>
            </a:r>
            <a:endParaRPr lang="en-US" sz="1800" dirty="0"/>
          </a:p>
        </p:txBody>
      </p:sp>
      <p:sp>
        <p:nvSpPr>
          <p:cNvPr id="11" name="Text 7"/>
          <p:cNvSpPr/>
          <p:nvPr/>
        </p:nvSpPr>
        <p:spPr>
          <a:xfrm>
            <a:off x="6964680" y="2374900"/>
            <a:ext cx="4306265"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B5F63"/>
                </a:solidFill>
                <a:latin typeface="Arial" pitchFamily="34" charset="0"/>
                <a:ea typeface="Arial" pitchFamily="34" charset="-122"/>
                <a:cs typeface="Arial" pitchFamily="34" charset="-120"/>
              </a:rPr>
              <a:t>Light enough to hold for several minutes without tiring.</a:t>
            </a:r>
            <a:endParaRPr lang="en-US" sz="1400" dirty="0"/>
          </a:p>
        </p:txBody>
      </p:sp>
      <p:sp>
        <p:nvSpPr>
          <p:cNvPr id="12" name="Shape 8"/>
          <p:cNvSpPr/>
          <p:nvPr/>
        </p:nvSpPr>
        <p:spPr>
          <a:xfrm>
            <a:off x="815975" y="3312796"/>
            <a:ext cx="5175250" cy="1296670"/>
          </a:xfrm>
          <a:prstGeom prst="roundRect">
            <a:avLst>
              <a:gd name="adj" fmla="val 7591"/>
            </a:avLst>
          </a:prstGeom>
          <a:solidFill>
            <a:srgbClr val="FAFBF8"/>
          </a:solidFill>
          <a:ln w="6350">
            <a:solidFill>
              <a:srgbClr val="D8DFDA"/>
            </a:solidFill>
            <a:prstDash val="solid"/>
          </a:ln>
        </p:spPr>
      </p:sp>
      <p:pic>
        <p:nvPicPr>
          <p:cNvPr id="13" name="Image 2" descr="Chat">    </p:cNvPr>
          <p:cNvPicPr>
            <a:picLocks noChangeAspect="1"/>
          </p:cNvPicPr>
          <p:nvPr/>
        </p:nvPicPr>
        <p:blipFill>
          <a:blip r:embed="rId3"/>
          <a:srcRect l="0" r="0" t="0" b="0"/>
          <a:stretch/>
        </p:blipFill>
        <p:spPr>
          <a:xfrm>
            <a:off x="1046480" y="3543300"/>
            <a:ext cx="355600" cy="355600"/>
          </a:xfrm>
          <a:prstGeom prst="rect">
            <a:avLst/>
          </a:prstGeom>
        </p:spPr>
      </p:pic>
      <p:sp>
        <p:nvSpPr>
          <p:cNvPr id="14" name="Text 9"/>
          <p:cNvSpPr/>
          <p:nvPr/>
        </p:nvSpPr>
        <p:spPr>
          <a:xfrm>
            <a:off x="1579880" y="3543300"/>
            <a:ext cx="4306265"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62B"/>
                </a:solidFill>
                <a:latin typeface="Arial" pitchFamily="34" charset="0"/>
                <a:ea typeface="Arial" pitchFamily="34" charset="-122"/>
                <a:cs typeface="Arial" pitchFamily="34" charset="-120"/>
              </a:rPr>
              <a:t>Noise and vibration</a:t>
            </a:r>
            <a:endParaRPr lang="en-US" sz="1800" dirty="0"/>
          </a:p>
        </p:txBody>
      </p:sp>
      <p:sp>
        <p:nvSpPr>
          <p:cNvPr id="15" name="Text 10"/>
          <p:cNvSpPr/>
          <p:nvPr/>
        </p:nvSpPr>
        <p:spPr>
          <a:xfrm>
            <a:off x="1579880" y="3881121"/>
            <a:ext cx="440817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B5F63"/>
                </a:solidFill>
                <a:latin typeface="Arial" pitchFamily="34" charset="0"/>
                <a:ea typeface="Arial" pitchFamily="34" charset="-122"/>
                <a:cs typeface="Arial" pitchFamily="34" charset="-120"/>
              </a:rPr>
              <a:t>Balanced blades keep noise and hand vibration low.</a:t>
            </a:r>
            <a:endParaRPr lang="en-US" sz="1400" dirty="0"/>
          </a:p>
        </p:txBody>
      </p:sp>
      <p:sp>
        <p:nvSpPr>
          <p:cNvPr id="16" name="Shape 11"/>
          <p:cNvSpPr/>
          <p:nvPr/>
        </p:nvSpPr>
        <p:spPr>
          <a:xfrm>
            <a:off x="6200775" y="3312796"/>
            <a:ext cx="5175250" cy="1296670"/>
          </a:xfrm>
          <a:prstGeom prst="roundRect">
            <a:avLst>
              <a:gd name="adj" fmla="val 7591"/>
            </a:avLst>
          </a:prstGeom>
          <a:solidFill>
            <a:srgbClr val="FAFBF8"/>
          </a:solidFill>
          <a:ln w="6350">
            <a:solidFill>
              <a:srgbClr val="D8DFDA"/>
            </a:solidFill>
            <a:prstDash val="solid"/>
          </a:ln>
        </p:spPr>
      </p:sp>
      <p:pic>
        <p:nvPicPr>
          <p:cNvPr id="17" name="Image 3" descr="Warning">    </p:cNvPr>
          <p:cNvPicPr>
            <a:picLocks noChangeAspect="1"/>
          </p:cNvPicPr>
          <p:nvPr/>
        </p:nvPicPr>
        <p:blipFill>
          <a:blip r:embed="rId4"/>
          <a:srcRect l="0" r="0" t="0" b="0"/>
          <a:stretch/>
        </p:blipFill>
        <p:spPr>
          <a:xfrm>
            <a:off x="6431280" y="3543300"/>
            <a:ext cx="355600" cy="355600"/>
          </a:xfrm>
          <a:prstGeom prst="rect">
            <a:avLst/>
          </a:prstGeom>
        </p:spPr>
      </p:pic>
      <p:sp>
        <p:nvSpPr>
          <p:cNvPr id="18" name="Text 12"/>
          <p:cNvSpPr/>
          <p:nvPr/>
        </p:nvSpPr>
        <p:spPr>
          <a:xfrm>
            <a:off x="6964680" y="3543300"/>
            <a:ext cx="4306265"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62B"/>
                </a:solidFill>
                <a:latin typeface="Arial" pitchFamily="34" charset="0"/>
                <a:ea typeface="Arial" pitchFamily="34" charset="-122"/>
                <a:cs typeface="Arial" pitchFamily="34" charset="-120"/>
              </a:rPr>
              <a:t>Human error</a:t>
            </a:r>
            <a:endParaRPr lang="en-US" sz="1800" dirty="0"/>
          </a:p>
        </p:txBody>
      </p:sp>
      <p:sp>
        <p:nvSpPr>
          <p:cNvPr id="19" name="Text 13"/>
          <p:cNvSpPr/>
          <p:nvPr/>
        </p:nvSpPr>
        <p:spPr>
          <a:xfrm>
            <a:off x="6964680" y="3881121"/>
            <a:ext cx="4306265"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B5F63"/>
                </a:solidFill>
                <a:latin typeface="Arial" pitchFamily="34" charset="0"/>
                <a:ea typeface="Arial" pitchFamily="34" charset="-122"/>
                <a:cs typeface="Arial" pitchFamily="34" charset="-120"/>
              </a:rPr>
              <a:t>Polarity-safe connectors and clear labels prevent wrong wiring and misuse.</a:t>
            </a:r>
            <a:endParaRPr lang="en-US" sz="1400" dirty="0"/>
          </a:p>
        </p:txBody>
      </p:sp>
      <p:sp>
        <p:nvSpPr>
          <p:cNvPr id="20" name="Text 14"/>
          <p:cNvSpPr/>
          <p:nvPr/>
        </p:nvSpPr>
        <p:spPr>
          <a:xfrm>
            <a:off x="812800" y="6238242"/>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B5F63"/>
                </a:solidFill>
                <a:latin typeface="Arial" pitchFamily="34" charset="0"/>
                <a:ea typeface="Arial" pitchFamily="34" charset="-122"/>
                <a:cs typeface="Arial" pitchFamily="34" charset="-120"/>
              </a:rPr>
              <a:t>Handheld 3D Printed Fan · Manufacturing Technology</a:t>
            </a:r>
            <a:endParaRPr lang="en-US" sz="1200" dirty="0"/>
          </a:p>
        </p:txBody>
      </p:sp>
      <p:sp>
        <p:nvSpPr>
          <p:cNvPr id="21" name="Text 15"/>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B5F63"/>
                </a:solidFill>
                <a:latin typeface="Arial" pitchFamily="34" charset="0"/>
                <a:ea typeface="Arial" pitchFamily="34" charset="-122"/>
                <a:cs typeface="Arial"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3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B7A75"/>
                </a:solidFill>
                <a:latin typeface="Arial" pitchFamily="34" charset="0"/>
                <a:ea typeface="Arial" pitchFamily="34" charset="-122"/>
                <a:cs typeface="Arial" pitchFamily="34" charset="-120"/>
              </a:rPr>
              <a:t>08 · PREVENTIVE MEASURES</a:t>
            </a:r>
            <a:endParaRPr lang="en-US" sz="1200" dirty="0"/>
          </a:p>
        </p:txBody>
      </p:sp>
      <p:sp>
        <p:nvSpPr>
          <p:cNvPr id="3" name="Text 1"/>
          <p:cNvSpPr/>
          <p:nvPr>
            <p:ph type="title"/>
          </p:nvPr>
        </p:nvSpPr>
        <p:spPr>
          <a:xfrm>
            <a:off x="812800" y="11023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62B"/>
                </a:solidFill>
                <a:latin typeface="Arial" pitchFamily="34" charset="0"/>
                <a:ea typeface="Arial" pitchFamily="34" charset="-122"/>
                <a:cs typeface="Arial" pitchFamily="34" charset="-120"/>
              </a:rPr>
              <a:t>Preventing accidents at every stage</a:t>
            </a:r>
            <a:endParaRPr lang="en-US" sz="3200" dirty="0"/>
          </a:p>
        </p:txBody>
      </p:sp>
      <p:sp>
        <p:nvSpPr>
          <p:cNvPr id="4" name="Shape 2"/>
          <p:cNvSpPr/>
          <p:nvPr/>
        </p:nvSpPr>
        <p:spPr>
          <a:xfrm>
            <a:off x="815975" y="1806575"/>
            <a:ext cx="3380264" cy="2411730"/>
          </a:xfrm>
          <a:prstGeom prst="roundRect">
            <a:avLst>
              <a:gd name="adj" fmla="val 4081"/>
            </a:avLst>
          </a:prstGeom>
          <a:solidFill>
            <a:srgbClr val="FAFBF8"/>
          </a:solidFill>
          <a:ln w="6350">
            <a:solidFill>
              <a:srgbClr val="D8DFDA"/>
            </a:solidFill>
            <a:prstDash val="solid"/>
          </a:ln>
        </p:spPr>
      </p:sp>
      <p:sp>
        <p:nvSpPr>
          <p:cNvPr id="5" name="Text 3"/>
          <p:cNvSpPr/>
          <p:nvPr/>
        </p:nvSpPr>
        <p:spPr>
          <a:xfrm>
            <a:off x="1071880" y="2062479"/>
            <a:ext cx="2954507"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B7A75"/>
                </a:solidFill>
                <a:latin typeface="Arial" pitchFamily="34" charset="0"/>
                <a:ea typeface="Arial" pitchFamily="34" charset="-122"/>
                <a:cs typeface="Arial" pitchFamily="34" charset="-120"/>
              </a:rPr>
              <a:t>In design</a:t>
            </a:r>
            <a:endParaRPr lang="en-US" sz="1800" dirty="0"/>
          </a:p>
        </p:txBody>
      </p:sp>
      <p:sp>
        <p:nvSpPr>
          <p:cNvPr id="6" name="Text 4"/>
          <p:cNvSpPr/>
          <p:nvPr/>
        </p:nvSpPr>
        <p:spPr>
          <a:xfrm>
            <a:off x="1071880" y="2463800"/>
            <a:ext cx="2954507"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62B"/>
                </a:solidFill>
                <a:latin typeface="Arial" pitchFamily="34" charset="0"/>
                <a:ea typeface="Arial" pitchFamily="34" charset="-122"/>
                <a:cs typeface="Arial" pitchFamily="34" charset="-120"/>
              </a:rPr>
              <a:t>Guard gaps smaller than a finger</a:t>
            </a:r>
            <a:endParaRPr lang="en-US" sz="1400" dirty="0"/>
          </a:p>
        </p:txBody>
      </p:sp>
      <p:sp>
        <p:nvSpPr>
          <p:cNvPr id="7" name="Text 5"/>
          <p:cNvSpPr/>
          <p:nvPr/>
        </p:nvSpPr>
        <p:spPr>
          <a:xfrm>
            <a:off x="1071880" y="2839721"/>
            <a:ext cx="2954507"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62B"/>
                </a:solidFill>
                <a:latin typeface="Arial" pitchFamily="34" charset="0"/>
                <a:ea typeface="Arial" pitchFamily="34" charset="-122"/>
                <a:cs typeface="Arial" pitchFamily="34" charset="-120"/>
              </a:rPr>
              <a:t>Rounded edges and fillets</a:t>
            </a:r>
            <a:endParaRPr lang="en-US" sz="1400" dirty="0"/>
          </a:p>
        </p:txBody>
      </p:sp>
      <p:sp>
        <p:nvSpPr>
          <p:cNvPr id="8" name="Text 6"/>
          <p:cNvSpPr/>
          <p:nvPr/>
        </p:nvSpPr>
        <p:spPr>
          <a:xfrm>
            <a:off x="1071880" y="3215642"/>
            <a:ext cx="312118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62B"/>
                </a:solidFill>
                <a:latin typeface="Arial" pitchFamily="34" charset="0"/>
                <a:ea typeface="Arial" pitchFamily="34" charset="-122"/>
                <a:cs typeface="Arial" pitchFamily="34" charset="-120"/>
              </a:rPr>
              <a:t>Blade clearance and balance check</a:t>
            </a:r>
            <a:endParaRPr lang="en-US" sz="1400" dirty="0"/>
          </a:p>
        </p:txBody>
      </p:sp>
      <p:sp>
        <p:nvSpPr>
          <p:cNvPr id="9" name="Shape 7"/>
          <p:cNvSpPr/>
          <p:nvPr/>
        </p:nvSpPr>
        <p:spPr>
          <a:xfrm>
            <a:off x="4405789" y="1806575"/>
            <a:ext cx="3380343" cy="2411730"/>
          </a:xfrm>
          <a:prstGeom prst="roundRect">
            <a:avLst>
              <a:gd name="adj" fmla="val 4081"/>
            </a:avLst>
          </a:prstGeom>
          <a:solidFill>
            <a:srgbClr val="FAFBF8"/>
          </a:solidFill>
          <a:ln w="6350">
            <a:solidFill>
              <a:srgbClr val="D8DFDA"/>
            </a:solidFill>
            <a:prstDash val="solid"/>
          </a:ln>
        </p:spPr>
      </p:sp>
      <p:sp>
        <p:nvSpPr>
          <p:cNvPr id="10" name="Text 8"/>
          <p:cNvSpPr/>
          <p:nvPr/>
        </p:nvSpPr>
        <p:spPr>
          <a:xfrm>
            <a:off x="4661694" y="2062479"/>
            <a:ext cx="2954589"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B7A75"/>
                </a:solidFill>
                <a:latin typeface="Arial" pitchFamily="34" charset="0"/>
                <a:ea typeface="Arial" pitchFamily="34" charset="-122"/>
                <a:cs typeface="Arial" pitchFamily="34" charset="-120"/>
              </a:rPr>
              <a:t>In printing</a:t>
            </a:r>
            <a:endParaRPr lang="en-US" sz="1800" dirty="0"/>
          </a:p>
        </p:txBody>
      </p:sp>
      <p:sp>
        <p:nvSpPr>
          <p:cNvPr id="11" name="Text 9"/>
          <p:cNvSpPr/>
          <p:nvPr/>
        </p:nvSpPr>
        <p:spPr>
          <a:xfrm>
            <a:off x="4661694" y="2463800"/>
            <a:ext cx="2954589"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62B"/>
                </a:solidFill>
                <a:latin typeface="Arial" pitchFamily="34" charset="0"/>
                <a:ea typeface="Arial" pitchFamily="34" charset="-122"/>
                <a:cs typeface="Arial" pitchFamily="34" charset="-120"/>
              </a:rPr>
              <a:t>Print in a ventilated area</a:t>
            </a:r>
            <a:endParaRPr lang="en-US" sz="1400" dirty="0"/>
          </a:p>
        </p:txBody>
      </p:sp>
      <p:sp>
        <p:nvSpPr>
          <p:cNvPr id="12" name="Text 10"/>
          <p:cNvSpPr/>
          <p:nvPr/>
        </p:nvSpPr>
        <p:spPr>
          <a:xfrm>
            <a:off x="4661694" y="2839721"/>
            <a:ext cx="2954589"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62B"/>
                </a:solidFill>
                <a:latin typeface="Arial" pitchFamily="34" charset="0"/>
                <a:ea typeface="Arial" pitchFamily="34" charset="-122"/>
                <a:cs typeface="Arial" pitchFamily="34" charset="-120"/>
              </a:rPr>
              <a:t>Keep hands off the hot nozzle and bed</a:t>
            </a:r>
            <a:endParaRPr lang="en-US" sz="1400" dirty="0"/>
          </a:p>
        </p:txBody>
      </p:sp>
      <p:sp>
        <p:nvSpPr>
          <p:cNvPr id="13" name="Text 11"/>
          <p:cNvSpPr/>
          <p:nvPr/>
        </p:nvSpPr>
        <p:spPr>
          <a:xfrm>
            <a:off x="4661694" y="3464564"/>
            <a:ext cx="2954589"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62B"/>
                </a:solidFill>
                <a:latin typeface="Arial" pitchFamily="34" charset="0"/>
                <a:ea typeface="Arial" pitchFamily="34" charset="-122"/>
                <a:cs typeface="Arial" pitchFamily="34" charset="-120"/>
              </a:rPr>
              <a:t>Use the filament’s rated temperatures</a:t>
            </a:r>
            <a:endParaRPr lang="en-US" sz="1400" dirty="0"/>
          </a:p>
        </p:txBody>
      </p:sp>
      <p:sp>
        <p:nvSpPr>
          <p:cNvPr id="14" name="Shape 12"/>
          <p:cNvSpPr/>
          <p:nvPr/>
        </p:nvSpPr>
        <p:spPr>
          <a:xfrm>
            <a:off x="7995682" y="1806575"/>
            <a:ext cx="3380343" cy="2411730"/>
          </a:xfrm>
          <a:prstGeom prst="roundRect">
            <a:avLst>
              <a:gd name="adj" fmla="val 4081"/>
            </a:avLst>
          </a:prstGeom>
          <a:solidFill>
            <a:srgbClr val="FAFBF8"/>
          </a:solidFill>
          <a:ln w="6350">
            <a:solidFill>
              <a:srgbClr val="D8DFDA"/>
            </a:solidFill>
            <a:prstDash val="solid"/>
          </a:ln>
        </p:spPr>
      </p:sp>
      <p:sp>
        <p:nvSpPr>
          <p:cNvPr id="15" name="Text 13"/>
          <p:cNvSpPr/>
          <p:nvPr/>
        </p:nvSpPr>
        <p:spPr>
          <a:xfrm>
            <a:off x="8251587" y="2062479"/>
            <a:ext cx="2954589"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B7A75"/>
                </a:solidFill>
                <a:latin typeface="Arial" pitchFamily="34" charset="0"/>
                <a:ea typeface="Arial" pitchFamily="34" charset="-122"/>
                <a:cs typeface="Arial" pitchFamily="34" charset="-120"/>
              </a:rPr>
              <a:t>In use</a:t>
            </a:r>
            <a:endParaRPr lang="en-US" sz="1800" dirty="0"/>
          </a:p>
        </p:txBody>
      </p:sp>
      <p:sp>
        <p:nvSpPr>
          <p:cNvPr id="16" name="Text 14"/>
          <p:cNvSpPr/>
          <p:nvPr/>
        </p:nvSpPr>
        <p:spPr>
          <a:xfrm>
            <a:off x="8251587" y="2463800"/>
            <a:ext cx="2954589"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62B"/>
                </a:solidFill>
                <a:latin typeface="Arial" pitchFamily="34" charset="0"/>
                <a:ea typeface="Arial" pitchFamily="34" charset="-122"/>
                <a:cs typeface="Arial" pitchFamily="34" charset="-120"/>
              </a:rPr>
              <a:t>Charge only with the matching charger</a:t>
            </a:r>
            <a:endParaRPr lang="en-US" sz="1400" dirty="0"/>
          </a:p>
        </p:txBody>
      </p:sp>
      <p:sp>
        <p:nvSpPr>
          <p:cNvPr id="17" name="Text 15"/>
          <p:cNvSpPr/>
          <p:nvPr/>
        </p:nvSpPr>
        <p:spPr>
          <a:xfrm>
            <a:off x="8251587" y="3088642"/>
            <a:ext cx="2954589"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62B"/>
                </a:solidFill>
                <a:latin typeface="Arial" pitchFamily="34" charset="0"/>
                <a:ea typeface="Arial" pitchFamily="34" charset="-122"/>
                <a:cs typeface="Arial" pitchFamily="34" charset="-120"/>
              </a:rPr>
              <a:t>Stop if the casing warms or cracks</a:t>
            </a:r>
            <a:endParaRPr lang="en-US" sz="1400" dirty="0"/>
          </a:p>
        </p:txBody>
      </p:sp>
      <p:sp>
        <p:nvSpPr>
          <p:cNvPr id="18" name="Text 16"/>
          <p:cNvSpPr/>
          <p:nvPr/>
        </p:nvSpPr>
        <p:spPr>
          <a:xfrm>
            <a:off x="8251587" y="3464564"/>
            <a:ext cx="3121263"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62B"/>
                </a:solidFill>
                <a:latin typeface="Arial" pitchFamily="34" charset="0"/>
                <a:ea typeface="Arial" pitchFamily="34" charset="-122"/>
                <a:cs typeface="Arial" pitchFamily="34" charset="-120"/>
              </a:rPr>
              <a:t>Inspect blades for cracks before use</a:t>
            </a:r>
            <a:endParaRPr lang="en-US" sz="1400" dirty="0"/>
          </a:p>
        </p:txBody>
      </p:sp>
      <p:sp>
        <p:nvSpPr>
          <p:cNvPr id="19" name="Text 17"/>
          <p:cNvSpPr/>
          <p:nvPr/>
        </p:nvSpPr>
        <p:spPr>
          <a:xfrm>
            <a:off x="812800" y="6238242"/>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B5F63"/>
                </a:solidFill>
                <a:latin typeface="Arial" pitchFamily="34" charset="0"/>
                <a:ea typeface="Arial" pitchFamily="34" charset="-122"/>
                <a:cs typeface="Arial" pitchFamily="34" charset="-120"/>
              </a:rPr>
              <a:t>Handheld 3D Printed Fan · Manufacturing Technology</a:t>
            </a:r>
            <a:endParaRPr lang="en-US" sz="1200" dirty="0"/>
          </a:p>
        </p:txBody>
      </p:sp>
      <p:sp>
        <p:nvSpPr>
          <p:cNvPr id="20" name="Text 18"/>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B5F63"/>
                </a:solidFill>
                <a:latin typeface="Arial" pitchFamily="34" charset="0"/>
                <a:ea typeface="Arial" pitchFamily="34" charset="-122"/>
                <a:cs typeface="Arial"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3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B7A75"/>
                </a:solidFill>
                <a:latin typeface="Arial" pitchFamily="34" charset="0"/>
                <a:ea typeface="Arial" pitchFamily="34" charset="-122"/>
                <a:cs typeface="Arial" pitchFamily="34" charset="-120"/>
              </a:rPr>
              <a:t>09 · TESTING &amp; RESULTS</a:t>
            </a:r>
            <a:endParaRPr lang="en-US" sz="1200" dirty="0"/>
          </a:p>
        </p:txBody>
      </p:sp>
      <p:sp>
        <p:nvSpPr>
          <p:cNvPr id="3" name="Text 1"/>
          <p:cNvSpPr/>
          <p:nvPr>
            <p:ph type="title"/>
          </p:nvPr>
        </p:nvSpPr>
        <p:spPr>
          <a:xfrm>
            <a:off x="812800" y="11023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62B"/>
                </a:solidFill>
                <a:latin typeface="Arial" pitchFamily="34" charset="0"/>
                <a:ea typeface="Arial" pitchFamily="34" charset="-122"/>
                <a:cs typeface="Arial" pitchFamily="34" charset="-120"/>
              </a:rPr>
              <a:t>How the prototype performed</a:t>
            </a:r>
            <a:endParaRPr lang="en-US" sz="3200" dirty="0"/>
          </a:p>
        </p:txBody>
      </p:sp>
      <p:sp>
        <p:nvSpPr>
          <p:cNvPr id="4" name="Shape 2"/>
          <p:cNvSpPr/>
          <p:nvPr/>
        </p:nvSpPr>
        <p:spPr>
          <a:xfrm>
            <a:off x="815975" y="1806575"/>
            <a:ext cx="2520950" cy="1156970"/>
          </a:xfrm>
          <a:prstGeom prst="roundRect">
            <a:avLst>
              <a:gd name="adj" fmla="val 8507"/>
            </a:avLst>
          </a:prstGeom>
          <a:solidFill>
            <a:srgbClr val="FAFBF8"/>
          </a:solidFill>
          <a:ln w="6350">
            <a:solidFill>
              <a:srgbClr val="D8DFDA"/>
            </a:solidFill>
            <a:prstDash val="solid"/>
          </a:ln>
        </p:spPr>
      </p:sp>
      <p:sp>
        <p:nvSpPr>
          <p:cNvPr id="5" name="Text 3"/>
          <p:cNvSpPr/>
          <p:nvPr/>
        </p:nvSpPr>
        <p:spPr>
          <a:xfrm>
            <a:off x="1021080" y="2011685"/>
            <a:ext cx="217406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0B7A75"/>
                </a:solidFill>
                <a:latin typeface="Arial" pitchFamily="34" charset="0"/>
                <a:ea typeface="Arial" pitchFamily="34" charset="-122"/>
                <a:cs typeface="Arial" pitchFamily="34" charset="-120"/>
              </a:rPr>
              <a:t>[__] m/s</a:t>
            </a:r>
            <a:endParaRPr lang="en-US" sz="3200" dirty="0"/>
          </a:p>
        </p:txBody>
      </p:sp>
      <p:sp>
        <p:nvSpPr>
          <p:cNvPr id="6" name="Text 4"/>
          <p:cNvSpPr/>
          <p:nvPr/>
        </p:nvSpPr>
        <p:spPr>
          <a:xfrm>
            <a:off x="1021080" y="2509527"/>
            <a:ext cx="217406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B5F63"/>
                </a:solidFill>
                <a:latin typeface="Arial" pitchFamily="34" charset="0"/>
                <a:ea typeface="Arial" pitchFamily="34" charset="-122"/>
                <a:cs typeface="Arial" pitchFamily="34" charset="-120"/>
              </a:rPr>
              <a:t>Air speed at 30 cm</a:t>
            </a:r>
            <a:endParaRPr lang="en-US" sz="1400" dirty="0"/>
          </a:p>
        </p:txBody>
      </p:sp>
      <p:sp>
        <p:nvSpPr>
          <p:cNvPr id="7" name="Shape 5"/>
          <p:cNvSpPr/>
          <p:nvPr/>
        </p:nvSpPr>
        <p:spPr>
          <a:xfrm>
            <a:off x="3495675" y="1806575"/>
            <a:ext cx="2520950" cy="1156970"/>
          </a:xfrm>
          <a:prstGeom prst="roundRect">
            <a:avLst>
              <a:gd name="adj" fmla="val 8507"/>
            </a:avLst>
          </a:prstGeom>
          <a:solidFill>
            <a:srgbClr val="FAFBF8"/>
          </a:solidFill>
          <a:ln w="6350">
            <a:solidFill>
              <a:srgbClr val="D8DFDA"/>
            </a:solidFill>
            <a:prstDash val="solid"/>
          </a:ln>
        </p:spPr>
      </p:sp>
      <p:sp>
        <p:nvSpPr>
          <p:cNvPr id="8" name="Text 6"/>
          <p:cNvSpPr/>
          <p:nvPr/>
        </p:nvSpPr>
        <p:spPr>
          <a:xfrm>
            <a:off x="3700780" y="2011685"/>
            <a:ext cx="217406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0B7A75"/>
                </a:solidFill>
                <a:latin typeface="Arial" pitchFamily="34" charset="0"/>
                <a:ea typeface="Arial" pitchFamily="34" charset="-122"/>
                <a:cs typeface="Arial" pitchFamily="34" charset="-120"/>
              </a:rPr>
              <a:t>[__] h</a:t>
            </a:r>
            <a:endParaRPr lang="en-US" sz="3200" dirty="0"/>
          </a:p>
        </p:txBody>
      </p:sp>
      <p:sp>
        <p:nvSpPr>
          <p:cNvPr id="9" name="Text 7"/>
          <p:cNvSpPr/>
          <p:nvPr/>
        </p:nvSpPr>
        <p:spPr>
          <a:xfrm>
            <a:off x="3700780" y="2509527"/>
            <a:ext cx="217406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B5F63"/>
                </a:solidFill>
                <a:latin typeface="Arial" pitchFamily="34" charset="0"/>
                <a:ea typeface="Arial" pitchFamily="34" charset="-122"/>
                <a:cs typeface="Arial" pitchFamily="34" charset="-120"/>
              </a:rPr>
              <a:t>Run time per charge</a:t>
            </a:r>
            <a:endParaRPr lang="en-US" sz="1400" dirty="0"/>
          </a:p>
        </p:txBody>
      </p:sp>
      <p:sp>
        <p:nvSpPr>
          <p:cNvPr id="10" name="Shape 8"/>
          <p:cNvSpPr/>
          <p:nvPr/>
        </p:nvSpPr>
        <p:spPr>
          <a:xfrm>
            <a:off x="6175375" y="1806575"/>
            <a:ext cx="2520950" cy="1156970"/>
          </a:xfrm>
          <a:prstGeom prst="roundRect">
            <a:avLst>
              <a:gd name="adj" fmla="val 8507"/>
            </a:avLst>
          </a:prstGeom>
          <a:solidFill>
            <a:srgbClr val="FAFBF8"/>
          </a:solidFill>
          <a:ln w="6350">
            <a:solidFill>
              <a:srgbClr val="D8DFDA"/>
            </a:solidFill>
            <a:prstDash val="solid"/>
          </a:ln>
        </p:spPr>
      </p:sp>
      <p:sp>
        <p:nvSpPr>
          <p:cNvPr id="11" name="Text 9"/>
          <p:cNvSpPr/>
          <p:nvPr/>
        </p:nvSpPr>
        <p:spPr>
          <a:xfrm>
            <a:off x="6380480" y="2011685"/>
            <a:ext cx="217406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0B7A75"/>
                </a:solidFill>
                <a:latin typeface="Arial" pitchFamily="34" charset="0"/>
                <a:ea typeface="Arial" pitchFamily="34" charset="-122"/>
                <a:cs typeface="Arial" pitchFamily="34" charset="-120"/>
              </a:rPr>
              <a:t>[__] g</a:t>
            </a:r>
            <a:endParaRPr lang="en-US" sz="3200" dirty="0"/>
          </a:p>
        </p:txBody>
      </p:sp>
      <p:sp>
        <p:nvSpPr>
          <p:cNvPr id="12" name="Text 10"/>
          <p:cNvSpPr/>
          <p:nvPr/>
        </p:nvSpPr>
        <p:spPr>
          <a:xfrm>
            <a:off x="6380480" y="2509527"/>
            <a:ext cx="217406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B5F63"/>
                </a:solidFill>
                <a:latin typeface="Arial" pitchFamily="34" charset="0"/>
                <a:ea typeface="Arial" pitchFamily="34" charset="-122"/>
                <a:cs typeface="Arial" pitchFamily="34" charset="-120"/>
              </a:rPr>
              <a:t>Total weight</a:t>
            </a:r>
            <a:endParaRPr lang="en-US" sz="1400" dirty="0"/>
          </a:p>
        </p:txBody>
      </p:sp>
      <p:sp>
        <p:nvSpPr>
          <p:cNvPr id="13" name="Shape 11"/>
          <p:cNvSpPr/>
          <p:nvPr/>
        </p:nvSpPr>
        <p:spPr>
          <a:xfrm>
            <a:off x="8855075" y="1806575"/>
            <a:ext cx="2520950" cy="1156970"/>
          </a:xfrm>
          <a:prstGeom prst="roundRect">
            <a:avLst>
              <a:gd name="adj" fmla="val 8507"/>
            </a:avLst>
          </a:prstGeom>
          <a:solidFill>
            <a:srgbClr val="FAFBF8"/>
          </a:solidFill>
          <a:ln w="6350">
            <a:solidFill>
              <a:srgbClr val="D8DFDA"/>
            </a:solidFill>
            <a:prstDash val="solid"/>
          </a:ln>
        </p:spPr>
      </p:sp>
      <p:sp>
        <p:nvSpPr>
          <p:cNvPr id="14" name="Text 12"/>
          <p:cNvSpPr/>
          <p:nvPr/>
        </p:nvSpPr>
        <p:spPr>
          <a:xfrm>
            <a:off x="9060180" y="2011685"/>
            <a:ext cx="217406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0B7A75"/>
                </a:solidFill>
                <a:latin typeface="Arial" pitchFamily="34" charset="0"/>
                <a:ea typeface="Arial" pitchFamily="34" charset="-122"/>
                <a:cs typeface="Arial" pitchFamily="34" charset="-120"/>
              </a:rPr>
              <a:t>[__] dB</a:t>
            </a:r>
            <a:endParaRPr lang="en-US" sz="3200" dirty="0"/>
          </a:p>
        </p:txBody>
      </p:sp>
      <p:sp>
        <p:nvSpPr>
          <p:cNvPr id="15" name="Text 13"/>
          <p:cNvSpPr/>
          <p:nvPr/>
        </p:nvSpPr>
        <p:spPr>
          <a:xfrm>
            <a:off x="9060180" y="2509527"/>
            <a:ext cx="217406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B5F63"/>
                </a:solidFill>
                <a:latin typeface="Arial" pitchFamily="34" charset="0"/>
                <a:ea typeface="Arial" pitchFamily="34" charset="-122"/>
                <a:cs typeface="Arial" pitchFamily="34" charset="-120"/>
              </a:rPr>
              <a:t>Noise at 1 m</a:t>
            </a:r>
            <a:endParaRPr lang="en-US" sz="1400" dirty="0"/>
          </a:p>
        </p:txBody>
      </p:sp>
      <p:sp>
        <p:nvSpPr>
          <p:cNvPr id="16" name="Shape 14"/>
          <p:cNvSpPr/>
          <p:nvPr/>
        </p:nvSpPr>
        <p:spPr>
          <a:xfrm>
            <a:off x="812800" y="3220727"/>
            <a:ext cx="10566400" cy="995680"/>
          </a:xfrm>
          <a:prstGeom prst="roundRect">
            <a:avLst>
              <a:gd name="adj" fmla="val 10204"/>
            </a:avLst>
          </a:prstGeom>
          <a:solidFill>
            <a:srgbClr val="0F2229"/>
          </a:solidFill>
          <a:ln/>
        </p:spPr>
      </p:sp>
      <p:sp>
        <p:nvSpPr>
          <p:cNvPr id="17" name="Text 15"/>
          <p:cNvSpPr/>
          <p:nvPr/>
        </p:nvSpPr>
        <p:spPr>
          <a:xfrm>
            <a:off x="1066800" y="3449327"/>
            <a:ext cx="1036015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4FC9BF"/>
                </a:solidFill>
                <a:latin typeface="Arial" pitchFamily="34" charset="0"/>
                <a:ea typeface="Arial" pitchFamily="34" charset="-122"/>
                <a:cs typeface="Arial" pitchFamily="34" charset="-120"/>
              </a:rPr>
              <a:t>OBSERVATIONS</a:t>
            </a:r>
            <a:endParaRPr lang="en-US" sz="1200" dirty="0"/>
          </a:p>
        </p:txBody>
      </p:sp>
      <p:sp>
        <p:nvSpPr>
          <p:cNvPr id="18" name="Text 16"/>
          <p:cNvSpPr/>
          <p:nvPr/>
        </p:nvSpPr>
        <p:spPr>
          <a:xfrm>
            <a:off x="1066800" y="3738885"/>
            <a:ext cx="1036015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AF2EF"/>
                </a:solidFill>
                <a:latin typeface="Arial" pitchFamily="34" charset="0"/>
                <a:ea typeface="Arial" pitchFamily="34" charset="-122"/>
                <a:cs typeface="Arial" pitchFamily="34" charset="-120"/>
              </a:rPr>
              <a:t>[Blade wobble, motor or casing heating, print defects, and the fixes you made.]</a:t>
            </a:r>
            <a:endParaRPr lang="en-US" sz="1400" dirty="0"/>
          </a:p>
        </p:txBody>
      </p:sp>
      <p:sp>
        <p:nvSpPr>
          <p:cNvPr id="19" name="Text 17"/>
          <p:cNvSpPr/>
          <p:nvPr/>
        </p:nvSpPr>
        <p:spPr>
          <a:xfrm>
            <a:off x="812800" y="6238242"/>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B5F63"/>
                </a:solidFill>
                <a:latin typeface="Arial" pitchFamily="34" charset="0"/>
                <a:ea typeface="Arial" pitchFamily="34" charset="-122"/>
                <a:cs typeface="Arial" pitchFamily="34" charset="-120"/>
              </a:rPr>
              <a:t>Handheld 3D Printed Fan · Manufacturing Technology</a:t>
            </a:r>
            <a:endParaRPr lang="en-US" sz="1200" dirty="0"/>
          </a:p>
        </p:txBody>
      </p:sp>
      <p:sp>
        <p:nvSpPr>
          <p:cNvPr id="20" name="Text 18"/>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B5F63"/>
                </a:solidFill>
                <a:latin typeface="Arial" pitchFamily="34" charset="0"/>
                <a:ea typeface="Arial" pitchFamily="34" charset="-122"/>
                <a:cs typeface="Arial"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2229"/>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4FC9BF"/>
                </a:solidFill>
                <a:latin typeface="Arial" pitchFamily="34" charset="0"/>
                <a:ea typeface="Arial" pitchFamily="34" charset="-122"/>
                <a:cs typeface="Arial" pitchFamily="34" charset="-120"/>
              </a:rPr>
              <a:t>10 · CONCLUSION</a:t>
            </a:r>
            <a:endParaRPr lang="en-US" sz="1200" dirty="0"/>
          </a:p>
        </p:txBody>
      </p:sp>
      <p:sp>
        <p:nvSpPr>
          <p:cNvPr id="3" name="Text 1"/>
          <p:cNvSpPr/>
          <p:nvPr>
            <p:ph type="title"/>
          </p:nvPr>
        </p:nvSpPr>
        <p:spPr>
          <a:xfrm>
            <a:off x="812800" y="11023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EAF2EF"/>
                </a:solidFill>
                <a:latin typeface="Arial" pitchFamily="34" charset="0"/>
                <a:ea typeface="Arial" pitchFamily="34" charset="-122"/>
                <a:cs typeface="Arial" pitchFamily="34" charset="-120"/>
              </a:rPr>
              <a:t>Conclusion and future scope</a:t>
            </a:r>
            <a:endParaRPr lang="en-US" sz="3200" dirty="0"/>
          </a:p>
        </p:txBody>
      </p:sp>
      <p:sp>
        <p:nvSpPr>
          <p:cNvPr id="4" name="Shape 2"/>
          <p:cNvSpPr/>
          <p:nvPr/>
        </p:nvSpPr>
        <p:spPr>
          <a:xfrm>
            <a:off x="812800" y="1803400"/>
            <a:ext cx="6106160" cy="2890520"/>
          </a:xfrm>
          <a:prstGeom prst="roundRect">
            <a:avLst>
              <a:gd name="adj" fmla="val 3515"/>
            </a:avLst>
          </a:prstGeom>
          <a:solidFill>
            <a:srgbClr val="1A3640"/>
          </a:solidFill>
          <a:ln/>
        </p:spPr>
      </p:sp>
      <p:sp>
        <p:nvSpPr>
          <p:cNvPr id="5" name="Text 3"/>
          <p:cNvSpPr/>
          <p:nvPr/>
        </p:nvSpPr>
        <p:spPr>
          <a:xfrm>
            <a:off x="1092200" y="2082800"/>
            <a:ext cx="5713781"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F8F5E"/>
                </a:solidFill>
                <a:latin typeface="Arial" pitchFamily="34" charset="0"/>
                <a:ea typeface="Arial" pitchFamily="34" charset="-122"/>
                <a:cs typeface="Arial" pitchFamily="34" charset="-120"/>
              </a:rPr>
              <a:t>What we achieved</a:t>
            </a:r>
            <a:endParaRPr lang="en-US" sz="1800" dirty="0"/>
          </a:p>
        </p:txBody>
      </p:sp>
      <p:sp>
        <p:nvSpPr>
          <p:cNvPr id="6" name="Text 4"/>
          <p:cNvSpPr/>
          <p:nvPr/>
        </p:nvSpPr>
        <p:spPr>
          <a:xfrm>
            <a:off x="1092200" y="2509527"/>
            <a:ext cx="5713781"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AF2EF"/>
                </a:solidFill>
                <a:latin typeface="Arial" pitchFamily="34" charset="0"/>
                <a:ea typeface="Arial" pitchFamily="34" charset="-122"/>
                <a:cs typeface="Arial" pitchFamily="34" charset="-120"/>
              </a:rPr>
              <a:t>A handheld fan was designed in CAD and made mainly by FDM printing.</a:t>
            </a:r>
            <a:endParaRPr lang="en-US" sz="1500" dirty="0"/>
          </a:p>
        </p:txBody>
      </p:sp>
      <p:sp>
        <p:nvSpPr>
          <p:cNvPr id="7" name="Text 5"/>
          <p:cNvSpPr/>
          <p:nvPr/>
        </p:nvSpPr>
        <p:spPr>
          <a:xfrm>
            <a:off x="1092200" y="3195327"/>
            <a:ext cx="5713781"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AF2EF"/>
                </a:solidFill>
                <a:latin typeface="Arial" pitchFamily="34" charset="0"/>
                <a:ea typeface="Arial" pitchFamily="34" charset="-122"/>
                <a:cs typeface="Arial" pitchFamily="34" charset="-120"/>
              </a:rPr>
              <a:t>Material, print settings and assembly balanced weight, strength and cost.</a:t>
            </a:r>
            <a:endParaRPr lang="en-US" sz="1500" dirty="0"/>
          </a:p>
        </p:txBody>
      </p:sp>
      <p:sp>
        <p:nvSpPr>
          <p:cNvPr id="8" name="Text 6"/>
          <p:cNvSpPr/>
          <p:nvPr/>
        </p:nvSpPr>
        <p:spPr>
          <a:xfrm>
            <a:off x="1092200" y="3881127"/>
            <a:ext cx="5713781"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AF2EF"/>
                </a:solidFill>
                <a:latin typeface="Arial" pitchFamily="34" charset="0"/>
                <a:ea typeface="Arial" pitchFamily="34" charset="-122"/>
                <a:cs typeface="Arial" pitchFamily="34" charset="-120"/>
              </a:rPr>
              <a:t>Hazards were identified and reduced with a guard, battery protection and safe handling steps.</a:t>
            </a:r>
            <a:endParaRPr lang="en-US" sz="1500" dirty="0"/>
          </a:p>
        </p:txBody>
      </p:sp>
      <p:sp>
        <p:nvSpPr>
          <p:cNvPr id="9" name="Shape 7"/>
          <p:cNvSpPr/>
          <p:nvPr/>
        </p:nvSpPr>
        <p:spPr>
          <a:xfrm>
            <a:off x="7122160" y="1803400"/>
            <a:ext cx="4257040" cy="2890520"/>
          </a:xfrm>
          <a:prstGeom prst="roundRect">
            <a:avLst>
              <a:gd name="adj" fmla="val 3515"/>
            </a:avLst>
          </a:prstGeom>
          <a:solidFill>
            <a:srgbClr val="1A3640"/>
          </a:solidFill>
          <a:ln/>
        </p:spPr>
      </p:sp>
      <p:sp>
        <p:nvSpPr>
          <p:cNvPr id="10" name="Text 8"/>
          <p:cNvSpPr/>
          <p:nvPr/>
        </p:nvSpPr>
        <p:spPr>
          <a:xfrm>
            <a:off x="7401560" y="2082800"/>
            <a:ext cx="3809187"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F8F5E"/>
                </a:solidFill>
                <a:latin typeface="Arial" pitchFamily="34" charset="0"/>
                <a:ea typeface="Arial" pitchFamily="34" charset="-122"/>
                <a:cs typeface="Arial" pitchFamily="34" charset="-120"/>
              </a:rPr>
              <a:t>Future scope</a:t>
            </a:r>
            <a:endParaRPr lang="en-US" sz="1800" dirty="0"/>
          </a:p>
        </p:txBody>
      </p:sp>
      <p:sp>
        <p:nvSpPr>
          <p:cNvPr id="11" name="Text 9"/>
          <p:cNvSpPr/>
          <p:nvPr/>
        </p:nvSpPr>
        <p:spPr>
          <a:xfrm>
            <a:off x="7401560" y="2509527"/>
            <a:ext cx="3809187"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AF2EF"/>
                </a:solidFill>
                <a:latin typeface="Arial" pitchFamily="34" charset="0"/>
                <a:ea typeface="Arial" pitchFamily="34" charset="-122"/>
                <a:cs typeface="Arial" pitchFamily="34" charset="-120"/>
              </a:rPr>
              <a:t>Variable speed control</a:t>
            </a:r>
            <a:endParaRPr lang="en-US" sz="1500" dirty="0"/>
          </a:p>
        </p:txBody>
      </p:sp>
      <p:sp>
        <p:nvSpPr>
          <p:cNvPr id="12" name="Text 10"/>
          <p:cNvSpPr/>
          <p:nvPr/>
        </p:nvSpPr>
        <p:spPr>
          <a:xfrm>
            <a:off x="7401560" y="2928627"/>
            <a:ext cx="3809187"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AF2EF"/>
                </a:solidFill>
                <a:latin typeface="Arial" pitchFamily="34" charset="0"/>
                <a:ea typeface="Arial" pitchFamily="34" charset="-122"/>
                <a:cs typeface="Arial" pitchFamily="34" charset="-120"/>
              </a:rPr>
              <a:t>Blade profile tuned with airflow simulation</a:t>
            </a:r>
            <a:endParaRPr lang="en-US" sz="1500" dirty="0"/>
          </a:p>
        </p:txBody>
      </p:sp>
      <p:sp>
        <p:nvSpPr>
          <p:cNvPr id="13" name="Text 11"/>
          <p:cNvSpPr/>
          <p:nvPr/>
        </p:nvSpPr>
        <p:spPr>
          <a:xfrm>
            <a:off x="7401560" y="3347727"/>
            <a:ext cx="3809187"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AF2EF"/>
                </a:solidFill>
                <a:latin typeface="Arial" pitchFamily="34" charset="0"/>
                <a:ea typeface="Arial" pitchFamily="34" charset="-122"/>
                <a:cs typeface="Arial" pitchFamily="34" charset="-120"/>
              </a:rPr>
              <a:t>Foldable or modular housing</a:t>
            </a:r>
            <a:endParaRPr lang="en-US" sz="1500" dirty="0"/>
          </a:p>
        </p:txBody>
      </p:sp>
      <p:sp>
        <p:nvSpPr>
          <p:cNvPr id="14" name="Text 12"/>
          <p:cNvSpPr/>
          <p:nvPr/>
        </p:nvSpPr>
        <p:spPr>
          <a:xfrm>
            <a:off x="7401560" y="3766827"/>
            <a:ext cx="3809187"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AF2EF"/>
                </a:solidFill>
                <a:latin typeface="Arial" pitchFamily="34" charset="0"/>
                <a:ea typeface="Arial" pitchFamily="34" charset="-122"/>
                <a:cs typeface="Arial" pitchFamily="34" charset="-120"/>
              </a:rPr>
              <a:t>Recycled filament</a:t>
            </a:r>
            <a:endParaRPr lang="en-US" sz="1500" dirty="0"/>
          </a:p>
        </p:txBody>
      </p:sp>
      <p:sp>
        <p:nvSpPr>
          <p:cNvPr id="15" name="Text 13"/>
          <p:cNvSpPr/>
          <p:nvPr/>
        </p:nvSpPr>
        <p:spPr>
          <a:xfrm>
            <a:off x="812800" y="6238242"/>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8B4"/>
                </a:solidFill>
                <a:latin typeface="Arial" pitchFamily="34" charset="0"/>
                <a:ea typeface="Arial" pitchFamily="34" charset="-122"/>
                <a:cs typeface="Arial" pitchFamily="34" charset="-120"/>
              </a:rPr>
              <a:t>Handheld 3D Printed Fan · Manufacturing Technology</a:t>
            </a:r>
            <a:endParaRPr lang="en-US" sz="1200" dirty="0"/>
          </a:p>
        </p:txBody>
      </p:sp>
      <p:sp>
        <p:nvSpPr>
          <p:cNvPr id="16" name="Text 14"/>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FB8B4"/>
                </a:solidFill>
                <a:latin typeface="Arial" pitchFamily="34" charset="0"/>
                <a:ea typeface="Arial" pitchFamily="34" charset="-122"/>
                <a:cs typeface="Arial"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3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B7A75"/>
                </a:solidFill>
                <a:latin typeface="Arial" pitchFamily="34" charset="0"/>
                <a:ea typeface="Arial" pitchFamily="34" charset="-122"/>
                <a:cs typeface="Arial" pitchFamily="34" charset="-120"/>
              </a:rPr>
              <a:t>11 · REFERENCES</a:t>
            </a:r>
            <a:endParaRPr lang="en-US" sz="1200" dirty="0"/>
          </a:p>
        </p:txBody>
      </p:sp>
      <p:sp>
        <p:nvSpPr>
          <p:cNvPr id="3" name="Text 1"/>
          <p:cNvSpPr/>
          <p:nvPr>
            <p:ph type="title"/>
          </p:nvPr>
        </p:nvSpPr>
        <p:spPr>
          <a:xfrm>
            <a:off x="812800" y="11023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62B"/>
                </a:solidFill>
                <a:latin typeface="Arial" pitchFamily="34" charset="0"/>
                <a:ea typeface="Arial" pitchFamily="34" charset="-122"/>
                <a:cs typeface="Arial" pitchFamily="34" charset="-120"/>
              </a:rPr>
              <a:t>References</a:t>
            </a:r>
            <a:endParaRPr lang="en-US" sz="3200" dirty="0"/>
          </a:p>
        </p:txBody>
      </p:sp>
      <p:sp>
        <p:nvSpPr>
          <p:cNvPr id="4" name="Text 2"/>
          <p:cNvSpPr/>
          <p:nvPr/>
        </p:nvSpPr>
        <p:spPr>
          <a:xfrm>
            <a:off x="812800" y="180340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B7A75"/>
                </a:solidFill>
                <a:latin typeface="Arial" pitchFamily="34" charset="0"/>
                <a:ea typeface="Arial" pitchFamily="34" charset="-122"/>
                <a:cs typeface="Arial" pitchFamily="34" charset="-120"/>
              </a:rPr>
              <a:t>1</a:t>
            </a:r>
            <a:r>
              <a:rPr lang="en-US" sz="1500" dirty="0">
                <a:solidFill>
                  <a:srgbClr val="14262B"/>
                </a:solidFill>
                <a:latin typeface="Arial" pitchFamily="34" charset="0"/>
                <a:ea typeface="Arial" pitchFamily="34" charset="-122"/>
                <a:cs typeface="Arial" pitchFamily="34" charset="-120"/>
              </a:rPr>
              <a:t> IEC 60335-2-80, Household and similar electrical appliances: safety requirements for fans.</a:t>
            </a:r>
            <a:endParaRPr lang="en-US" sz="1500" dirty="0"/>
          </a:p>
        </p:txBody>
      </p:sp>
      <p:sp>
        <p:nvSpPr>
          <p:cNvPr id="5" name="Text 3"/>
          <p:cNvSpPr/>
          <p:nvPr/>
        </p:nvSpPr>
        <p:spPr>
          <a:xfrm>
            <a:off x="812800" y="219710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B7A75"/>
                </a:solidFill>
                <a:latin typeface="Arial" pitchFamily="34" charset="0"/>
                <a:ea typeface="Arial" pitchFamily="34" charset="-122"/>
                <a:cs typeface="Arial" pitchFamily="34" charset="-120"/>
              </a:rPr>
              <a:t>2</a:t>
            </a:r>
            <a:r>
              <a:rPr lang="en-US" sz="1500" dirty="0">
                <a:solidFill>
                  <a:srgbClr val="14262B"/>
                </a:solidFill>
                <a:latin typeface="Arial" pitchFamily="34" charset="0"/>
                <a:ea typeface="Arial" pitchFamily="34" charset="-122"/>
                <a:cs typeface="Arial" pitchFamily="34" charset="-120"/>
              </a:rPr>
              <a:t> IEC 62133-2, Safety requirements for portable sealed secondary lithium cells and batteries.</a:t>
            </a:r>
            <a:endParaRPr lang="en-US" sz="1500" dirty="0"/>
          </a:p>
        </p:txBody>
      </p:sp>
      <p:sp>
        <p:nvSpPr>
          <p:cNvPr id="6" name="Text 4"/>
          <p:cNvSpPr/>
          <p:nvPr/>
        </p:nvSpPr>
        <p:spPr>
          <a:xfrm>
            <a:off x="812800" y="259080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B7A75"/>
                </a:solidFill>
                <a:latin typeface="Arial" pitchFamily="34" charset="0"/>
                <a:ea typeface="Arial" pitchFamily="34" charset="-122"/>
                <a:cs typeface="Arial" pitchFamily="34" charset="-120"/>
              </a:rPr>
              <a:t>3</a:t>
            </a:r>
            <a:r>
              <a:rPr lang="en-US" sz="1500" dirty="0">
                <a:solidFill>
                  <a:srgbClr val="14262B"/>
                </a:solidFill>
                <a:latin typeface="Arial" pitchFamily="34" charset="0"/>
                <a:ea typeface="Arial" pitchFamily="34" charset="-122"/>
                <a:cs typeface="Arial" pitchFamily="34" charset="-120"/>
              </a:rPr>
              <a:t> ISO/ASTM 52900, Additive manufacturing: general principles, fundamentals and vocabulary.</a:t>
            </a:r>
            <a:endParaRPr lang="en-US" sz="1500" dirty="0"/>
          </a:p>
        </p:txBody>
      </p:sp>
      <p:sp>
        <p:nvSpPr>
          <p:cNvPr id="7" name="Text 5"/>
          <p:cNvSpPr/>
          <p:nvPr/>
        </p:nvSpPr>
        <p:spPr>
          <a:xfrm>
            <a:off x="812800" y="298450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B7A75"/>
                </a:solidFill>
                <a:latin typeface="Arial" pitchFamily="34" charset="0"/>
                <a:ea typeface="Arial" pitchFamily="34" charset="-122"/>
                <a:cs typeface="Arial" pitchFamily="34" charset="-120"/>
              </a:rPr>
              <a:t>4</a:t>
            </a:r>
            <a:r>
              <a:rPr lang="en-US" sz="1500" dirty="0">
                <a:solidFill>
                  <a:srgbClr val="14262B"/>
                </a:solidFill>
                <a:latin typeface="Arial" pitchFamily="34" charset="0"/>
                <a:ea typeface="Arial" pitchFamily="34" charset="-122"/>
                <a:cs typeface="Arial" pitchFamily="34" charset="-120"/>
              </a:rPr>
              <a:t> IS 302 (Part 1), Safety of household and similar electrical appliances: general requirements.</a:t>
            </a:r>
            <a:endParaRPr lang="en-US" sz="1500" dirty="0"/>
          </a:p>
        </p:txBody>
      </p:sp>
      <p:sp>
        <p:nvSpPr>
          <p:cNvPr id="8" name="Text 6"/>
          <p:cNvSpPr/>
          <p:nvPr/>
        </p:nvSpPr>
        <p:spPr>
          <a:xfrm>
            <a:off x="812800" y="337820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B7A75"/>
                </a:solidFill>
                <a:latin typeface="Arial" pitchFamily="34" charset="0"/>
                <a:ea typeface="Arial" pitchFamily="34" charset="-122"/>
                <a:cs typeface="Arial" pitchFamily="34" charset="-120"/>
              </a:rPr>
              <a:t>5</a:t>
            </a:r>
            <a:r>
              <a:rPr lang="en-US" sz="1500" dirty="0">
                <a:solidFill>
                  <a:srgbClr val="14262B"/>
                </a:solidFill>
                <a:latin typeface="Arial" pitchFamily="34" charset="0"/>
                <a:ea typeface="Arial" pitchFamily="34" charset="-122"/>
                <a:cs typeface="Arial" pitchFamily="34" charset="-120"/>
              </a:rPr>
              <a:t> [Filament manufacturer datasheets for the material you used]</a:t>
            </a:r>
            <a:endParaRPr lang="en-US" sz="1500" dirty="0"/>
          </a:p>
        </p:txBody>
      </p:sp>
      <p:sp>
        <p:nvSpPr>
          <p:cNvPr id="9" name="Text 7"/>
          <p:cNvSpPr/>
          <p:nvPr/>
        </p:nvSpPr>
        <p:spPr>
          <a:xfrm>
            <a:off x="812800" y="377190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B7A75"/>
                </a:solidFill>
                <a:latin typeface="Arial" pitchFamily="34" charset="0"/>
                <a:ea typeface="Arial" pitchFamily="34" charset="-122"/>
                <a:cs typeface="Arial" pitchFamily="34" charset="-120"/>
              </a:rPr>
              <a:t>6</a:t>
            </a:r>
            <a:r>
              <a:rPr lang="en-US" sz="1500" dirty="0">
                <a:solidFill>
                  <a:srgbClr val="14262B"/>
                </a:solidFill>
                <a:latin typeface="Arial" pitchFamily="34" charset="0"/>
                <a:ea typeface="Arial" pitchFamily="34" charset="-122"/>
                <a:cs typeface="Arial" pitchFamily="34" charset="-120"/>
              </a:rPr>
              <a:t> [Course textbook on additive manufacturing: author, title, year]</a:t>
            </a:r>
            <a:endParaRPr lang="en-US" sz="1500" dirty="0"/>
          </a:p>
        </p:txBody>
      </p:sp>
      <p:sp>
        <p:nvSpPr>
          <p:cNvPr id="10" name="Text 8"/>
          <p:cNvSpPr/>
          <p:nvPr/>
        </p:nvSpPr>
        <p:spPr>
          <a:xfrm>
            <a:off x="812800" y="416560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B7A75"/>
                </a:solidFill>
                <a:latin typeface="Arial" pitchFamily="34" charset="0"/>
                <a:ea typeface="Arial" pitchFamily="34" charset="-122"/>
                <a:cs typeface="Arial" pitchFamily="34" charset="-120"/>
              </a:rPr>
              <a:t>7</a:t>
            </a:r>
            <a:r>
              <a:rPr lang="en-US" sz="1500" dirty="0">
                <a:solidFill>
                  <a:srgbClr val="14262B"/>
                </a:solidFill>
                <a:latin typeface="Arial" pitchFamily="34" charset="0"/>
                <a:ea typeface="Arial" pitchFamily="34" charset="-122"/>
                <a:cs typeface="Arial" pitchFamily="34" charset="-120"/>
              </a:rPr>
              <a:t> [Any papers, websites or CAD resources you used]</a:t>
            </a:r>
            <a:endParaRPr lang="en-US" sz="1500" dirty="0"/>
          </a:p>
        </p:txBody>
      </p:sp>
      <p:sp>
        <p:nvSpPr>
          <p:cNvPr id="11" name="Text 9"/>
          <p:cNvSpPr/>
          <p:nvPr/>
        </p:nvSpPr>
        <p:spPr>
          <a:xfrm>
            <a:off x="812800" y="6238242"/>
            <a:ext cx="65405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B5F63"/>
                </a:solidFill>
                <a:latin typeface="Arial" pitchFamily="34" charset="0"/>
                <a:ea typeface="Arial" pitchFamily="34" charset="-122"/>
                <a:cs typeface="Arial" pitchFamily="34" charset="-120"/>
              </a:rPr>
              <a:t>Handheld 3D Printed Fan · Manufacturing Technology</a:t>
            </a:r>
            <a:endParaRPr lang="en-US" sz="1200" dirty="0"/>
          </a:p>
        </p:txBody>
      </p:sp>
      <p:sp>
        <p:nvSpPr>
          <p:cNvPr id="12" name="Text 10"/>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B5F63"/>
                </a:solidFill>
                <a:latin typeface="Arial" pitchFamily="34" charset="0"/>
                <a:ea typeface="Arial" pitchFamily="34" charset="-122"/>
                <a:cs typeface="Arial"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2229"/>
        </a:solidFill>
      </p:bgPr>
    </p:bg>
    <p:spTree>
      <p:nvGrpSpPr>
        <p:cNvPr id="1" name=""/>
        <p:cNvGrpSpPr/>
        <p:nvPr/>
      </p:nvGrpSpPr>
      <p:grpSpPr>
        <a:xfrm>
          <a:off x="0" y="0"/>
          <a:ext cx="0" cy="0"/>
          <a:chOff x="0" y="0"/>
          <a:chExt cx="0" cy="0"/>
        </a:xfrm>
      </p:grpSpPr>
      <p:pic>
        <p:nvPicPr>
          <p:cNvPr id="2" name="Image 0" descr="Stylised fan with five blades inside a guard ring">    </p:cNvPr>
          <p:cNvPicPr>
            <a:picLocks noChangeAspect="1"/>
          </p:cNvPicPr>
          <p:nvPr/>
        </p:nvPicPr>
        <p:blipFill>
          <a:blip r:embed="rId1"/>
          <a:srcRect l="0" r="0" t="0" b="0"/>
          <a:stretch/>
        </p:blipFill>
        <p:spPr>
          <a:xfrm>
            <a:off x="6858000" y="1270000"/>
            <a:ext cx="4064000" cy="4064000"/>
          </a:xfrm>
          <a:prstGeom prst="rect">
            <a:avLst/>
          </a:prstGeom>
        </p:spPr>
      </p:pic>
      <p:sp>
        <p:nvSpPr>
          <p:cNvPr id="3" name="Text 0"/>
          <p:cNvSpPr/>
          <p:nvPr>
            <p:ph type="title"/>
          </p:nvPr>
        </p:nvSpPr>
        <p:spPr>
          <a:xfrm>
            <a:off x="812800" y="2510792"/>
            <a:ext cx="5886450" cy="8255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EAF2EF"/>
                </a:solidFill>
                <a:latin typeface="Arial" pitchFamily="34" charset="0"/>
                <a:ea typeface="Arial" pitchFamily="34" charset="-122"/>
                <a:cs typeface="Arial" pitchFamily="34" charset="-120"/>
              </a:rPr>
              <a:t>Thank you</a:t>
            </a:r>
            <a:endParaRPr lang="en-US" sz="6000" dirty="0"/>
          </a:p>
        </p:txBody>
      </p:sp>
      <p:sp>
        <p:nvSpPr>
          <p:cNvPr id="4" name="Text 1"/>
          <p:cNvSpPr/>
          <p:nvPr/>
        </p:nvSpPr>
        <p:spPr>
          <a:xfrm>
            <a:off x="812800" y="3514092"/>
            <a:ext cx="5886450" cy="38862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4FC9BF"/>
                </a:solidFill>
                <a:latin typeface="Arial" pitchFamily="34" charset="0"/>
                <a:ea typeface="Arial" pitchFamily="34" charset="-122"/>
                <a:cs typeface="Arial" pitchFamily="34" charset="-120"/>
              </a:rPr>
              <a:t>Questions and feedback</a:t>
            </a:r>
            <a:endParaRPr lang="en-US" sz="2200" dirty="0"/>
          </a:p>
        </p:txBody>
      </p:sp>
      <p:sp>
        <p:nvSpPr>
          <p:cNvPr id="5" name="Text 2"/>
          <p:cNvSpPr/>
          <p:nvPr/>
        </p:nvSpPr>
        <p:spPr>
          <a:xfrm>
            <a:off x="812800" y="4080508"/>
            <a:ext cx="5886450" cy="2921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9FB8B4"/>
                </a:solidFill>
                <a:latin typeface="Arial" pitchFamily="34" charset="0"/>
                <a:ea typeface="Arial" pitchFamily="34" charset="-122"/>
                <a:cs typeface="Arial" pitchFamily="34" charset="-120"/>
              </a:rPr>
              <a:t>[Member names] · [Department, Institute]</a:t>
            </a:r>
            <a:endParaRPr lang="en-US" sz="1400" dirty="0"/>
          </a:p>
        </p:txBody>
      </p:sp>
    </p:spTree>
  </p:cSld>
  <p:clrMapOvr>
    <a:masterClrMapping/>
  </p:clrMapOvr>
</p:sld>
</file>

<file path=ppt/theme/theme1.xml><?xml version="1.0" encoding="utf-8"?>
<a:theme xmlns:a="http://schemas.openxmlformats.org/drawingml/2006/main" name="Handheld 3D Printed Fan">
  <a:themeElements>
    <a:clrScheme name="Handheld 3D Printed Fan">
      <a:dk1>
        <a:srgbClr val="14262B"/>
      </a:dk1>
      <a:lt1>
        <a:srgbClr val="F3F5F1"/>
      </a:lt1>
      <a:dk2>
        <a:srgbClr val="4C5A5D"/>
      </a:dk2>
      <a:lt2>
        <a:srgbClr val="DDE0DD"/>
      </a:lt2>
      <a:accent1>
        <a:srgbClr val="0B7A75"/>
      </a:accent1>
      <a:accent2>
        <a:srgbClr val="FF8F5E"/>
      </a:accent2>
      <a:accent3>
        <a:srgbClr val="4FC9BF"/>
      </a:accent3>
      <a:accent4>
        <a:srgbClr val="4B5F63"/>
      </a:accent4>
      <a:accent5>
        <a:srgbClr val="9FB8B4"/>
      </a:accent5>
      <a:accent6>
        <a:srgbClr val="9AA0A6"/>
      </a:accent6>
      <a:hlink>
        <a:srgbClr val="0563C1"/>
      </a:hlink>
      <a:folHlink>
        <a:srgbClr val="954F72"/>
      </a:folHlink>
    </a:clrScheme>
    <a:fontScheme name="Handheld 3D Printed Fan">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Handheld 3D Printed Fan</dc:title>
  <dc:subject/>
  <dc:creator/>
  <cp:lastModifiedBy/>
  <cp:revision>1</cp:revision>
  <dcterms:created xsi:type="dcterms:W3CDTF">2026-10-21T02:45:46Z</dcterms:created>
  <dcterms:modified xsi:type="dcterms:W3CDTF">2026-10-21T02:45:46Z</dcterms:modified>
</cp:coreProperties>
</file>